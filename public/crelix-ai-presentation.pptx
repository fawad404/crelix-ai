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0" y="-1371600"/>
            <a:ext cx="7315200" cy="73152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2700000" scaled="0"/>
        </a:gradFill>
      </p:sp>
      <p:sp>
        <p:nvSpPr>
          <p:cNvPr id="4" name="Rectangle 3"/>
          <p:cNvSpPr/>
          <p:nvPr/>
        </p:nvSpPr>
        <p:spPr>
          <a:xfrm>
            <a:off x="5943600" y="-1371600"/>
            <a:ext cx="7315200" cy="73152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0" y="731520"/>
            <a:ext cx="3200400" cy="32004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8100000" scaled="0"/>
        </a:gradFill>
      </p:sp>
      <p:sp>
        <p:nvSpPr>
          <p:cNvPr id="6" name="Oval 5"/>
          <p:cNvSpPr/>
          <p:nvPr/>
        </p:nvSpPr>
        <p:spPr>
          <a:xfrm>
            <a:off x="7132320" y="731520"/>
            <a:ext cx="3200400" cy="3200400"/>
          </a:xfrm>
          <a:prstGeom prst="ellipse">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0"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30768"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814816"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98864"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82912"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966960"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51008"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735056" y="3474720"/>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0"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30768"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814816"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98864"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82912"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66960"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351008"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735056" y="3858768"/>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0"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30768"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814816"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98864"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82912"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66960"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51008"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735056" y="4242816"/>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46720"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30768"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814816"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98864"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582912"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966960"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51008"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735056" y="4626864"/>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46720"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430768"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814816"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198864"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582912"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966960"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351008"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735056" y="5010912"/>
            <a:ext cx="54864" cy="54864"/>
          </a:xfrm>
          <a:prstGeom prst="ellipse">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 y="1645920"/>
            <a:ext cx="54864" cy="3200400"/>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85800" y="1737360"/>
            <a:ext cx="3291840" cy="320040"/>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AI MARKETING INTELLIGENCE PLATFORM</a:t>
            </a:r>
          </a:p>
        </p:txBody>
      </p:sp>
      <p:sp>
        <p:nvSpPr>
          <p:cNvPr id="49" name="TextBox 48"/>
          <p:cNvSpPr txBox="1"/>
          <p:nvPr/>
        </p:nvSpPr>
        <p:spPr>
          <a:xfrm>
            <a:off x="685800" y="2212848"/>
            <a:ext cx="6400800" cy="1371600"/>
          </a:xfrm>
          <a:prstGeom prst="rect">
            <a:avLst/>
          </a:prstGeom>
          <a:noFill/>
        </p:spPr>
        <p:txBody>
          <a:bodyPr wrap="square">
            <a:spAutoFit/>
          </a:bodyPr>
          <a:lstStyle/>
          <a:p>
            <a:pPr algn="l"/>
            <a:r>
              <a:rPr sz="8200" b="1" i="0">
                <a:solidFill>
                  <a:srgbClr val="FFFFFF"/>
                </a:solidFill>
                <a:latin typeface="Segoe UI Black"/>
              </a:rPr>
              <a:t>Crelix</a:t>
            </a:r>
          </a:p>
        </p:txBody>
      </p:sp>
      <p:sp>
        <p:nvSpPr>
          <p:cNvPr id="50" name="TextBox 49"/>
          <p:cNvSpPr txBox="1"/>
          <p:nvPr/>
        </p:nvSpPr>
        <p:spPr>
          <a:xfrm>
            <a:off x="4617720" y="2212848"/>
            <a:ext cx="2286000" cy="1371600"/>
          </a:xfrm>
          <a:prstGeom prst="rect">
            <a:avLst/>
          </a:prstGeom>
          <a:noFill/>
        </p:spPr>
        <p:txBody>
          <a:bodyPr wrap="square">
            <a:spAutoFit/>
          </a:bodyPr>
          <a:lstStyle/>
          <a:p>
            <a:pPr algn="l"/>
            <a:r>
              <a:rPr sz="8200" b="1" i="0">
                <a:solidFill>
                  <a:srgbClr val="FF4FCB"/>
                </a:solidFill>
                <a:latin typeface="Segoe UI Black"/>
              </a:rPr>
              <a:t>AI</a:t>
            </a:r>
          </a:p>
        </p:txBody>
      </p:sp>
      <p:sp>
        <p:nvSpPr>
          <p:cNvPr id="51" name="TextBox 50"/>
          <p:cNvSpPr txBox="1"/>
          <p:nvPr/>
        </p:nvSpPr>
        <p:spPr>
          <a:xfrm>
            <a:off x="685800" y="3675887"/>
            <a:ext cx="7772400" cy="914400"/>
          </a:xfrm>
          <a:prstGeom prst="rect">
            <a:avLst/>
          </a:prstGeom>
          <a:noFill/>
        </p:spPr>
        <p:txBody>
          <a:bodyPr wrap="square">
            <a:spAutoFit/>
          </a:bodyPr>
          <a:lstStyle/>
          <a:p>
            <a:pPr algn="l"/>
            <a:r>
              <a:rPr sz="1700" b="0" i="0">
                <a:solidFill>
                  <a:srgbClr val="BBB8D4"/>
                </a:solidFill>
                <a:latin typeface="Segoe UI"/>
              </a:rPr>
              <a:t>The AI that thinks like your best strategist
and creates like your best designer.</a:t>
            </a:r>
          </a:p>
        </p:txBody>
      </p:sp>
      <p:sp>
        <p:nvSpPr>
          <p:cNvPr id="52" name="Rectangle 51"/>
          <p:cNvSpPr/>
          <p:nvPr/>
        </p:nvSpPr>
        <p:spPr>
          <a:xfrm>
            <a:off x="685800" y="4800600"/>
            <a:ext cx="4572000"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4919472"/>
            <a:ext cx="6400800" cy="365760"/>
          </a:xfrm>
          <a:prstGeom prst="rect">
            <a:avLst/>
          </a:prstGeom>
          <a:noFill/>
        </p:spPr>
        <p:txBody>
          <a:bodyPr wrap="square">
            <a:spAutoFit/>
          </a:bodyPr>
          <a:lstStyle/>
          <a:p>
            <a:pPr algn="l"/>
            <a:r>
              <a:rPr sz="1100" b="0" i="0">
                <a:solidFill>
                  <a:srgbClr val="777397"/>
                </a:solidFill>
                <a:latin typeface="Segoe UI"/>
              </a:rPr>
              <a:t>Seminar Presentation  ·  June 2026  ·  crelix.ai</a:t>
            </a:r>
          </a:p>
        </p:txBody>
      </p:sp>
      <p:sp>
        <p:nvSpPr>
          <p:cNvPr id="54" name="TextBox 53"/>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01</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THE PROBLEM</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02</a:t>
            </a:r>
          </a:p>
        </p:txBody>
      </p:sp>
      <p:sp>
        <p:nvSpPr>
          <p:cNvPr id="7" name="TextBox 6"/>
          <p:cNvSpPr txBox="1"/>
          <p:nvPr/>
        </p:nvSpPr>
        <p:spPr>
          <a:xfrm>
            <a:off x="6858000" y="914400"/>
            <a:ext cx="5029200" cy="1828800"/>
          </a:xfrm>
          <a:prstGeom prst="rect">
            <a:avLst/>
          </a:prstGeom>
          <a:noFill/>
        </p:spPr>
        <p:txBody>
          <a:bodyPr wrap="square">
            <a:spAutoFit/>
          </a:bodyPr>
          <a:lstStyle/>
          <a:p>
            <a:pPr algn="r"/>
            <a:r>
              <a:rPr sz="8800" b="1" i="0">
                <a:solidFill>
                  <a:srgbClr val="1A0D44"/>
                </a:solidFill>
                <a:latin typeface="Segoe UI Black"/>
              </a:rPr>
              <a:t>$740B</a:t>
            </a:r>
          </a:p>
        </p:txBody>
      </p:sp>
      <p:sp>
        <p:nvSpPr>
          <p:cNvPr id="8" name="TextBox 7"/>
          <p:cNvSpPr txBox="1"/>
          <p:nvPr/>
        </p:nvSpPr>
        <p:spPr>
          <a:xfrm>
            <a:off x="7132320" y="2606040"/>
            <a:ext cx="4572000" cy="1280160"/>
          </a:xfrm>
          <a:prstGeom prst="rect">
            <a:avLst/>
          </a:prstGeom>
          <a:noFill/>
        </p:spPr>
        <p:txBody>
          <a:bodyPr wrap="square">
            <a:spAutoFit/>
          </a:bodyPr>
          <a:lstStyle/>
          <a:p>
            <a:pPr algn="r"/>
            <a:r>
              <a:rPr sz="1500" b="0" i="0">
                <a:solidFill>
                  <a:srgbClr val="777397"/>
                </a:solidFill>
                <a:latin typeface="Segoe UI"/>
              </a:rPr>
              <a:t>digital advertising
market — and most
ads underperform.</a:t>
            </a:r>
          </a:p>
        </p:txBody>
      </p:sp>
      <p:sp>
        <p:nvSpPr>
          <p:cNvPr id="9" name="TextBox 8"/>
          <p:cNvSpPr txBox="1"/>
          <p:nvPr/>
        </p:nvSpPr>
        <p:spPr>
          <a:xfrm>
            <a:off x="502920" y="868680"/>
            <a:ext cx="7315200" cy="1005840"/>
          </a:xfrm>
          <a:prstGeom prst="rect">
            <a:avLst/>
          </a:prstGeom>
          <a:noFill/>
        </p:spPr>
        <p:txBody>
          <a:bodyPr wrap="square">
            <a:spAutoFit/>
          </a:bodyPr>
          <a:lstStyle/>
          <a:p>
            <a:pPr algn="l"/>
            <a:r>
              <a:rPr sz="2400" b="1" i="0">
                <a:solidFill>
                  <a:srgbClr val="FFFFFF"/>
                </a:solidFill>
                <a:latin typeface="Segoe UI Semibold"/>
              </a:rPr>
              <a:t>Businesses waste millions on ads that
were never built on real customer insight.</a:t>
            </a:r>
          </a:p>
        </p:txBody>
      </p:sp>
      <p:sp>
        <p:nvSpPr>
          <p:cNvPr id="10" name="Rounded Rectangle 9"/>
          <p:cNvSpPr/>
          <p:nvPr/>
        </p:nvSpPr>
        <p:spPr>
          <a:xfrm>
            <a:off x="502920" y="2121408"/>
            <a:ext cx="3657600" cy="237744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21408"/>
            <a:ext cx="3657600" cy="54864"/>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12" name="TextBox 11"/>
          <p:cNvSpPr txBox="1"/>
          <p:nvPr/>
        </p:nvSpPr>
        <p:spPr>
          <a:xfrm>
            <a:off x="685800" y="2240280"/>
            <a:ext cx="640080" cy="502920"/>
          </a:xfrm>
          <a:prstGeom prst="rect">
            <a:avLst/>
          </a:prstGeom>
          <a:noFill/>
        </p:spPr>
        <p:txBody>
          <a:bodyPr wrap="square">
            <a:spAutoFit/>
          </a:bodyPr>
          <a:lstStyle/>
          <a:p>
            <a:pPr algn="l"/>
            <a:r>
              <a:rPr sz="2400" b="0" i="0">
                <a:solidFill>
                  <a:srgbClr val="FFFFFF"/>
                </a:solidFill>
                <a:latin typeface="Segoe UI"/>
              </a:rPr>
              <a:t>⏱</a:t>
            </a:r>
          </a:p>
        </p:txBody>
      </p:sp>
      <p:sp>
        <p:nvSpPr>
          <p:cNvPr id="13" name="TextBox 12"/>
          <p:cNvSpPr txBox="1"/>
          <p:nvPr/>
        </p:nvSpPr>
        <p:spPr>
          <a:xfrm>
            <a:off x="685800" y="2788920"/>
            <a:ext cx="3291840" cy="457200"/>
          </a:xfrm>
          <a:prstGeom prst="rect">
            <a:avLst/>
          </a:prstGeom>
          <a:noFill/>
        </p:spPr>
        <p:txBody>
          <a:bodyPr wrap="square">
            <a:spAutoFit/>
          </a:bodyPr>
          <a:lstStyle/>
          <a:p>
            <a:pPr algn="l"/>
            <a:r>
              <a:rPr sz="1400" b="1" i="0">
                <a:solidFill>
                  <a:srgbClr val="FFFFFF"/>
                </a:solidFill>
                <a:latin typeface="Segoe UI Semibold"/>
              </a:rPr>
              <a:t>Takes Days, Not Minutes</a:t>
            </a:r>
          </a:p>
        </p:txBody>
      </p:sp>
      <p:sp>
        <p:nvSpPr>
          <p:cNvPr id="14" name="TextBox 13"/>
          <p:cNvSpPr txBox="1"/>
          <p:nvPr/>
        </p:nvSpPr>
        <p:spPr>
          <a:xfrm>
            <a:off x="685800" y="3246120"/>
            <a:ext cx="3291840" cy="1005840"/>
          </a:xfrm>
          <a:prstGeom prst="rect">
            <a:avLst/>
          </a:prstGeom>
          <a:noFill/>
        </p:spPr>
        <p:txBody>
          <a:bodyPr wrap="square">
            <a:spAutoFit/>
          </a:bodyPr>
          <a:lstStyle/>
          <a:p>
            <a:pPr algn="l"/>
            <a:r>
              <a:rPr sz="1100" b="0" i="0">
                <a:solidFill>
                  <a:srgbClr val="BBB8D4"/>
                </a:solidFill>
                <a:latin typeface="Segoe UI"/>
              </a:rPr>
              <a:t>Building a proper creative brief — ICP research, pain points, competitive angles — takes 3–5 business days manually.</a:t>
            </a:r>
          </a:p>
        </p:txBody>
      </p:sp>
      <p:sp>
        <p:nvSpPr>
          <p:cNvPr id="15" name="Rounded Rectangle 14"/>
          <p:cNvSpPr/>
          <p:nvPr/>
        </p:nvSpPr>
        <p:spPr>
          <a:xfrm>
            <a:off x="4398264" y="2121408"/>
            <a:ext cx="3657600" cy="237744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2121408"/>
            <a:ext cx="3657600" cy="54864"/>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17" name="TextBox 16"/>
          <p:cNvSpPr txBox="1"/>
          <p:nvPr/>
        </p:nvSpPr>
        <p:spPr>
          <a:xfrm>
            <a:off x="4581144" y="2240280"/>
            <a:ext cx="640080" cy="502920"/>
          </a:xfrm>
          <a:prstGeom prst="rect">
            <a:avLst/>
          </a:prstGeom>
          <a:noFill/>
        </p:spPr>
        <p:txBody>
          <a:bodyPr wrap="square">
            <a:spAutoFit/>
          </a:bodyPr>
          <a:lstStyle/>
          <a:p>
            <a:pPr algn="l"/>
            <a:r>
              <a:rPr sz="2400" b="0" i="0">
                <a:solidFill>
                  <a:srgbClr val="FFFFFF"/>
                </a:solidFill>
                <a:latin typeface="Segoe UI"/>
              </a:rPr>
              <a:t>💸</a:t>
            </a:r>
          </a:p>
        </p:txBody>
      </p:sp>
      <p:sp>
        <p:nvSpPr>
          <p:cNvPr id="18" name="TextBox 17"/>
          <p:cNvSpPr txBox="1"/>
          <p:nvPr/>
        </p:nvSpPr>
        <p:spPr>
          <a:xfrm>
            <a:off x="4581144" y="2788920"/>
            <a:ext cx="3291840" cy="457200"/>
          </a:xfrm>
          <a:prstGeom prst="rect">
            <a:avLst/>
          </a:prstGeom>
          <a:noFill/>
        </p:spPr>
        <p:txBody>
          <a:bodyPr wrap="square">
            <a:spAutoFit/>
          </a:bodyPr>
          <a:lstStyle/>
          <a:p>
            <a:pPr algn="l"/>
            <a:r>
              <a:rPr sz="1400" b="1" i="0">
                <a:solidFill>
                  <a:srgbClr val="FFFFFF"/>
                </a:solidFill>
                <a:latin typeface="Segoe UI Semibold"/>
              </a:rPr>
              <a:t>Agency Costs Are Prohibitive</a:t>
            </a:r>
          </a:p>
        </p:txBody>
      </p:sp>
      <p:sp>
        <p:nvSpPr>
          <p:cNvPr id="19" name="TextBox 18"/>
          <p:cNvSpPr txBox="1"/>
          <p:nvPr/>
        </p:nvSpPr>
        <p:spPr>
          <a:xfrm>
            <a:off x="4581144" y="3246120"/>
            <a:ext cx="3291840" cy="1005840"/>
          </a:xfrm>
          <a:prstGeom prst="rect">
            <a:avLst/>
          </a:prstGeom>
          <a:noFill/>
        </p:spPr>
        <p:txBody>
          <a:bodyPr wrap="square">
            <a:spAutoFit/>
          </a:bodyPr>
          <a:lstStyle/>
          <a:p>
            <a:pPr algn="l"/>
            <a:r>
              <a:rPr sz="1100" b="0" i="0">
                <a:solidFill>
                  <a:srgbClr val="BBB8D4"/>
                </a:solidFill>
                <a:latin typeface="Segoe UI"/>
              </a:rPr>
              <a:t>A boutique creative agency charges $5,000–$25,000/month. Most SMBs and startups simply can't compete.</a:t>
            </a:r>
          </a:p>
        </p:txBody>
      </p:sp>
      <p:sp>
        <p:nvSpPr>
          <p:cNvPr id="20" name="Rounded Rectangle 19"/>
          <p:cNvSpPr/>
          <p:nvPr/>
        </p:nvSpPr>
        <p:spPr>
          <a:xfrm>
            <a:off x="8293608" y="2121408"/>
            <a:ext cx="3657600" cy="237744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93608" y="2121408"/>
            <a:ext cx="3657600" cy="54864"/>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22" name="TextBox 21"/>
          <p:cNvSpPr txBox="1"/>
          <p:nvPr/>
        </p:nvSpPr>
        <p:spPr>
          <a:xfrm>
            <a:off x="8476488" y="2240280"/>
            <a:ext cx="640080" cy="502920"/>
          </a:xfrm>
          <a:prstGeom prst="rect">
            <a:avLst/>
          </a:prstGeom>
          <a:noFill/>
        </p:spPr>
        <p:txBody>
          <a:bodyPr wrap="square">
            <a:spAutoFit/>
          </a:bodyPr>
          <a:lstStyle/>
          <a:p>
            <a:pPr algn="l"/>
            <a:r>
              <a:rPr sz="2400" b="0" i="0">
                <a:solidFill>
                  <a:srgbClr val="FFFFFF"/>
                </a:solidFill>
                <a:latin typeface="Segoe UI"/>
              </a:rPr>
              <a:t>🎯</a:t>
            </a:r>
          </a:p>
        </p:txBody>
      </p:sp>
      <p:sp>
        <p:nvSpPr>
          <p:cNvPr id="23" name="TextBox 22"/>
          <p:cNvSpPr txBox="1"/>
          <p:nvPr/>
        </p:nvSpPr>
        <p:spPr>
          <a:xfrm>
            <a:off x="8476488" y="2788920"/>
            <a:ext cx="3291840" cy="457200"/>
          </a:xfrm>
          <a:prstGeom prst="rect">
            <a:avLst/>
          </a:prstGeom>
          <a:noFill/>
        </p:spPr>
        <p:txBody>
          <a:bodyPr wrap="square">
            <a:spAutoFit/>
          </a:bodyPr>
          <a:lstStyle/>
          <a:p>
            <a:pPr algn="l"/>
            <a:r>
              <a:rPr sz="1400" b="1" i="0">
                <a:solidFill>
                  <a:srgbClr val="FFFFFF"/>
                </a:solidFill>
                <a:latin typeface="Segoe UI Semibold"/>
              </a:rPr>
              <a:t>Generic AI Output Doesn't Convert</a:t>
            </a:r>
          </a:p>
        </p:txBody>
      </p:sp>
      <p:sp>
        <p:nvSpPr>
          <p:cNvPr id="24" name="TextBox 23"/>
          <p:cNvSpPr txBox="1"/>
          <p:nvPr/>
        </p:nvSpPr>
        <p:spPr>
          <a:xfrm>
            <a:off x="8476488" y="3246120"/>
            <a:ext cx="3291840" cy="1005840"/>
          </a:xfrm>
          <a:prstGeom prst="rect">
            <a:avLst/>
          </a:prstGeom>
          <a:noFill/>
        </p:spPr>
        <p:txBody>
          <a:bodyPr wrap="square">
            <a:spAutoFit/>
          </a:bodyPr>
          <a:lstStyle/>
          <a:p>
            <a:pPr algn="l"/>
            <a:r>
              <a:rPr sz="1100" b="0" i="0">
                <a:solidFill>
                  <a:srgbClr val="BBB8D4"/>
                </a:solidFill>
                <a:latin typeface="Segoe UI"/>
              </a:rPr>
              <a:t>Current AI tools generate visually okay content with zero strategic intent — because they skip the research step entirely.</a:t>
            </a:r>
          </a:p>
        </p:txBody>
      </p:sp>
      <p:sp>
        <p:nvSpPr>
          <p:cNvPr id="25" name="Rectangle 24"/>
          <p:cNvSpPr/>
          <p:nvPr/>
        </p:nvSpPr>
        <p:spPr>
          <a:xfrm>
            <a:off x="502920" y="4709160"/>
            <a:ext cx="11183112" cy="7315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4773168"/>
            <a:ext cx="3200400" cy="320040"/>
          </a:xfrm>
          <a:prstGeom prst="rect">
            <a:avLst/>
          </a:prstGeom>
          <a:noFill/>
        </p:spPr>
        <p:txBody>
          <a:bodyPr wrap="square">
            <a:spAutoFit/>
          </a:bodyPr>
          <a:lstStyle/>
          <a:p>
            <a:pPr algn="l"/>
            <a:r>
              <a:rPr sz="1600" b="1" i="0">
                <a:solidFill>
                  <a:srgbClr val="FF4FCB"/>
                </a:solidFill>
                <a:latin typeface="Segoe UI Black"/>
              </a:rPr>
              <a:t>74%</a:t>
            </a:r>
          </a:p>
        </p:txBody>
      </p:sp>
      <p:sp>
        <p:nvSpPr>
          <p:cNvPr id="27" name="TextBox 26"/>
          <p:cNvSpPr txBox="1"/>
          <p:nvPr/>
        </p:nvSpPr>
        <p:spPr>
          <a:xfrm>
            <a:off x="1097280" y="5084064"/>
            <a:ext cx="3200400" cy="274320"/>
          </a:xfrm>
          <a:prstGeom prst="rect">
            <a:avLst/>
          </a:prstGeom>
          <a:noFill/>
        </p:spPr>
        <p:txBody>
          <a:bodyPr wrap="square">
            <a:spAutoFit/>
          </a:bodyPr>
          <a:lstStyle/>
          <a:p>
            <a:pPr algn="l"/>
            <a:r>
              <a:rPr sz="1000" b="0" i="0">
                <a:solidFill>
                  <a:srgbClr val="777397"/>
                </a:solidFill>
                <a:latin typeface="Segoe UI"/>
              </a:rPr>
              <a:t>of marketers need better creative tools</a:t>
            </a:r>
          </a:p>
        </p:txBody>
      </p:sp>
      <p:sp>
        <p:nvSpPr>
          <p:cNvPr id="28" name="TextBox 27"/>
          <p:cNvSpPr txBox="1"/>
          <p:nvPr/>
        </p:nvSpPr>
        <p:spPr>
          <a:xfrm>
            <a:off x="4846320" y="4773168"/>
            <a:ext cx="3200400" cy="320040"/>
          </a:xfrm>
          <a:prstGeom prst="rect">
            <a:avLst/>
          </a:prstGeom>
          <a:noFill/>
        </p:spPr>
        <p:txBody>
          <a:bodyPr wrap="square">
            <a:spAutoFit/>
          </a:bodyPr>
          <a:lstStyle/>
          <a:p>
            <a:pPr algn="l"/>
            <a:r>
              <a:rPr sz="1600" b="1" i="0">
                <a:solidFill>
                  <a:srgbClr val="FF4FCB"/>
                </a:solidFill>
                <a:latin typeface="Segoe UI Black"/>
              </a:rPr>
              <a:t>5× longer</a:t>
            </a:r>
          </a:p>
        </p:txBody>
      </p:sp>
      <p:sp>
        <p:nvSpPr>
          <p:cNvPr id="29" name="TextBox 28"/>
          <p:cNvSpPr txBox="1"/>
          <p:nvPr/>
        </p:nvSpPr>
        <p:spPr>
          <a:xfrm>
            <a:off x="4846320" y="5084064"/>
            <a:ext cx="3200400" cy="274320"/>
          </a:xfrm>
          <a:prstGeom prst="rect">
            <a:avLst/>
          </a:prstGeom>
          <a:noFill/>
        </p:spPr>
        <p:txBody>
          <a:bodyPr wrap="square">
            <a:spAutoFit/>
          </a:bodyPr>
          <a:lstStyle/>
          <a:p>
            <a:pPr algn="l"/>
            <a:r>
              <a:rPr sz="1000" b="0" i="0">
                <a:solidFill>
                  <a:srgbClr val="777397"/>
                </a:solidFill>
                <a:latin typeface="Segoe UI"/>
              </a:rPr>
              <a:t>average time to produce one good creative brief</a:t>
            </a:r>
          </a:p>
        </p:txBody>
      </p:sp>
      <p:sp>
        <p:nvSpPr>
          <p:cNvPr id="30" name="TextBox 29"/>
          <p:cNvSpPr txBox="1"/>
          <p:nvPr/>
        </p:nvSpPr>
        <p:spPr>
          <a:xfrm>
            <a:off x="8595359" y="4773168"/>
            <a:ext cx="3200400" cy="320040"/>
          </a:xfrm>
          <a:prstGeom prst="rect">
            <a:avLst/>
          </a:prstGeom>
          <a:noFill/>
        </p:spPr>
        <p:txBody>
          <a:bodyPr wrap="square">
            <a:spAutoFit/>
          </a:bodyPr>
          <a:lstStyle/>
          <a:p>
            <a:pPr algn="l"/>
            <a:r>
              <a:rPr sz="1600" b="1" i="0">
                <a:solidFill>
                  <a:srgbClr val="FF4FCB"/>
                </a:solidFill>
                <a:latin typeface="Segoe UI Black"/>
              </a:rPr>
              <a:t>10–100×</a:t>
            </a:r>
          </a:p>
        </p:txBody>
      </p:sp>
      <p:sp>
        <p:nvSpPr>
          <p:cNvPr id="31" name="TextBox 30"/>
          <p:cNvSpPr txBox="1"/>
          <p:nvPr/>
        </p:nvSpPr>
        <p:spPr>
          <a:xfrm>
            <a:off x="8595359" y="5084064"/>
            <a:ext cx="3200400" cy="274320"/>
          </a:xfrm>
          <a:prstGeom prst="rect">
            <a:avLst/>
          </a:prstGeom>
          <a:noFill/>
        </p:spPr>
        <p:txBody>
          <a:bodyPr wrap="square">
            <a:spAutoFit/>
          </a:bodyPr>
          <a:lstStyle/>
          <a:p>
            <a:pPr algn="l"/>
            <a:r>
              <a:rPr sz="1000" b="0" i="0">
                <a:solidFill>
                  <a:srgbClr val="777397"/>
                </a:solidFill>
                <a:latin typeface="Segoe UI"/>
              </a:rPr>
              <a:t>cheaper with AI vs. traditional agencies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02</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THE SOLUTION</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03</a:t>
            </a:r>
          </a:p>
        </p:txBody>
      </p:sp>
      <p:sp>
        <p:nvSpPr>
          <p:cNvPr id="7" name="Rectangle 6"/>
          <p:cNvSpPr/>
          <p:nvPr/>
        </p:nvSpPr>
        <p:spPr>
          <a:xfrm>
            <a:off x="6400800" y="822960"/>
            <a:ext cx="5486400" cy="530352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09071C"/>
            </a:gs>
          </a:gsLst>
          <a:lin ang="10800000" scaled="0"/>
        </a:gradFill>
      </p:sp>
      <p:sp>
        <p:nvSpPr>
          <p:cNvPr id="8" name="Rounded Rectangle 7"/>
          <p:cNvSpPr/>
          <p:nvPr/>
        </p:nvSpPr>
        <p:spPr>
          <a:xfrm>
            <a:off x="502920" y="960120"/>
            <a:ext cx="201168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INTRODUCING CRELIX AI</a:t>
            </a:r>
          </a:p>
        </p:txBody>
      </p:sp>
      <p:sp>
        <p:nvSpPr>
          <p:cNvPr id="9" name="TextBox 8"/>
          <p:cNvSpPr txBox="1"/>
          <p:nvPr/>
        </p:nvSpPr>
        <p:spPr>
          <a:xfrm>
            <a:off x="502920" y="1389888"/>
            <a:ext cx="5943600" cy="1463040"/>
          </a:xfrm>
          <a:prstGeom prst="rect">
            <a:avLst/>
          </a:prstGeom>
          <a:noFill/>
        </p:spPr>
        <p:txBody>
          <a:bodyPr wrap="square">
            <a:spAutoFit/>
          </a:bodyPr>
          <a:lstStyle/>
          <a:p>
            <a:pPr algn="l"/>
            <a:r>
              <a:rPr sz="3800" b="1" i="0">
                <a:solidFill>
                  <a:srgbClr val="FFFFFF"/>
                </a:solidFill>
                <a:latin typeface="Segoe UI Black"/>
              </a:rPr>
              <a:t>Intelligence First.
Creatives Second.</a:t>
            </a:r>
          </a:p>
        </p:txBody>
      </p:sp>
      <p:sp>
        <p:nvSpPr>
          <p:cNvPr id="10" name="TextBox 9"/>
          <p:cNvSpPr txBox="1"/>
          <p:nvPr/>
        </p:nvSpPr>
        <p:spPr>
          <a:xfrm>
            <a:off x="502920" y="2944368"/>
            <a:ext cx="5669280" cy="1280160"/>
          </a:xfrm>
          <a:prstGeom prst="rect">
            <a:avLst/>
          </a:prstGeom>
          <a:noFill/>
        </p:spPr>
        <p:txBody>
          <a:bodyPr wrap="square">
            <a:spAutoFit/>
          </a:bodyPr>
          <a:lstStyle/>
          <a:p>
            <a:pPr algn="l"/>
            <a:r>
              <a:rPr sz="1350" b="0" i="0">
                <a:solidFill>
                  <a:srgbClr val="BBB8D4"/>
                </a:solidFill>
                <a:latin typeface="Segoe UI"/>
              </a:rPr>
              <a:t>Crelix AI analyzes any business URL, builds a deep Marketing Brain™ using dual-AI research (Grok + Claude), then generates platform-ready ad creatives — hooks, images, benefits, CTAs — in under 3 minutes.</a:t>
            </a:r>
          </a:p>
        </p:txBody>
      </p:sp>
      <p:sp>
        <p:nvSpPr>
          <p:cNvPr id="11" name="TextBox 10"/>
          <p:cNvSpPr txBox="1"/>
          <p:nvPr/>
        </p:nvSpPr>
        <p:spPr>
          <a:xfrm>
            <a:off x="502920" y="4315968"/>
            <a:ext cx="320040" cy="320040"/>
          </a:xfrm>
          <a:prstGeom prst="rect">
            <a:avLst/>
          </a:prstGeom>
          <a:noFill/>
        </p:spPr>
        <p:txBody>
          <a:bodyPr wrap="square">
            <a:spAutoFit/>
          </a:bodyPr>
          <a:lstStyle/>
          <a:p>
            <a:pPr algn="l"/>
            <a:r>
              <a:rPr sz="1200" b="1" i="0">
                <a:solidFill>
                  <a:srgbClr val="FF4FCB"/>
                </a:solidFill>
                <a:latin typeface="Segoe UI"/>
              </a:rPr>
              <a:t>✦</a:t>
            </a:r>
          </a:p>
        </p:txBody>
      </p:sp>
      <p:sp>
        <p:nvSpPr>
          <p:cNvPr id="12" name="TextBox 11"/>
          <p:cNvSpPr txBox="1"/>
          <p:nvPr/>
        </p:nvSpPr>
        <p:spPr>
          <a:xfrm>
            <a:off x="822960" y="4315968"/>
            <a:ext cx="5303520" cy="320040"/>
          </a:xfrm>
          <a:prstGeom prst="rect">
            <a:avLst/>
          </a:prstGeom>
          <a:noFill/>
        </p:spPr>
        <p:txBody>
          <a:bodyPr wrap="square">
            <a:spAutoFit/>
          </a:bodyPr>
          <a:lstStyle/>
          <a:p>
            <a:pPr algn="l"/>
            <a:r>
              <a:rPr sz="1300" b="0" i="0">
                <a:solidFill>
                  <a:srgbClr val="FFFFFF"/>
                </a:solidFill>
                <a:latin typeface="Segoe UI"/>
              </a:rPr>
              <a:t>No brief required — just a URL and a goal</a:t>
            </a:r>
          </a:p>
        </p:txBody>
      </p:sp>
      <p:sp>
        <p:nvSpPr>
          <p:cNvPr id="13" name="TextBox 12"/>
          <p:cNvSpPr txBox="1"/>
          <p:nvPr/>
        </p:nvSpPr>
        <p:spPr>
          <a:xfrm>
            <a:off x="502920" y="4663440"/>
            <a:ext cx="320040" cy="320040"/>
          </a:xfrm>
          <a:prstGeom prst="rect">
            <a:avLst/>
          </a:prstGeom>
          <a:noFill/>
        </p:spPr>
        <p:txBody>
          <a:bodyPr wrap="square">
            <a:spAutoFit/>
          </a:bodyPr>
          <a:lstStyle/>
          <a:p>
            <a:pPr algn="l"/>
            <a:r>
              <a:rPr sz="1200" b="1" i="0">
                <a:solidFill>
                  <a:srgbClr val="FF4FCB"/>
                </a:solidFill>
                <a:latin typeface="Segoe UI"/>
              </a:rPr>
              <a:t>✦</a:t>
            </a:r>
          </a:p>
        </p:txBody>
      </p:sp>
      <p:sp>
        <p:nvSpPr>
          <p:cNvPr id="14" name="TextBox 13"/>
          <p:cNvSpPr txBox="1"/>
          <p:nvPr/>
        </p:nvSpPr>
        <p:spPr>
          <a:xfrm>
            <a:off x="822960" y="4663440"/>
            <a:ext cx="5303520" cy="320040"/>
          </a:xfrm>
          <a:prstGeom prst="rect">
            <a:avLst/>
          </a:prstGeom>
          <a:noFill/>
        </p:spPr>
        <p:txBody>
          <a:bodyPr wrap="square">
            <a:spAutoFit/>
          </a:bodyPr>
          <a:lstStyle/>
          <a:p>
            <a:pPr algn="l"/>
            <a:r>
              <a:rPr sz="1300" b="0" i="0">
                <a:solidFill>
                  <a:srgbClr val="FFFFFF"/>
                </a:solidFill>
                <a:latin typeface="Segoe UI"/>
              </a:rPr>
              <a:t>Real customer research, not guesswork</a:t>
            </a:r>
          </a:p>
        </p:txBody>
      </p:sp>
      <p:sp>
        <p:nvSpPr>
          <p:cNvPr id="15" name="TextBox 14"/>
          <p:cNvSpPr txBox="1"/>
          <p:nvPr/>
        </p:nvSpPr>
        <p:spPr>
          <a:xfrm>
            <a:off x="502920" y="5010912"/>
            <a:ext cx="320040" cy="320040"/>
          </a:xfrm>
          <a:prstGeom prst="rect">
            <a:avLst/>
          </a:prstGeom>
          <a:noFill/>
        </p:spPr>
        <p:txBody>
          <a:bodyPr wrap="square">
            <a:spAutoFit/>
          </a:bodyPr>
          <a:lstStyle/>
          <a:p>
            <a:pPr algn="l"/>
            <a:r>
              <a:rPr sz="1200" b="1" i="0">
                <a:solidFill>
                  <a:srgbClr val="FF4FCB"/>
                </a:solidFill>
                <a:latin typeface="Segoe UI"/>
              </a:rPr>
              <a:t>✦</a:t>
            </a:r>
          </a:p>
        </p:txBody>
      </p:sp>
      <p:sp>
        <p:nvSpPr>
          <p:cNvPr id="16" name="TextBox 15"/>
          <p:cNvSpPr txBox="1"/>
          <p:nvPr/>
        </p:nvSpPr>
        <p:spPr>
          <a:xfrm>
            <a:off x="822960" y="5010912"/>
            <a:ext cx="5303520" cy="320040"/>
          </a:xfrm>
          <a:prstGeom prst="rect">
            <a:avLst/>
          </a:prstGeom>
          <a:noFill/>
        </p:spPr>
        <p:txBody>
          <a:bodyPr wrap="square">
            <a:spAutoFit/>
          </a:bodyPr>
          <a:lstStyle/>
          <a:p>
            <a:pPr algn="l"/>
            <a:r>
              <a:rPr sz="1300" b="0" i="0">
                <a:solidFill>
                  <a:srgbClr val="FFFFFF"/>
                </a:solidFill>
                <a:latin typeface="Segoe UI"/>
              </a:rPr>
              <a:t>Production-ready ads, not templates</a:t>
            </a:r>
          </a:p>
        </p:txBody>
      </p:sp>
      <p:sp>
        <p:nvSpPr>
          <p:cNvPr id="17" name="TextBox 16"/>
          <p:cNvSpPr txBox="1"/>
          <p:nvPr/>
        </p:nvSpPr>
        <p:spPr>
          <a:xfrm>
            <a:off x="502920" y="5358383"/>
            <a:ext cx="320040" cy="320040"/>
          </a:xfrm>
          <a:prstGeom prst="rect">
            <a:avLst/>
          </a:prstGeom>
          <a:noFill/>
        </p:spPr>
        <p:txBody>
          <a:bodyPr wrap="square">
            <a:spAutoFit/>
          </a:bodyPr>
          <a:lstStyle/>
          <a:p>
            <a:pPr algn="l"/>
            <a:r>
              <a:rPr sz="1200" b="1" i="0">
                <a:solidFill>
                  <a:srgbClr val="FF4FCB"/>
                </a:solidFill>
                <a:latin typeface="Segoe UI"/>
              </a:rPr>
              <a:t>✦</a:t>
            </a:r>
          </a:p>
        </p:txBody>
      </p:sp>
      <p:sp>
        <p:nvSpPr>
          <p:cNvPr id="18" name="TextBox 17"/>
          <p:cNvSpPr txBox="1"/>
          <p:nvPr/>
        </p:nvSpPr>
        <p:spPr>
          <a:xfrm>
            <a:off x="822960" y="5358383"/>
            <a:ext cx="5303520" cy="320040"/>
          </a:xfrm>
          <a:prstGeom prst="rect">
            <a:avLst/>
          </a:prstGeom>
          <a:noFill/>
        </p:spPr>
        <p:txBody>
          <a:bodyPr wrap="square">
            <a:spAutoFit/>
          </a:bodyPr>
          <a:lstStyle/>
          <a:p>
            <a:pPr algn="l"/>
            <a:r>
              <a:rPr sz="1300" b="0" i="0">
                <a:solidFill>
                  <a:srgbClr val="FFFFFF"/>
                </a:solidFill>
                <a:latin typeface="Segoe UI"/>
              </a:rPr>
              <a:t>Agency quality at 1/100th the cost</a:t>
            </a:r>
          </a:p>
        </p:txBody>
      </p:sp>
      <p:sp>
        <p:nvSpPr>
          <p:cNvPr id="19" name="Rounded Rectangle 18"/>
          <p:cNvSpPr/>
          <p:nvPr/>
        </p:nvSpPr>
        <p:spPr>
          <a:xfrm>
            <a:off x="6766560" y="1005840"/>
            <a:ext cx="4937760" cy="5074920"/>
          </a:xfrm>
          <a:prstGeom prst="roundRect">
            <a:avLst/>
          </a:prstGeom>
          <a:solidFill>
            <a:srgbClr val="110A2B"/>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66560" y="1005840"/>
            <a:ext cx="4937760" cy="54864"/>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21" name="TextBox 20"/>
          <p:cNvSpPr txBox="1"/>
          <p:nvPr/>
        </p:nvSpPr>
        <p:spPr>
          <a:xfrm>
            <a:off x="6995160" y="1115568"/>
            <a:ext cx="4480560" cy="347472"/>
          </a:xfrm>
          <a:prstGeom prst="rect">
            <a:avLst/>
          </a:prstGeom>
          <a:noFill/>
        </p:spPr>
        <p:txBody>
          <a:bodyPr wrap="square">
            <a:spAutoFit/>
          </a:bodyPr>
          <a:lstStyle/>
          <a:p>
            <a:pPr algn="l"/>
            <a:r>
              <a:rPr sz="1300" b="1" i="0">
                <a:solidFill>
                  <a:srgbClr val="FFFFFF"/>
                </a:solidFill>
                <a:latin typeface="Segoe UI Semibold"/>
              </a:rPr>
              <a:t>Marketing Brain™</a:t>
            </a:r>
          </a:p>
        </p:txBody>
      </p:sp>
      <p:sp>
        <p:nvSpPr>
          <p:cNvPr id="22" name="TextBox 21"/>
          <p:cNvSpPr txBox="1"/>
          <p:nvPr/>
        </p:nvSpPr>
        <p:spPr>
          <a:xfrm>
            <a:off x="6995160" y="1463040"/>
            <a:ext cx="4480560" cy="256032"/>
          </a:xfrm>
          <a:prstGeom prst="rect">
            <a:avLst/>
          </a:prstGeom>
          <a:noFill/>
        </p:spPr>
        <p:txBody>
          <a:bodyPr wrap="square">
            <a:spAutoFit/>
          </a:bodyPr>
          <a:lstStyle/>
          <a:p>
            <a:pPr algn="l"/>
            <a:r>
              <a:rPr sz="1000" b="0" i="0">
                <a:solidFill>
                  <a:srgbClr val="777397"/>
                </a:solidFill>
                <a:latin typeface="Segoe UI"/>
              </a:rPr>
              <a:t>crelix.ai/studio</a:t>
            </a:r>
          </a:p>
        </p:txBody>
      </p:sp>
      <p:sp>
        <p:nvSpPr>
          <p:cNvPr id="23" name="Rectangle 22"/>
          <p:cNvSpPr/>
          <p:nvPr/>
        </p:nvSpPr>
        <p:spPr>
          <a:xfrm>
            <a:off x="6949440" y="1828800"/>
            <a:ext cx="4572000" cy="658368"/>
          </a:xfrm>
          <a:prstGeom prst="rect">
            <a:avLst/>
          </a:prstGeom>
          <a:solidFill>
            <a:srgbClr val="1C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4032" y="1883664"/>
            <a:ext cx="4206240" cy="237744"/>
          </a:xfrm>
          <a:prstGeom prst="rect">
            <a:avLst/>
          </a:prstGeom>
          <a:noFill/>
        </p:spPr>
        <p:txBody>
          <a:bodyPr wrap="square">
            <a:spAutoFit/>
          </a:bodyPr>
          <a:lstStyle/>
          <a:p>
            <a:pPr algn="l"/>
            <a:r>
              <a:rPr sz="850" b="1" i="0">
                <a:solidFill>
                  <a:srgbClr val="9B72FF"/>
                </a:solidFill>
                <a:latin typeface="Segoe UI"/>
              </a:rPr>
              <a:t>Ideal Customer Profile</a:t>
            </a:r>
          </a:p>
        </p:txBody>
      </p:sp>
      <p:sp>
        <p:nvSpPr>
          <p:cNvPr id="25" name="TextBox 24"/>
          <p:cNvSpPr txBox="1"/>
          <p:nvPr/>
        </p:nvSpPr>
        <p:spPr>
          <a:xfrm>
            <a:off x="7114032" y="2121408"/>
            <a:ext cx="4206240" cy="310896"/>
          </a:xfrm>
          <a:prstGeom prst="rect">
            <a:avLst/>
          </a:prstGeom>
          <a:noFill/>
        </p:spPr>
        <p:txBody>
          <a:bodyPr wrap="square">
            <a:spAutoFit/>
          </a:bodyPr>
          <a:lstStyle/>
          <a:p>
            <a:pPr algn="l"/>
            <a:r>
              <a:rPr sz="1050" b="0" i="0">
                <a:solidFill>
                  <a:srgbClr val="FFFFFF"/>
                </a:solidFill>
                <a:latin typeface="Segoe UI"/>
              </a:rPr>
              <a:t>E-commerce founders, 28–42, scaling to 7-figures</a:t>
            </a:r>
          </a:p>
        </p:txBody>
      </p:sp>
      <p:sp>
        <p:nvSpPr>
          <p:cNvPr id="26" name="Rectangle 25"/>
          <p:cNvSpPr/>
          <p:nvPr/>
        </p:nvSpPr>
        <p:spPr>
          <a:xfrm>
            <a:off x="6949440" y="2587752"/>
            <a:ext cx="4572000" cy="658368"/>
          </a:xfrm>
          <a:prstGeom prst="rect">
            <a:avLst/>
          </a:prstGeom>
          <a:solidFill>
            <a:srgbClr val="1C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2" y="2642616"/>
            <a:ext cx="4206240" cy="237744"/>
          </a:xfrm>
          <a:prstGeom prst="rect">
            <a:avLst/>
          </a:prstGeom>
          <a:noFill/>
        </p:spPr>
        <p:txBody>
          <a:bodyPr wrap="square">
            <a:spAutoFit/>
          </a:bodyPr>
          <a:lstStyle/>
          <a:p>
            <a:pPr algn="l"/>
            <a:r>
              <a:rPr sz="850" b="1" i="0">
                <a:solidFill>
                  <a:srgbClr val="9B72FF"/>
                </a:solidFill>
                <a:latin typeface="Segoe UI"/>
              </a:rPr>
              <a:t>Primary Pain Point</a:t>
            </a:r>
          </a:p>
        </p:txBody>
      </p:sp>
      <p:sp>
        <p:nvSpPr>
          <p:cNvPr id="28" name="TextBox 27"/>
          <p:cNvSpPr txBox="1"/>
          <p:nvPr/>
        </p:nvSpPr>
        <p:spPr>
          <a:xfrm>
            <a:off x="7114032" y="2880360"/>
            <a:ext cx="4206240" cy="310896"/>
          </a:xfrm>
          <a:prstGeom prst="rect">
            <a:avLst/>
          </a:prstGeom>
          <a:noFill/>
        </p:spPr>
        <p:txBody>
          <a:bodyPr wrap="square">
            <a:spAutoFit/>
          </a:bodyPr>
          <a:lstStyle/>
          <a:p>
            <a:pPr algn="l"/>
            <a:r>
              <a:rPr sz="1050" b="0" i="0">
                <a:solidFill>
                  <a:srgbClr val="FFFFFF"/>
                </a:solidFill>
                <a:latin typeface="Segoe UI"/>
              </a:rPr>
              <a:t>Spending $10K/mo on ads with declining ROAS</a:t>
            </a:r>
          </a:p>
        </p:txBody>
      </p:sp>
      <p:sp>
        <p:nvSpPr>
          <p:cNvPr id="29" name="Rectangle 28"/>
          <p:cNvSpPr/>
          <p:nvPr/>
        </p:nvSpPr>
        <p:spPr>
          <a:xfrm>
            <a:off x="6949440" y="3346704"/>
            <a:ext cx="4572000" cy="658368"/>
          </a:xfrm>
          <a:prstGeom prst="rect">
            <a:avLst/>
          </a:prstGeom>
          <a:solidFill>
            <a:srgbClr val="1C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14032" y="3401568"/>
            <a:ext cx="4206240" cy="237744"/>
          </a:xfrm>
          <a:prstGeom prst="rect">
            <a:avLst/>
          </a:prstGeom>
          <a:noFill/>
        </p:spPr>
        <p:txBody>
          <a:bodyPr wrap="square">
            <a:spAutoFit/>
          </a:bodyPr>
          <a:lstStyle/>
          <a:p>
            <a:pPr algn="l"/>
            <a:r>
              <a:rPr sz="850" b="1" i="0">
                <a:solidFill>
                  <a:srgbClr val="9B72FF"/>
                </a:solidFill>
                <a:latin typeface="Segoe UI"/>
              </a:rPr>
              <a:t>Buying Trigger</a:t>
            </a:r>
          </a:p>
        </p:txBody>
      </p:sp>
      <p:sp>
        <p:nvSpPr>
          <p:cNvPr id="31" name="TextBox 30"/>
          <p:cNvSpPr txBox="1"/>
          <p:nvPr/>
        </p:nvSpPr>
        <p:spPr>
          <a:xfrm>
            <a:off x="7114032" y="3639312"/>
            <a:ext cx="4206240" cy="310896"/>
          </a:xfrm>
          <a:prstGeom prst="rect">
            <a:avLst/>
          </a:prstGeom>
          <a:noFill/>
        </p:spPr>
        <p:txBody>
          <a:bodyPr wrap="square">
            <a:spAutoFit/>
          </a:bodyPr>
          <a:lstStyle/>
          <a:p>
            <a:pPr algn="l"/>
            <a:r>
              <a:rPr sz="1050" b="0" i="0">
                <a:solidFill>
                  <a:srgbClr val="FFFFFF"/>
                </a:solidFill>
                <a:latin typeface="Segoe UI"/>
              </a:rPr>
              <a:t>New competitor entered market, urgency to act</a:t>
            </a:r>
          </a:p>
        </p:txBody>
      </p:sp>
      <p:sp>
        <p:nvSpPr>
          <p:cNvPr id="32" name="Rectangle 31"/>
          <p:cNvSpPr/>
          <p:nvPr/>
        </p:nvSpPr>
        <p:spPr>
          <a:xfrm>
            <a:off x="6949440" y="4105656"/>
            <a:ext cx="4572000" cy="658368"/>
          </a:xfrm>
          <a:prstGeom prst="rect">
            <a:avLst/>
          </a:prstGeom>
          <a:solidFill>
            <a:srgbClr val="1C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14032" y="4160520"/>
            <a:ext cx="4206240" cy="237744"/>
          </a:xfrm>
          <a:prstGeom prst="rect">
            <a:avLst/>
          </a:prstGeom>
          <a:noFill/>
        </p:spPr>
        <p:txBody>
          <a:bodyPr wrap="square">
            <a:spAutoFit/>
          </a:bodyPr>
          <a:lstStyle/>
          <a:p>
            <a:pPr algn="l"/>
            <a:r>
              <a:rPr sz="850" b="1" i="0">
                <a:solidFill>
                  <a:srgbClr val="9B72FF"/>
                </a:solidFill>
                <a:latin typeface="Segoe UI"/>
              </a:rPr>
              <a:t>Best Hook</a:t>
            </a:r>
          </a:p>
        </p:txBody>
      </p:sp>
      <p:sp>
        <p:nvSpPr>
          <p:cNvPr id="34" name="TextBox 33"/>
          <p:cNvSpPr txBox="1"/>
          <p:nvPr/>
        </p:nvSpPr>
        <p:spPr>
          <a:xfrm>
            <a:off x="7114032" y="4398264"/>
            <a:ext cx="4206240" cy="310896"/>
          </a:xfrm>
          <a:prstGeom prst="rect">
            <a:avLst/>
          </a:prstGeom>
          <a:noFill/>
        </p:spPr>
        <p:txBody>
          <a:bodyPr wrap="square">
            <a:spAutoFit/>
          </a:bodyPr>
          <a:lstStyle/>
          <a:p>
            <a:pPr algn="l"/>
            <a:r>
              <a:rPr sz="1050" b="0" i="0">
                <a:solidFill>
                  <a:srgbClr val="FFFFFF"/>
                </a:solidFill>
                <a:latin typeface="Segoe UI"/>
              </a:rPr>
              <a:t>"Stop guessing what works. Your next winning ad starts here."</a:t>
            </a:r>
          </a:p>
        </p:txBody>
      </p:sp>
      <p:sp>
        <p:nvSpPr>
          <p:cNvPr id="35" name="Rectangle 34"/>
          <p:cNvSpPr/>
          <p:nvPr/>
        </p:nvSpPr>
        <p:spPr>
          <a:xfrm>
            <a:off x="6949440" y="4864608"/>
            <a:ext cx="4572000" cy="658368"/>
          </a:xfrm>
          <a:prstGeom prst="rect">
            <a:avLst/>
          </a:prstGeom>
          <a:solidFill>
            <a:srgbClr val="1C1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14032" y="4919472"/>
            <a:ext cx="4206240" cy="237744"/>
          </a:xfrm>
          <a:prstGeom prst="rect">
            <a:avLst/>
          </a:prstGeom>
          <a:noFill/>
        </p:spPr>
        <p:txBody>
          <a:bodyPr wrap="square">
            <a:spAutoFit/>
          </a:bodyPr>
          <a:lstStyle/>
          <a:p>
            <a:pPr algn="l"/>
            <a:r>
              <a:rPr sz="850" b="1" i="0">
                <a:solidFill>
                  <a:srgbClr val="9B72FF"/>
                </a:solidFill>
                <a:latin typeface="Segoe UI"/>
              </a:rPr>
              <a:t>Recommended Platform</a:t>
            </a:r>
          </a:p>
        </p:txBody>
      </p:sp>
      <p:sp>
        <p:nvSpPr>
          <p:cNvPr id="37" name="TextBox 36"/>
          <p:cNvSpPr txBox="1"/>
          <p:nvPr/>
        </p:nvSpPr>
        <p:spPr>
          <a:xfrm>
            <a:off x="7114032" y="5157216"/>
            <a:ext cx="4206240" cy="310896"/>
          </a:xfrm>
          <a:prstGeom prst="rect">
            <a:avLst/>
          </a:prstGeom>
          <a:noFill/>
        </p:spPr>
        <p:txBody>
          <a:bodyPr wrap="square">
            <a:spAutoFit/>
          </a:bodyPr>
          <a:lstStyle/>
          <a:p>
            <a:pPr algn="l"/>
            <a:r>
              <a:rPr sz="1050" b="0" i="0">
                <a:solidFill>
                  <a:srgbClr val="FFFFFF"/>
                </a:solidFill>
                <a:latin typeface="Segoe UI"/>
              </a:rPr>
              <a:t>Meta (Primary) · Google (Secondary)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03</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HOW IT WORKS</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04</a:t>
            </a:r>
          </a:p>
        </p:txBody>
      </p:sp>
      <p:sp>
        <p:nvSpPr>
          <p:cNvPr id="7" name="TextBox 6"/>
          <p:cNvSpPr txBox="1"/>
          <p:nvPr/>
        </p:nvSpPr>
        <p:spPr>
          <a:xfrm>
            <a:off x="502920" y="804672"/>
            <a:ext cx="10972800" cy="457200"/>
          </a:xfrm>
          <a:prstGeom prst="rect">
            <a:avLst/>
          </a:prstGeom>
          <a:noFill/>
        </p:spPr>
        <p:txBody>
          <a:bodyPr wrap="square">
            <a:spAutoFit/>
          </a:bodyPr>
          <a:lstStyle/>
          <a:p>
            <a:pPr algn="ctr"/>
            <a:r>
              <a:rPr sz="1900" b="0" i="0">
                <a:solidFill>
                  <a:srgbClr val="BBB8D4"/>
                </a:solidFill>
                <a:latin typeface="Segoe UI"/>
              </a:rPr>
              <a:t>From URL to campaign-ready creatives in 3 minutes.</a:t>
            </a:r>
          </a:p>
        </p:txBody>
      </p:sp>
      <p:sp>
        <p:nvSpPr>
          <p:cNvPr id="8" name="Rounded Rectangle 7"/>
          <p:cNvSpPr/>
          <p:nvPr/>
        </p:nvSpPr>
        <p:spPr>
          <a:xfrm>
            <a:off x="384048" y="1417320"/>
            <a:ext cx="3703320" cy="502920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417320"/>
            <a:ext cx="3703320" cy="64008"/>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48640" y="1572768"/>
            <a:ext cx="640080" cy="640080"/>
          </a:xfrm>
          <a:prstGeom prst="ellipse">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72768"/>
            <a:ext cx="640080" cy="640080"/>
          </a:xfrm>
          <a:prstGeom prst="rect">
            <a:avLst/>
          </a:prstGeom>
          <a:noFill/>
        </p:spPr>
        <p:txBody>
          <a:bodyPr wrap="square">
            <a:spAutoFit/>
          </a:bodyPr>
          <a:lstStyle/>
          <a:p>
            <a:pPr algn="ctr"/>
            <a:r>
              <a:rPr sz="1800" b="1" i="0">
                <a:solidFill>
                  <a:srgbClr val="FFFFFF"/>
                </a:solidFill>
                <a:latin typeface="Segoe UI Black"/>
              </a:rPr>
              <a:t>01</a:t>
            </a:r>
          </a:p>
        </p:txBody>
      </p:sp>
      <p:sp>
        <p:nvSpPr>
          <p:cNvPr id="12" name="TextBox 11"/>
          <p:cNvSpPr txBox="1"/>
          <p:nvPr/>
        </p:nvSpPr>
        <p:spPr>
          <a:xfrm>
            <a:off x="4087368" y="3474720"/>
            <a:ext cx="274320" cy="457200"/>
          </a:xfrm>
          <a:prstGeom prst="rect">
            <a:avLst/>
          </a:prstGeom>
          <a:noFill/>
        </p:spPr>
        <p:txBody>
          <a:bodyPr wrap="square">
            <a:spAutoFit/>
          </a:bodyPr>
          <a:lstStyle/>
          <a:p>
            <a:pPr algn="l"/>
            <a:r>
              <a:rPr sz="2200" b="1" i="0">
                <a:solidFill>
                  <a:srgbClr val="777397"/>
                </a:solidFill>
                <a:latin typeface="Segoe UI"/>
              </a:rPr>
              <a:t>→</a:t>
            </a:r>
          </a:p>
        </p:txBody>
      </p:sp>
      <p:sp>
        <p:nvSpPr>
          <p:cNvPr id="13" name="TextBox 12"/>
          <p:cNvSpPr txBox="1"/>
          <p:nvPr/>
        </p:nvSpPr>
        <p:spPr>
          <a:xfrm>
            <a:off x="548640" y="2304288"/>
            <a:ext cx="3383280" cy="457200"/>
          </a:xfrm>
          <a:prstGeom prst="rect">
            <a:avLst/>
          </a:prstGeom>
          <a:noFill/>
        </p:spPr>
        <p:txBody>
          <a:bodyPr wrap="square">
            <a:spAutoFit/>
          </a:bodyPr>
          <a:lstStyle/>
          <a:p>
            <a:pPr algn="l"/>
            <a:r>
              <a:rPr sz="1600" b="1" i="0">
                <a:solidFill>
                  <a:srgbClr val="FFFFFF"/>
                </a:solidFill>
                <a:latin typeface="Segoe UI Semibold"/>
              </a:rPr>
              <a:t>Enter Your URL</a:t>
            </a:r>
          </a:p>
        </p:txBody>
      </p:sp>
      <p:sp>
        <p:nvSpPr>
          <p:cNvPr id="14" name="TextBox 13"/>
          <p:cNvSpPr txBox="1"/>
          <p:nvPr/>
        </p:nvSpPr>
        <p:spPr>
          <a:xfrm>
            <a:off x="548640" y="2798064"/>
            <a:ext cx="3364992" cy="960120"/>
          </a:xfrm>
          <a:prstGeom prst="rect">
            <a:avLst/>
          </a:prstGeom>
          <a:noFill/>
        </p:spPr>
        <p:txBody>
          <a:bodyPr wrap="square">
            <a:spAutoFit/>
          </a:bodyPr>
          <a:lstStyle/>
          <a:p>
            <a:pPr algn="l"/>
            <a:r>
              <a:rPr sz="1100" b="0" i="0">
                <a:solidFill>
                  <a:srgbClr val="BBB8D4"/>
                </a:solidFill>
                <a:latin typeface="Segoe UI"/>
              </a:rPr>
              <a:t>Input any business website URL and an optional campaign goal (e.g., 'increase free trial signups').</a:t>
            </a:r>
          </a:p>
        </p:txBody>
      </p:sp>
      <p:sp>
        <p:nvSpPr>
          <p:cNvPr id="15" name="Rectangle 14"/>
          <p:cNvSpPr/>
          <p:nvPr/>
        </p:nvSpPr>
        <p:spPr>
          <a:xfrm>
            <a:off x="548640" y="3941064"/>
            <a:ext cx="27432" cy="201168"/>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840480"/>
            <a:ext cx="3246120" cy="402336"/>
          </a:xfrm>
          <a:prstGeom prst="rect">
            <a:avLst/>
          </a:prstGeom>
          <a:noFill/>
        </p:spPr>
        <p:txBody>
          <a:bodyPr wrap="square">
            <a:spAutoFit/>
          </a:bodyPr>
          <a:lstStyle/>
          <a:p>
            <a:pPr algn="l"/>
            <a:r>
              <a:rPr sz="1150" b="0" i="0">
                <a:solidFill>
                  <a:srgbClr val="FFFFFF"/>
                </a:solidFill>
                <a:latin typeface="Segoe UI"/>
              </a:rPr>
              <a:t>🔗 Any business URL</a:t>
            </a:r>
          </a:p>
        </p:txBody>
      </p:sp>
      <p:sp>
        <p:nvSpPr>
          <p:cNvPr id="17" name="Rectangle 16"/>
          <p:cNvSpPr/>
          <p:nvPr/>
        </p:nvSpPr>
        <p:spPr>
          <a:xfrm>
            <a:off x="548640" y="4398264"/>
            <a:ext cx="27432" cy="201168"/>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297680"/>
            <a:ext cx="3246120" cy="402336"/>
          </a:xfrm>
          <a:prstGeom prst="rect">
            <a:avLst/>
          </a:prstGeom>
          <a:noFill/>
        </p:spPr>
        <p:txBody>
          <a:bodyPr wrap="square">
            <a:spAutoFit/>
          </a:bodyPr>
          <a:lstStyle/>
          <a:p>
            <a:pPr algn="l"/>
            <a:r>
              <a:rPr sz="1150" b="0" i="0">
                <a:solidFill>
                  <a:srgbClr val="FFFFFF"/>
                </a:solidFill>
                <a:latin typeface="Segoe UI"/>
              </a:rPr>
              <a:t>🎯 Optional goal context</a:t>
            </a:r>
          </a:p>
        </p:txBody>
      </p:sp>
      <p:sp>
        <p:nvSpPr>
          <p:cNvPr id="19" name="Rectangle 18"/>
          <p:cNvSpPr/>
          <p:nvPr/>
        </p:nvSpPr>
        <p:spPr>
          <a:xfrm>
            <a:off x="548640" y="4855464"/>
            <a:ext cx="27432" cy="201168"/>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754880"/>
            <a:ext cx="3246120" cy="402336"/>
          </a:xfrm>
          <a:prstGeom prst="rect">
            <a:avLst/>
          </a:prstGeom>
          <a:noFill/>
        </p:spPr>
        <p:txBody>
          <a:bodyPr wrap="square">
            <a:spAutoFit/>
          </a:bodyPr>
          <a:lstStyle/>
          <a:p>
            <a:pPr algn="l"/>
            <a:r>
              <a:rPr sz="1150" b="0" i="0">
                <a:solidFill>
                  <a:srgbClr val="FFFFFF"/>
                </a:solidFill>
                <a:latin typeface="Segoe UI"/>
              </a:rPr>
              <a:t>⚡ Zero setup required</a:t>
            </a:r>
          </a:p>
        </p:txBody>
      </p:sp>
      <p:sp>
        <p:nvSpPr>
          <p:cNvPr id="21" name="Rounded Rectangle 20"/>
          <p:cNvSpPr/>
          <p:nvPr/>
        </p:nvSpPr>
        <p:spPr>
          <a:xfrm>
            <a:off x="4315968" y="1417320"/>
            <a:ext cx="3703320" cy="502920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1417320"/>
            <a:ext cx="3703320" cy="64008"/>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80559" y="1572768"/>
            <a:ext cx="640080" cy="640080"/>
          </a:xfrm>
          <a:prstGeom prst="ellipse">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59" y="1572768"/>
            <a:ext cx="640080" cy="640080"/>
          </a:xfrm>
          <a:prstGeom prst="rect">
            <a:avLst/>
          </a:prstGeom>
          <a:noFill/>
        </p:spPr>
        <p:txBody>
          <a:bodyPr wrap="square">
            <a:spAutoFit/>
          </a:bodyPr>
          <a:lstStyle/>
          <a:p>
            <a:pPr algn="ctr"/>
            <a:r>
              <a:rPr sz="1800" b="1" i="0">
                <a:solidFill>
                  <a:srgbClr val="FFFFFF"/>
                </a:solidFill>
                <a:latin typeface="Segoe UI Black"/>
              </a:rPr>
              <a:t>02</a:t>
            </a:r>
          </a:p>
        </p:txBody>
      </p:sp>
      <p:sp>
        <p:nvSpPr>
          <p:cNvPr id="25" name="TextBox 24"/>
          <p:cNvSpPr txBox="1"/>
          <p:nvPr/>
        </p:nvSpPr>
        <p:spPr>
          <a:xfrm>
            <a:off x="8019288" y="3474720"/>
            <a:ext cx="274320" cy="457200"/>
          </a:xfrm>
          <a:prstGeom prst="rect">
            <a:avLst/>
          </a:prstGeom>
          <a:noFill/>
        </p:spPr>
        <p:txBody>
          <a:bodyPr wrap="square">
            <a:spAutoFit/>
          </a:bodyPr>
          <a:lstStyle/>
          <a:p>
            <a:pPr algn="l"/>
            <a:r>
              <a:rPr sz="2200" b="1" i="0">
                <a:solidFill>
                  <a:srgbClr val="777397"/>
                </a:solidFill>
                <a:latin typeface="Segoe UI"/>
              </a:rPr>
              <a:t>→</a:t>
            </a:r>
          </a:p>
        </p:txBody>
      </p:sp>
      <p:sp>
        <p:nvSpPr>
          <p:cNvPr id="26" name="TextBox 25"/>
          <p:cNvSpPr txBox="1"/>
          <p:nvPr/>
        </p:nvSpPr>
        <p:spPr>
          <a:xfrm>
            <a:off x="4480559" y="2304288"/>
            <a:ext cx="3383280" cy="457200"/>
          </a:xfrm>
          <a:prstGeom prst="rect">
            <a:avLst/>
          </a:prstGeom>
          <a:noFill/>
        </p:spPr>
        <p:txBody>
          <a:bodyPr wrap="square">
            <a:spAutoFit/>
          </a:bodyPr>
          <a:lstStyle/>
          <a:p>
            <a:pPr algn="l"/>
            <a:r>
              <a:rPr sz="1600" b="1" i="0">
                <a:solidFill>
                  <a:srgbClr val="FFFFFF"/>
                </a:solidFill>
                <a:latin typeface="Segoe UI Semibold"/>
              </a:rPr>
              <a:t>Marketing Brain™ Runs</a:t>
            </a:r>
          </a:p>
        </p:txBody>
      </p:sp>
      <p:sp>
        <p:nvSpPr>
          <p:cNvPr id="27" name="TextBox 26"/>
          <p:cNvSpPr txBox="1"/>
          <p:nvPr/>
        </p:nvSpPr>
        <p:spPr>
          <a:xfrm>
            <a:off x="4480559" y="2798064"/>
            <a:ext cx="3364992" cy="960120"/>
          </a:xfrm>
          <a:prstGeom prst="rect">
            <a:avLst/>
          </a:prstGeom>
          <a:noFill/>
        </p:spPr>
        <p:txBody>
          <a:bodyPr wrap="square">
            <a:spAutoFit/>
          </a:bodyPr>
          <a:lstStyle/>
          <a:p>
            <a:pPr algn="l"/>
            <a:r>
              <a:rPr sz="1100" b="0" i="0">
                <a:solidFill>
                  <a:srgbClr val="BBB8D4"/>
                </a:solidFill>
                <a:latin typeface="Segoe UI"/>
              </a:rPr>
              <a:t>Grok AI researches the business &amp; customer. Claude synthesizes into structured intelligence with ICP, pain points, hooks &amp; strategy.</a:t>
            </a:r>
          </a:p>
        </p:txBody>
      </p:sp>
      <p:sp>
        <p:nvSpPr>
          <p:cNvPr id="28" name="Rectangle 27"/>
          <p:cNvSpPr/>
          <p:nvPr/>
        </p:nvSpPr>
        <p:spPr>
          <a:xfrm>
            <a:off x="4480559" y="3941064"/>
            <a:ext cx="27432" cy="201168"/>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0" y="3840480"/>
            <a:ext cx="3246120" cy="402336"/>
          </a:xfrm>
          <a:prstGeom prst="rect">
            <a:avLst/>
          </a:prstGeom>
          <a:noFill/>
        </p:spPr>
        <p:txBody>
          <a:bodyPr wrap="square">
            <a:spAutoFit/>
          </a:bodyPr>
          <a:lstStyle/>
          <a:p>
            <a:pPr algn="l"/>
            <a:r>
              <a:rPr sz="1150" b="0" i="0">
                <a:solidFill>
                  <a:srgbClr val="FFFFFF"/>
                </a:solidFill>
                <a:latin typeface="Segoe UI"/>
              </a:rPr>
              <a:t>🔍 Grok: Real-time research</a:t>
            </a:r>
          </a:p>
        </p:txBody>
      </p:sp>
      <p:sp>
        <p:nvSpPr>
          <p:cNvPr id="30" name="Rectangle 29"/>
          <p:cNvSpPr/>
          <p:nvPr/>
        </p:nvSpPr>
        <p:spPr>
          <a:xfrm>
            <a:off x="4480559" y="4398264"/>
            <a:ext cx="27432" cy="201168"/>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4297680"/>
            <a:ext cx="3246120" cy="402336"/>
          </a:xfrm>
          <a:prstGeom prst="rect">
            <a:avLst/>
          </a:prstGeom>
          <a:noFill/>
        </p:spPr>
        <p:txBody>
          <a:bodyPr wrap="square">
            <a:spAutoFit/>
          </a:bodyPr>
          <a:lstStyle/>
          <a:p>
            <a:pPr algn="l"/>
            <a:r>
              <a:rPr sz="1150" b="0" i="0">
                <a:solidFill>
                  <a:srgbClr val="FFFFFF"/>
                </a:solidFill>
                <a:latin typeface="Segoe UI"/>
              </a:rPr>
              <a:t>🧠 Claude: Strategic synthesis</a:t>
            </a:r>
          </a:p>
        </p:txBody>
      </p:sp>
      <p:sp>
        <p:nvSpPr>
          <p:cNvPr id="32" name="Rectangle 31"/>
          <p:cNvSpPr/>
          <p:nvPr/>
        </p:nvSpPr>
        <p:spPr>
          <a:xfrm>
            <a:off x="4480559" y="4855464"/>
            <a:ext cx="27432" cy="201168"/>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0" y="4754880"/>
            <a:ext cx="3246120" cy="402336"/>
          </a:xfrm>
          <a:prstGeom prst="rect">
            <a:avLst/>
          </a:prstGeom>
          <a:noFill/>
        </p:spPr>
        <p:txBody>
          <a:bodyPr wrap="square">
            <a:spAutoFit/>
          </a:bodyPr>
          <a:lstStyle/>
          <a:p>
            <a:pPr algn="l"/>
            <a:r>
              <a:rPr sz="1150" b="0" i="0">
                <a:solidFill>
                  <a:srgbClr val="FFFFFF"/>
                </a:solidFill>
                <a:latin typeface="Segoe UI"/>
              </a:rPr>
              <a:t>📊 Full ICP + angles output</a:t>
            </a:r>
          </a:p>
        </p:txBody>
      </p:sp>
      <p:sp>
        <p:nvSpPr>
          <p:cNvPr id="34" name="Rounded Rectangle 33"/>
          <p:cNvSpPr/>
          <p:nvPr/>
        </p:nvSpPr>
        <p:spPr>
          <a:xfrm>
            <a:off x="8247888" y="1417320"/>
            <a:ext cx="3703320" cy="502920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47888" y="1417320"/>
            <a:ext cx="3703320" cy="6400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12480" y="1572768"/>
            <a:ext cx="640080" cy="6400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1572768"/>
            <a:ext cx="640080" cy="640080"/>
          </a:xfrm>
          <a:prstGeom prst="rect">
            <a:avLst/>
          </a:prstGeom>
          <a:noFill/>
        </p:spPr>
        <p:txBody>
          <a:bodyPr wrap="square">
            <a:spAutoFit/>
          </a:bodyPr>
          <a:lstStyle/>
          <a:p>
            <a:pPr algn="ctr"/>
            <a:r>
              <a:rPr sz="1800" b="1" i="0">
                <a:solidFill>
                  <a:srgbClr val="FFFFFF"/>
                </a:solidFill>
                <a:latin typeface="Segoe UI Black"/>
              </a:rPr>
              <a:t>03</a:t>
            </a:r>
          </a:p>
        </p:txBody>
      </p:sp>
      <p:sp>
        <p:nvSpPr>
          <p:cNvPr id="38" name="TextBox 37"/>
          <p:cNvSpPr txBox="1"/>
          <p:nvPr/>
        </p:nvSpPr>
        <p:spPr>
          <a:xfrm>
            <a:off x="8412480" y="2304288"/>
            <a:ext cx="3383280" cy="457200"/>
          </a:xfrm>
          <a:prstGeom prst="rect">
            <a:avLst/>
          </a:prstGeom>
          <a:noFill/>
        </p:spPr>
        <p:txBody>
          <a:bodyPr wrap="square">
            <a:spAutoFit/>
          </a:bodyPr>
          <a:lstStyle/>
          <a:p>
            <a:pPr algn="l"/>
            <a:r>
              <a:rPr sz="1600" b="1" i="0">
                <a:solidFill>
                  <a:srgbClr val="FFFFFF"/>
                </a:solidFill>
                <a:latin typeface="Segoe UI Semibold"/>
              </a:rPr>
              <a:t>Generate &amp; Export</a:t>
            </a:r>
          </a:p>
        </p:txBody>
      </p:sp>
      <p:sp>
        <p:nvSpPr>
          <p:cNvPr id="39" name="TextBox 38"/>
          <p:cNvSpPr txBox="1"/>
          <p:nvPr/>
        </p:nvSpPr>
        <p:spPr>
          <a:xfrm>
            <a:off x="8412480" y="2798064"/>
            <a:ext cx="3364992" cy="960120"/>
          </a:xfrm>
          <a:prstGeom prst="rect">
            <a:avLst/>
          </a:prstGeom>
          <a:noFill/>
        </p:spPr>
        <p:txBody>
          <a:bodyPr wrap="square">
            <a:spAutoFit/>
          </a:bodyPr>
          <a:lstStyle/>
          <a:p>
            <a:pPr algn="l"/>
            <a:r>
              <a:rPr sz="1100" b="0" i="0">
                <a:solidFill>
                  <a:srgbClr val="BBB8D4"/>
                </a:solidFill>
                <a:latin typeface="Segoe UI"/>
              </a:rPr>
              <a:t>Configure theme, platform, and size. Crelix generates 1–4 ad variants — full mockups with image, copy &amp; CTA — ready to upload.</a:t>
            </a:r>
          </a:p>
        </p:txBody>
      </p:sp>
      <p:sp>
        <p:nvSpPr>
          <p:cNvPr id="40" name="Rectangle 39"/>
          <p:cNvSpPr/>
          <p:nvPr/>
        </p:nvSpPr>
        <p:spPr>
          <a:xfrm>
            <a:off x="8412480" y="3941064"/>
            <a:ext cx="27432" cy="20116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19" y="3840480"/>
            <a:ext cx="3246120" cy="402336"/>
          </a:xfrm>
          <a:prstGeom prst="rect">
            <a:avLst/>
          </a:prstGeom>
          <a:noFill/>
        </p:spPr>
        <p:txBody>
          <a:bodyPr wrap="square">
            <a:spAutoFit/>
          </a:bodyPr>
          <a:lstStyle/>
          <a:p>
            <a:pPr algn="l"/>
            <a:r>
              <a:rPr sz="1150" b="0" i="0">
                <a:solidFill>
                  <a:srgbClr val="FFFFFF"/>
                </a:solidFill>
                <a:latin typeface="Segoe UI"/>
              </a:rPr>
              <a:t>🎨 4 parallel variants</a:t>
            </a:r>
          </a:p>
        </p:txBody>
      </p:sp>
      <p:sp>
        <p:nvSpPr>
          <p:cNvPr id="42" name="Rectangle 41"/>
          <p:cNvSpPr/>
          <p:nvPr/>
        </p:nvSpPr>
        <p:spPr>
          <a:xfrm>
            <a:off x="8412480" y="4398264"/>
            <a:ext cx="27432" cy="20116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03919" y="4297680"/>
            <a:ext cx="3246120" cy="402336"/>
          </a:xfrm>
          <a:prstGeom prst="rect">
            <a:avLst/>
          </a:prstGeom>
          <a:noFill/>
        </p:spPr>
        <p:txBody>
          <a:bodyPr wrap="square">
            <a:spAutoFit/>
          </a:bodyPr>
          <a:lstStyle/>
          <a:p>
            <a:pPr algn="l"/>
            <a:r>
              <a:rPr sz="1150" b="0" i="0">
                <a:solidFill>
                  <a:srgbClr val="FFFFFF"/>
                </a:solidFill>
                <a:latin typeface="Segoe UI"/>
              </a:rPr>
              <a:t>📱 Meta / Google / TikTok</a:t>
            </a:r>
          </a:p>
        </p:txBody>
      </p:sp>
      <p:sp>
        <p:nvSpPr>
          <p:cNvPr id="44" name="Rectangle 43"/>
          <p:cNvSpPr/>
          <p:nvPr/>
        </p:nvSpPr>
        <p:spPr>
          <a:xfrm>
            <a:off x="8412480" y="4855464"/>
            <a:ext cx="27432" cy="20116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03919" y="4754880"/>
            <a:ext cx="3246120" cy="402336"/>
          </a:xfrm>
          <a:prstGeom prst="rect">
            <a:avLst/>
          </a:prstGeom>
          <a:noFill/>
        </p:spPr>
        <p:txBody>
          <a:bodyPr wrap="square">
            <a:spAutoFit/>
          </a:bodyPr>
          <a:lstStyle/>
          <a:p>
            <a:pPr algn="l"/>
            <a:r>
              <a:rPr sz="1150" b="0" i="0">
                <a:solidFill>
                  <a:srgbClr val="FFFFFF"/>
                </a:solidFill>
                <a:latin typeface="Segoe UI"/>
              </a:rPr>
              <a:t>⬇️ Export &amp; launch</a:t>
            </a:r>
          </a:p>
        </p:txBody>
      </p:sp>
      <p:sp>
        <p:nvSpPr>
          <p:cNvPr id="46" name="Rectangle 45"/>
          <p:cNvSpPr/>
          <p:nvPr/>
        </p:nvSpPr>
        <p:spPr>
          <a:xfrm>
            <a:off x="4114800" y="6400800"/>
            <a:ext cx="3959352" cy="347472"/>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47" name="TextBox 46"/>
          <p:cNvSpPr txBox="1"/>
          <p:nvPr/>
        </p:nvSpPr>
        <p:spPr>
          <a:xfrm>
            <a:off x="4114800" y="6400800"/>
            <a:ext cx="3959352" cy="347472"/>
          </a:xfrm>
          <a:prstGeom prst="rect">
            <a:avLst/>
          </a:prstGeom>
          <a:noFill/>
        </p:spPr>
        <p:txBody>
          <a:bodyPr wrap="square">
            <a:spAutoFit/>
          </a:bodyPr>
          <a:lstStyle/>
          <a:p>
            <a:pPr algn="ctr"/>
            <a:r>
              <a:rPr sz="1300" b="1" i="0">
                <a:solidFill>
                  <a:srgbClr val="FFFFFF"/>
                </a:solidFill>
                <a:latin typeface="Segoe UI Semibold"/>
              </a:rPr>
              <a:t>⚡  Total time: under 3 minutes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04</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MARKETING BRAIN™ — THE INTELLIGENCE LAYER</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05</a:t>
            </a:r>
          </a:p>
        </p:txBody>
      </p:sp>
      <p:sp>
        <p:nvSpPr>
          <p:cNvPr id="7" name="TextBox 6"/>
          <p:cNvSpPr txBox="1"/>
          <p:nvPr/>
        </p:nvSpPr>
        <p:spPr>
          <a:xfrm>
            <a:off x="502920" y="914400"/>
            <a:ext cx="5029200" cy="1005840"/>
          </a:xfrm>
          <a:prstGeom prst="rect">
            <a:avLst/>
          </a:prstGeom>
          <a:noFill/>
        </p:spPr>
        <p:txBody>
          <a:bodyPr wrap="square">
            <a:spAutoFit/>
          </a:bodyPr>
          <a:lstStyle/>
          <a:p>
            <a:pPr algn="l"/>
            <a:r>
              <a:rPr sz="2400" b="1" i="0">
                <a:solidFill>
                  <a:srgbClr val="FFFFFF"/>
                </a:solidFill>
                <a:latin typeface="Segoe UI Black"/>
              </a:rPr>
              <a:t>The world's first pre-generation
marketing intelligence engine.</a:t>
            </a:r>
          </a:p>
        </p:txBody>
      </p:sp>
      <p:sp>
        <p:nvSpPr>
          <p:cNvPr id="8" name="TextBox 7"/>
          <p:cNvSpPr txBox="1"/>
          <p:nvPr/>
        </p:nvSpPr>
        <p:spPr>
          <a:xfrm>
            <a:off x="502920" y="1993392"/>
            <a:ext cx="4846320" cy="1463040"/>
          </a:xfrm>
          <a:prstGeom prst="rect">
            <a:avLst/>
          </a:prstGeom>
          <a:noFill/>
        </p:spPr>
        <p:txBody>
          <a:bodyPr wrap="square">
            <a:spAutoFit/>
          </a:bodyPr>
          <a:lstStyle/>
          <a:p>
            <a:pPr algn="l"/>
            <a:r>
              <a:rPr sz="1200" b="0" i="0">
                <a:solidFill>
                  <a:srgbClr val="BBB8D4"/>
                </a:solidFill>
                <a:latin typeface="Segoe UI"/>
              </a:rPr>
              <a:t>Before generating a single image or word of copy, Crelix AI runs a deep dual-AI research pipeline — powered by Grok's real-time internet intelligence and Claude's structured synthesis — to build a complete dossier on your business, your customer, and your market.</a:t>
            </a:r>
          </a:p>
        </p:txBody>
      </p:sp>
      <p:sp>
        <p:nvSpPr>
          <p:cNvPr id="9" name="Rectangle 8"/>
          <p:cNvSpPr/>
          <p:nvPr/>
        </p:nvSpPr>
        <p:spPr>
          <a:xfrm>
            <a:off x="502920" y="3566160"/>
            <a:ext cx="4846320" cy="50292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10" name="TextBox 9"/>
          <p:cNvSpPr txBox="1"/>
          <p:nvPr/>
        </p:nvSpPr>
        <p:spPr>
          <a:xfrm>
            <a:off x="502920" y="3566160"/>
            <a:ext cx="4846320" cy="502920"/>
          </a:xfrm>
          <a:prstGeom prst="rect">
            <a:avLst/>
          </a:prstGeom>
          <a:noFill/>
        </p:spPr>
        <p:txBody>
          <a:bodyPr wrap="square">
            <a:spAutoFit/>
          </a:bodyPr>
          <a:lstStyle/>
          <a:p>
            <a:pPr algn="ctr"/>
            <a:r>
              <a:rPr sz="1200" b="1" i="0">
                <a:solidFill>
                  <a:srgbClr val="FFFFFF"/>
                </a:solidFill>
                <a:latin typeface="Segoe UI Semibold"/>
              </a:rPr>
              <a:t>🔬 Grok AI  →  Research &amp; Intel       🧩 Claude AI  →  Synthesis &amp; Output</a:t>
            </a:r>
          </a:p>
        </p:txBody>
      </p:sp>
      <p:sp>
        <p:nvSpPr>
          <p:cNvPr id="11" name="TextBox 10"/>
          <p:cNvSpPr txBox="1"/>
          <p:nvPr/>
        </p:nvSpPr>
        <p:spPr>
          <a:xfrm>
            <a:off x="502920" y="4206240"/>
            <a:ext cx="274320" cy="301752"/>
          </a:xfrm>
          <a:prstGeom prst="rect">
            <a:avLst/>
          </a:prstGeom>
          <a:noFill/>
        </p:spPr>
        <p:txBody>
          <a:bodyPr wrap="square">
            <a:spAutoFit/>
          </a:bodyPr>
          <a:lstStyle/>
          <a:p>
            <a:pPr algn="l"/>
            <a:r>
              <a:rPr sz="1100" b="1" i="0">
                <a:solidFill>
                  <a:srgbClr val="22C55E"/>
                </a:solidFill>
                <a:latin typeface="Segoe UI"/>
              </a:rPr>
              <a:t>✓</a:t>
            </a:r>
          </a:p>
        </p:txBody>
      </p:sp>
      <p:sp>
        <p:nvSpPr>
          <p:cNvPr id="12" name="TextBox 11"/>
          <p:cNvSpPr txBox="1"/>
          <p:nvPr/>
        </p:nvSpPr>
        <p:spPr>
          <a:xfrm>
            <a:off x="777240" y="4206240"/>
            <a:ext cx="4572000" cy="301752"/>
          </a:xfrm>
          <a:prstGeom prst="rect">
            <a:avLst/>
          </a:prstGeom>
          <a:noFill/>
        </p:spPr>
        <p:txBody>
          <a:bodyPr wrap="square">
            <a:spAutoFit/>
          </a:bodyPr>
          <a:lstStyle/>
          <a:p>
            <a:pPr algn="l"/>
            <a:r>
              <a:rPr sz="1100" b="0" i="0">
                <a:solidFill>
                  <a:srgbClr val="BBB8D4"/>
                </a:solidFill>
                <a:latin typeface="Segoe UI"/>
              </a:rPr>
              <a:t>Scrapes and analyzes business website content</a:t>
            </a:r>
          </a:p>
        </p:txBody>
      </p:sp>
      <p:sp>
        <p:nvSpPr>
          <p:cNvPr id="13" name="TextBox 12"/>
          <p:cNvSpPr txBox="1"/>
          <p:nvPr/>
        </p:nvSpPr>
        <p:spPr>
          <a:xfrm>
            <a:off x="502920" y="4526279"/>
            <a:ext cx="274320" cy="301752"/>
          </a:xfrm>
          <a:prstGeom prst="rect">
            <a:avLst/>
          </a:prstGeom>
          <a:noFill/>
        </p:spPr>
        <p:txBody>
          <a:bodyPr wrap="square">
            <a:spAutoFit/>
          </a:bodyPr>
          <a:lstStyle/>
          <a:p>
            <a:pPr algn="l"/>
            <a:r>
              <a:rPr sz="1100" b="1" i="0">
                <a:solidFill>
                  <a:srgbClr val="22C55E"/>
                </a:solidFill>
                <a:latin typeface="Segoe UI"/>
              </a:rPr>
              <a:t>✓</a:t>
            </a:r>
          </a:p>
        </p:txBody>
      </p:sp>
      <p:sp>
        <p:nvSpPr>
          <p:cNvPr id="14" name="TextBox 13"/>
          <p:cNvSpPr txBox="1"/>
          <p:nvPr/>
        </p:nvSpPr>
        <p:spPr>
          <a:xfrm>
            <a:off x="777240" y="4526279"/>
            <a:ext cx="4572000" cy="301752"/>
          </a:xfrm>
          <a:prstGeom prst="rect">
            <a:avLst/>
          </a:prstGeom>
          <a:noFill/>
        </p:spPr>
        <p:txBody>
          <a:bodyPr wrap="square">
            <a:spAutoFit/>
          </a:bodyPr>
          <a:lstStyle/>
          <a:p>
            <a:pPr algn="l"/>
            <a:r>
              <a:rPr sz="1100" b="0" i="0">
                <a:solidFill>
                  <a:srgbClr val="BBB8D4"/>
                </a:solidFill>
                <a:latin typeface="Segoe UI"/>
              </a:rPr>
              <a:t>Identifies exact business type and positioning</a:t>
            </a:r>
          </a:p>
        </p:txBody>
      </p:sp>
      <p:sp>
        <p:nvSpPr>
          <p:cNvPr id="15" name="TextBox 14"/>
          <p:cNvSpPr txBox="1"/>
          <p:nvPr/>
        </p:nvSpPr>
        <p:spPr>
          <a:xfrm>
            <a:off x="502920" y="4846320"/>
            <a:ext cx="274320" cy="301752"/>
          </a:xfrm>
          <a:prstGeom prst="rect">
            <a:avLst/>
          </a:prstGeom>
          <a:noFill/>
        </p:spPr>
        <p:txBody>
          <a:bodyPr wrap="square">
            <a:spAutoFit/>
          </a:bodyPr>
          <a:lstStyle/>
          <a:p>
            <a:pPr algn="l"/>
            <a:r>
              <a:rPr sz="1100" b="1" i="0">
                <a:solidFill>
                  <a:srgbClr val="22C55E"/>
                </a:solidFill>
                <a:latin typeface="Segoe UI"/>
              </a:rPr>
              <a:t>✓</a:t>
            </a:r>
          </a:p>
        </p:txBody>
      </p:sp>
      <p:sp>
        <p:nvSpPr>
          <p:cNvPr id="16" name="TextBox 15"/>
          <p:cNvSpPr txBox="1"/>
          <p:nvPr/>
        </p:nvSpPr>
        <p:spPr>
          <a:xfrm>
            <a:off x="777240" y="4846320"/>
            <a:ext cx="4572000" cy="301752"/>
          </a:xfrm>
          <a:prstGeom prst="rect">
            <a:avLst/>
          </a:prstGeom>
          <a:noFill/>
        </p:spPr>
        <p:txBody>
          <a:bodyPr wrap="square">
            <a:spAutoFit/>
          </a:bodyPr>
          <a:lstStyle/>
          <a:p>
            <a:pPr algn="l"/>
            <a:r>
              <a:rPr sz="1100" b="0" i="0">
                <a:solidFill>
                  <a:srgbClr val="BBB8D4"/>
                </a:solidFill>
                <a:latin typeface="Segoe UI"/>
              </a:rPr>
              <a:t>Maps ICP demographics and psychographics</a:t>
            </a:r>
          </a:p>
        </p:txBody>
      </p:sp>
      <p:sp>
        <p:nvSpPr>
          <p:cNvPr id="17" name="TextBox 16"/>
          <p:cNvSpPr txBox="1"/>
          <p:nvPr/>
        </p:nvSpPr>
        <p:spPr>
          <a:xfrm>
            <a:off x="502920" y="5166359"/>
            <a:ext cx="274320" cy="301752"/>
          </a:xfrm>
          <a:prstGeom prst="rect">
            <a:avLst/>
          </a:prstGeom>
          <a:noFill/>
        </p:spPr>
        <p:txBody>
          <a:bodyPr wrap="square">
            <a:spAutoFit/>
          </a:bodyPr>
          <a:lstStyle/>
          <a:p>
            <a:pPr algn="l"/>
            <a:r>
              <a:rPr sz="1100" b="1" i="0">
                <a:solidFill>
                  <a:srgbClr val="22C55E"/>
                </a:solidFill>
                <a:latin typeface="Segoe UI"/>
              </a:rPr>
              <a:t>✓</a:t>
            </a:r>
          </a:p>
        </p:txBody>
      </p:sp>
      <p:sp>
        <p:nvSpPr>
          <p:cNvPr id="18" name="TextBox 17"/>
          <p:cNvSpPr txBox="1"/>
          <p:nvPr/>
        </p:nvSpPr>
        <p:spPr>
          <a:xfrm>
            <a:off x="777240" y="5166359"/>
            <a:ext cx="4572000" cy="301752"/>
          </a:xfrm>
          <a:prstGeom prst="rect">
            <a:avLst/>
          </a:prstGeom>
          <a:noFill/>
        </p:spPr>
        <p:txBody>
          <a:bodyPr wrap="square">
            <a:spAutoFit/>
          </a:bodyPr>
          <a:lstStyle/>
          <a:p>
            <a:pPr algn="l"/>
            <a:r>
              <a:rPr sz="1100" b="0" i="0">
                <a:solidFill>
                  <a:srgbClr val="BBB8D4"/>
                </a:solidFill>
                <a:latin typeface="Segoe UI"/>
              </a:rPr>
              <a:t>Extracts top 5 customer pain points</a:t>
            </a:r>
          </a:p>
        </p:txBody>
      </p:sp>
      <p:sp>
        <p:nvSpPr>
          <p:cNvPr id="19" name="TextBox 18"/>
          <p:cNvSpPr txBox="1"/>
          <p:nvPr/>
        </p:nvSpPr>
        <p:spPr>
          <a:xfrm>
            <a:off x="502920" y="5486400"/>
            <a:ext cx="274320" cy="301752"/>
          </a:xfrm>
          <a:prstGeom prst="rect">
            <a:avLst/>
          </a:prstGeom>
          <a:noFill/>
        </p:spPr>
        <p:txBody>
          <a:bodyPr wrap="square">
            <a:spAutoFit/>
          </a:bodyPr>
          <a:lstStyle/>
          <a:p>
            <a:pPr algn="l"/>
            <a:r>
              <a:rPr sz="1100" b="1" i="0">
                <a:solidFill>
                  <a:srgbClr val="22C55E"/>
                </a:solidFill>
                <a:latin typeface="Segoe UI"/>
              </a:rPr>
              <a:t>✓</a:t>
            </a:r>
          </a:p>
        </p:txBody>
      </p:sp>
      <p:sp>
        <p:nvSpPr>
          <p:cNvPr id="20" name="TextBox 19"/>
          <p:cNvSpPr txBox="1"/>
          <p:nvPr/>
        </p:nvSpPr>
        <p:spPr>
          <a:xfrm>
            <a:off x="777240" y="5486400"/>
            <a:ext cx="4572000" cy="301752"/>
          </a:xfrm>
          <a:prstGeom prst="rect">
            <a:avLst/>
          </a:prstGeom>
          <a:noFill/>
        </p:spPr>
        <p:txBody>
          <a:bodyPr wrap="square">
            <a:spAutoFit/>
          </a:bodyPr>
          <a:lstStyle/>
          <a:p>
            <a:pPr algn="l"/>
            <a:r>
              <a:rPr sz="1100" b="0" i="0">
                <a:solidFill>
                  <a:srgbClr val="BBB8D4"/>
                </a:solidFill>
                <a:latin typeface="Segoe UI"/>
              </a:rPr>
              <a:t>Surfaces 3 buying triggers and purchase objections</a:t>
            </a:r>
          </a:p>
        </p:txBody>
      </p:sp>
      <p:sp>
        <p:nvSpPr>
          <p:cNvPr id="21" name="TextBox 20"/>
          <p:cNvSpPr txBox="1"/>
          <p:nvPr/>
        </p:nvSpPr>
        <p:spPr>
          <a:xfrm>
            <a:off x="502920" y="5806440"/>
            <a:ext cx="274320" cy="301752"/>
          </a:xfrm>
          <a:prstGeom prst="rect">
            <a:avLst/>
          </a:prstGeom>
          <a:noFill/>
        </p:spPr>
        <p:txBody>
          <a:bodyPr wrap="square">
            <a:spAutoFit/>
          </a:bodyPr>
          <a:lstStyle/>
          <a:p>
            <a:pPr algn="l"/>
            <a:r>
              <a:rPr sz="1100" b="1" i="0">
                <a:solidFill>
                  <a:srgbClr val="22C55E"/>
                </a:solidFill>
                <a:latin typeface="Segoe UI"/>
              </a:rPr>
              <a:t>✓</a:t>
            </a:r>
          </a:p>
        </p:txBody>
      </p:sp>
      <p:sp>
        <p:nvSpPr>
          <p:cNvPr id="22" name="TextBox 21"/>
          <p:cNvSpPr txBox="1"/>
          <p:nvPr/>
        </p:nvSpPr>
        <p:spPr>
          <a:xfrm>
            <a:off x="777240" y="5806440"/>
            <a:ext cx="4572000" cy="301752"/>
          </a:xfrm>
          <a:prstGeom prst="rect">
            <a:avLst/>
          </a:prstGeom>
          <a:noFill/>
        </p:spPr>
        <p:txBody>
          <a:bodyPr wrap="square">
            <a:spAutoFit/>
          </a:bodyPr>
          <a:lstStyle/>
          <a:p>
            <a:pPr algn="l"/>
            <a:r>
              <a:rPr sz="1100" b="0" i="0">
                <a:solidFill>
                  <a:srgbClr val="BBB8D4"/>
                </a:solidFill>
                <a:latin typeface="Segoe UI"/>
              </a:rPr>
              <a:t>Recommends ad angles, platforms, and offers</a:t>
            </a:r>
          </a:p>
        </p:txBody>
      </p:sp>
      <p:sp>
        <p:nvSpPr>
          <p:cNvPr id="23" name="TextBox 22"/>
          <p:cNvSpPr txBox="1"/>
          <p:nvPr/>
        </p:nvSpPr>
        <p:spPr>
          <a:xfrm>
            <a:off x="502920" y="6126479"/>
            <a:ext cx="274320" cy="301752"/>
          </a:xfrm>
          <a:prstGeom prst="rect">
            <a:avLst/>
          </a:prstGeom>
          <a:noFill/>
        </p:spPr>
        <p:txBody>
          <a:bodyPr wrap="square">
            <a:spAutoFit/>
          </a:bodyPr>
          <a:lstStyle/>
          <a:p>
            <a:pPr algn="l"/>
            <a:r>
              <a:rPr sz="1100" b="1" i="0">
                <a:solidFill>
                  <a:srgbClr val="22C55E"/>
                </a:solidFill>
                <a:latin typeface="Segoe UI"/>
              </a:rPr>
              <a:t>✓</a:t>
            </a:r>
          </a:p>
        </p:txBody>
      </p:sp>
      <p:sp>
        <p:nvSpPr>
          <p:cNvPr id="24" name="TextBox 23"/>
          <p:cNvSpPr txBox="1"/>
          <p:nvPr/>
        </p:nvSpPr>
        <p:spPr>
          <a:xfrm>
            <a:off x="777240" y="6126479"/>
            <a:ext cx="4572000" cy="301752"/>
          </a:xfrm>
          <a:prstGeom prst="rect">
            <a:avLst/>
          </a:prstGeom>
          <a:noFill/>
        </p:spPr>
        <p:txBody>
          <a:bodyPr wrap="square">
            <a:spAutoFit/>
          </a:bodyPr>
          <a:lstStyle/>
          <a:p>
            <a:pPr algn="l"/>
            <a:r>
              <a:rPr sz="1100" b="0" i="0">
                <a:solidFill>
                  <a:srgbClr val="BBB8D4"/>
                </a:solidFill>
                <a:latin typeface="Segoe UI"/>
              </a:rPr>
              <a:t>Generates 5 hooks, 3 headlines, 3 CTAs</a:t>
            </a:r>
          </a:p>
        </p:txBody>
      </p:sp>
      <p:sp>
        <p:nvSpPr>
          <p:cNvPr id="25" name="Rounded Rectangle 24"/>
          <p:cNvSpPr/>
          <p:nvPr/>
        </p:nvSpPr>
        <p:spPr>
          <a:xfrm>
            <a:off x="5715000" y="914400"/>
            <a:ext cx="2880360" cy="17830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715000" y="914400"/>
            <a:ext cx="2880360" cy="50292"/>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79592" y="1042416"/>
            <a:ext cx="2560320" cy="347472"/>
          </a:xfrm>
          <a:prstGeom prst="rect">
            <a:avLst/>
          </a:prstGeom>
          <a:noFill/>
        </p:spPr>
        <p:txBody>
          <a:bodyPr wrap="square">
            <a:spAutoFit/>
          </a:bodyPr>
          <a:lstStyle/>
          <a:p>
            <a:pPr algn="l"/>
            <a:r>
              <a:rPr sz="1300" b="1" i="0">
                <a:solidFill>
                  <a:srgbClr val="FFFFFF"/>
                </a:solidFill>
                <a:latin typeface="Segoe UI Semibold"/>
              </a:rPr>
              <a:t>ICP Profile</a:t>
            </a:r>
          </a:p>
        </p:txBody>
      </p:sp>
      <p:sp>
        <p:nvSpPr>
          <p:cNvPr id="28" name="TextBox 27"/>
          <p:cNvSpPr txBox="1"/>
          <p:nvPr/>
        </p:nvSpPr>
        <p:spPr>
          <a:xfrm>
            <a:off x="5879592" y="1426464"/>
            <a:ext cx="2560320" cy="1005840"/>
          </a:xfrm>
          <a:prstGeom prst="rect">
            <a:avLst/>
          </a:prstGeom>
          <a:noFill/>
        </p:spPr>
        <p:txBody>
          <a:bodyPr wrap="square">
            <a:spAutoFit/>
          </a:bodyPr>
          <a:lstStyle/>
          <a:p>
            <a:pPr algn="l"/>
            <a:r>
              <a:rPr sz="1100" b="0" i="0">
                <a:solidFill>
                  <a:srgbClr val="BBB8D4"/>
                </a:solidFill>
                <a:latin typeface="Segoe UI"/>
              </a:rPr>
              <a:t>Who is buying, why, in what life situation</a:t>
            </a:r>
          </a:p>
        </p:txBody>
      </p:sp>
      <p:sp>
        <p:nvSpPr>
          <p:cNvPr id="29" name="Rounded Rectangle 28"/>
          <p:cNvSpPr/>
          <p:nvPr/>
        </p:nvSpPr>
        <p:spPr>
          <a:xfrm>
            <a:off x="8778240" y="914400"/>
            <a:ext cx="2880360" cy="17830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778240" y="914400"/>
            <a:ext cx="2880360" cy="50292"/>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42832" y="1042416"/>
            <a:ext cx="2560320" cy="347472"/>
          </a:xfrm>
          <a:prstGeom prst="rect">
            <a:avLst/>
          </a:prstGeom>
          <a:noFill/>
        </p:spPr>
        <p:txBody>
          <a:bodyPr wrap="square">
            <a:spAutoFit/>
          </a:bodyPr>
          <a:lstStyle/>
          <a:p>
            <a:pPr algn="l"/>
            <a:r>
              <a:rPr sz="1300" b="1" i="0">
                <a:solidFill>
                  <a:srgbClr val="FFFFFF"/>
                </a:solidFill>
                <a:latin typeface="Segoe UI Semibold"/>
              </a:rPr>
              <a:t>Pain Points</a:t>
            </a:r>
          </a:p>
        </p:txBody>
      </p:sp>
      <p:sp>
        <p:nvSpPr>
          <p:cNvPr id="32" name="TextBox 31"/>
          <p:cNvSpPr txBox="1"/>
          <p:nvPr/>
        </p:nvSpPr>
        <p:spPr>
          <a:xfrm>
            <a:off x="8942832" y="1426464"/>
            <a:ext cx="2560320" cy="1005840"/>
          </a:xfrm>
          <a:prstGeom prst="rect">
            <a:avLst/>
          </a:prstGeom>
          <a:noFill/>
        </p:spPr>
        <p:txBody>
          <a:bodyPr wrap="square">
            <a:spAutoFit/>
          </a:bodyPr>
          <a:lstStyle/>
          <a:p>
            <a:pPr algn="l"/>
            <a:r>
              <a:rPr sz="1100" b="0" i="0">
                <a:solidFill>
                  <a:srgbClr val="BBB8D4"/>
                </a:solidFill>
                <a:latin typeface="Segoe UI"/>
              </a:rPr>
              <a:t>5 real customer fears in their own words</a:t>
            </a:r>
          </a:p>
        </p:txBody>
      </p:sp>
      <p:sp>
        <p:nvSpPr>
          <p:cNvPr id="33" name="Rounded Rectangle 32"/>
          <p:cNvSpPr/>
          <p:nvPr/>
        </p:nvSpPr>
        <p:spPr>
          <a:xfrm>
            <a:off x="5715000" y="2852928"/>
            <a:ext cx="2880360" cy="17830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15000" y="2852928"/>
            <a:ext cx="2880360" cy="502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79592" y="2980944"/>
            <a:ext cx="2560320" cy="347472"/>
          </a:xfrm>
          <a:prstGeom prst="rect">
            <a:avLst/>
          </a:prstGeom>
          <a:noFill/>
        </p:spPr>
        <p:txBody>
          <a:bodyPr wrap="square">
            <a:spAutoFit/>
          </a:bodyPr>
          <a:lstStyle/>
          <a:p>
            <a:pPr algn="l"/>
            <a:r>
              <a:rPr sz="1300" b="1" i="0">
                <a:solidFill>
                  <a:srgbClr val="FFFFFF"/>
                </a:solidFill>
                <a:latin typeface="Segoe UI Semibold"/>
              </a:rPr>
              <a:t>Buying Triggers</a:t>
            </a:r>
          </a:p>
        </p:txBody>
      </p:sp>
      <p:sp>
        <p:nvSpPr>
          <p:cNvPr id="36" name="TextBox 35"/>
          <p:cNvSpPr txBox="1"/>
          <p:nvPr/>
        </p:nvSpPr>
        <p:spPr>
          <a:xfrm>
            <a:off x="5879592" y="3364992"/>
            <a:ext cx="2560320" cy="1005840"/>
          </a:xfrm>
          <a:prstGeom prst="rect">
            <a:avLst/>
          </a:prstGeom>
          <a:noFill/>
        </p:spPr>
        <p:txBody>
          <a:bodyPr wrap="square">
            <a:spAutoFit/>
          </a:bodyPr>
          <a:lstStyle/>
          <a:p>
            <a:pPr algn="l"/>
            <a:r>
              <a:rPr sz="1100" b="0" i="0">
                <a:solidFill>
                  <a:srgbClr val="BBB8D4"/>
                </a:solidFill>
                <a:latin typeface="Segoe UI"/>
              </a:rPr>
              <a:t>Events that create urgency to buy NOW</a:t>
            </a:r>
          </a:p>
        </p:txBody>
      </p:sp>
      <p:sp>
        <p:nvSpPr>
          <p:cNvPr id="37" name="Rounded Rectangle 36"/>
          <p:cNvSpPr/>
          <p:nvPr/>
        </p:nvSpPr>
        <p:spPr>
          <a:xfrm>
            <a:off x="8778240" y="2852928"/>
            <a:ext cx="2880360" cy="17830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78240" y="2852928"/>
            <a:ext cx="288036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42832" y="2980944"/>
            <a:ext cx="2560320" cy="347472"/>
          </a:xfrm>
          <a:prstGeom prst="rect">
            <a:avLst/>
          </a:prstGeom>
          <a:noFill/>
        </p:spPr>
        <p:txBody>
          <a:bodyPr wrap="square">
            <a:spAutoFit/>
          </a:bodyPr>
          <a:lstStyle/>
          <a:p>
            <a:pPr algn="l"/>
            <a:r>
              <a:rPr sz="1300" b="1" i="0">
                <a:solidFill>
                  <a:srgbClr val="FFFFFF"/>
                </a:solidFill>
                <a:latin typeface="Segoe UI Semibold"/>
              </a:rPr>
              <a:t>Ad Angles</a:t>
            </a:r>
          </a:p>
        </p:txBody>
      </p:sp>
      <p:sp>
        <p:nvSpPr>
          <p:cNvPr id="40" name="TextBox 39"/>
          <p:cNvSpPr txBox="1"/>
          <p:nvPr/>
        </p:nvSpPr>
        <p:spPr>
          <a:xfrm>
            <a:off x="8942832" y="3364992"/>
            <a:ext cx="2560320" cy="1005840"/>
          </a:xfrm>
          <a:prstGeom prst="rect">
            <a:avLst/>
          </a:prstGeom>
          <a:noFill/>
        </p:spPr>
        <p:txBody>
          <a:bodyPr wrap="square">
            <a:spAutoFit/>
          </a:bodyPr>
          <a:lstStyle/>
          <a:p>
            <a:pPr algn="l"/>
            <a:r>
              <a:rPr sz="1100" b="0" i="0">
                <a:solidFill>
                  <a:srgbClr val="BBB8D4"/>
                </a:solidFill>
                <a:latin typeface="Segoe UI"/>
              </a:rPr>
              <a:t>3 proven creative angles with reasoning</a:t>
            </a:r>
          </a:p>
        </p:txBody>
      </p:sp>
      <p:sp>
        <p:nvSpPr>
          <p:cNvPr id="41" name="Rounded Rectangle 40"/>
          <p:cNvSpPr/>
          <p:nvPr/>
        </p:nvSpPr>
        <p:spPr>
          <a:xfrm>
            <a:off x="5715000" y="4791456"/>
            <a:ext cx="2880360" cy="17830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715000" y="4791456"/>
            <a:ext cx="2880360" cy="50292"/>
          </a:xfrm>
          <a:prstGeom prst="rect">
            <a:avLst/>
          </a:prstGeom>
          <a:solidFill>
            <a:srgbClr val="9B7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79592" y="4919472"/>
            <a:ext cx="2560320" cy="347472"/>
          </a:xfrm>
          <a:prstGeom prst="rect">
            <a:avLst/>
          </a:prstGeom>
          <a:noFill/>
        </p:spPr>
        <p:txBody>
          <a:bodyPr wrap="square">
            <a:spAutoFit/>
          </a:bodyPr>
          <a:lstStyle/>
          <a:p>
            <a:pPr algn="l"/>
            <a:r>
              <a:rPr sz="1300" b="1" i="0">
                <a:solidFill>
                  <a:srgbClr val="FFFFFF"/>
                </a:solidFill>
                <a:latin typeface="Segoe UI Semibold"/>
              </a:rPr>
              <a:t>Hook Copy</a:t>
            </a:r>
          </a:p>
        </p:txBody>
      </p:sp>
      <p:sp>
        <p:nvSpPr>
          <p:cNvPr id="44" name="TextBox 43"/>
          <p:cNvSpPr txBox="1"/>
          <p:nvPr/>
        </p:nvSpPr>
        <p:spPr>
          <a:xfrm>
            <a:off x="5879592" y="5303520"/>
            <a:ext cx="2560320" cy="1005840"/>
          </a:xfrm>
          <a:prstGeom prst="rect">
            <a:avLst/>
          </a:prstGeom>
          <a:noFill/>
        </p:spPr>
        <p:txBody>
          <a:bodyPr wrap="square">
            <a:spAutoFit/>
          </a:bodyPr>
          <a:lstStyle/>
          <a:p>
            <a:pPr algn="l"/>
            <a:r>
              <a:rPr sz="1100" b="0" i="0">
                <a:solidFill>
                  <a:srgbClr val="BBB8D4"/>
                </a:solidFill>
                <a:latin typeface="Segoe UI"/>
              </a:rPr>
              <a:t>5 scroll-stopping opening lines, ready to use</a:t>
            </a:r>
          </a:p>
        </p:txBody>
      </p:sp>
      <p:sp>
        <p:nvSpPr>
          <p:cNvPr id="45" name="Rounded Rectangle 44"/>
          <p:cNvSpPr/>
          <p:nvPr/>
        </p:nvSpPr>
        <p:spPr>
          <a:xfrm>
            <a:off x="8778240" y="4791456"/>
            <a:ext cx="2880360" cy="17830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778240" y="4791456"/>
            <a:ext cx="2880360" cy="5029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42832" y="4919472"/>
            <a:ext cx="2560320" cy="347472"/>
          </a:xfrm>
          <a:prstGeom prst="rect">
            <a:avLst/>
          </a:prstGeom>
          <a:noFill/>
        </p:spPr>
        <p:txBody>
          <a:bodyPr wrap="square">
            <a:spAutoFit/>
          </a:bodyPr>
          <a:lstStyle/>
          <a:p>
            <a:pPr algn="l"/>
            <a:r>
              <a:rPr sz="1300" b="1" i="0">
                <a:solidFill>
                  <a:srgbClr val="FFFFFF"/>
                </a:solidFill>
                <a:latin typeface="Segoe UI Semibold"/>
              </a:rPr>
              <a:t>Platform Strategy</a:t>
            </a:r>
          </a:p>
        </p:txBody>
      </p:sp>
      <p:sp>
        <p:nvSpPr>
          <p:cNvPr id="48" name="TextBox 47"/>
          <p:cNvSpPr txBox="1"/>
          <p:nvPr/>
        </p:nvSpPr>
        <p:spPr>
          <a:xfrm>
            <a:off x="8942832" y="5303520"/>
            <a:ext cx="2560320" cy="1005840"/>
          </a:xfrm>
          <a:prstGeom prst="rect">
            <a:avLst/>
          </a:prstGeom>
          <a:noFill/>
        </p:spPr>
        <p:txBody>
          <a:bodyPr wrap="square">
            <a:spAutoFit/>
          </a:bodyPr>
          <a:lstStyle/>
          <a:p>
            <a:pPr algn="l"/>
            <a:r>
              <a:rPr sz="1100" b="0" i="0">
                <a:solidFill>
                  <a:srgbClr val="BBB8D4"/>
                </a:solidFill>
                <a:latin typeface="Segoe UI"/>
              </a:rPr>
              <a:t>Which platform, why, and in what priority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05</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CREATIVE STUDIO™ — THE EXECUTION LAYER</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06</a:t>
            </a:r>
          </a:p>
        </p:txBody>
      </p:sp>
      <p:sp>
        <p:nvSpPr>
          <p:cNvPr id="7" name="TextBox 6"/>
          <p:cNvSpPr txBox="1"/>
          <p:nvPr/>
        </p:nvSpPr>
        <p:spPr>
          <a:xfrm>
            <a:off x="502920" y="868680"/>
            <a:ext cx="7772400" cy="777240"/>
          </a:xfrm>
          <a:prstGeom prst="rect">
            <a:avLst/>
          </a:prstGeom>
          <a:noFill/>
        </p:spPr>
        <p:txBody>
          <a:bodyPr wrap="square">
            <a:spAutoFit/>
          </a:bodyPr>
          <a:lstStyle/>
          <a:p>
            <a:pPr algn="l"/>
            <a:r>
              <a:rPr sz="2200" b="1" i="0">
                <a:solidFill>
                  <a:srgbClr val="FFFFFF"/>
                </a:solidFill>
                <a:latin typeface="Segoe UI Black"/>
              </a:rPr>
              <a:t>From intelligence to production-ready ad creatives
in one click.</a:t>
            </a:r>
          </a:p>
        </p:txBody>
      </p:sp>
      <p:sp>
        <p:nvSpPr>
          <p:cNvPr id="8" name="Rectangle 7"/>
          <p:cNvSpPr/>
          <p:nvPr/>
        </p:nvSpPr>
        <p:spPr>
          <a:xfrm>
            <a:off x="502920" y="1828800"/>
            <a:ext cx="5029200" cy="768096"/>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01952"/>
            <a:ext cx="502920" cy="594360"/>
          </a:xfrm>
          <a:prstGeom prst="rect">
            <a:avLst/>
          </a:prstGeom>
          <a:noFill/>
        </p:spPr>
        <p:txBody>
          <a:bodyPr wrap="square">
            <a:spAutoFit/>
          </a:bodyPr>
          <a:lstStyle/>
          <a:p>
            <a:pPr algn="l"/>
            <a:r>
              <a:rPr sz="2000" b="0" i="0">
                <a:solidFill>
                  <a:srgbClr val="FFFFFF"/>
                </a:solidFill>
                <a:latin typeface="Segoe UI"/>
              </a:rPr>
              <a:t>🎨</a:t>
            </a:r>
          </a:p>
        </p:txBody>
      </p:sp>
      <p:sp>
        <p:nvSpPr>
          <p:cNvPr id="10" name="TextBox 9"/>
          <p:cNvSpPr txBox="1"/>
          <p:nvPr/>
        </p:nvSpPr>
        <p:spPr>
          <a:xfrm>
            <a:off x="1207008" y="1883664"/>
            <a:ext cx="4114800" cy="292608"/>
          </a:xfrm>
          <a:prstGeom prst="rect">
            <a:avLst/>
          </a:prstGeom>
          <a:noFill/>
        </p:spPr>
        <p:txBody>
          <a:bodyPr wrap="square">
            <a:spAutoFit/>
          </a:bodyPr>
          <a:lstStyle/>
          <a:p>
            <a:pPr algn="l"/>
            <a:r>
              <a:rPr sz="1300" b="1" i="0">
                <a:solidFill>
                  <a:srgbClr val="FFFFFF"/>
                </a:solidFill>
                <a:latin typeface="Segoe UI Semibold"/>
              </a:rPr>
              <a:t>10 Visual Themes</a:t>
            </a:r>
          </a:p>
        </p:txBody>
      </p:sp>
      <p:sp>
        <p:nvSpPr>
          <p:cNvPr id="11" name="TextBox 10"/>
          <p:cNvSpPr txBox="1"/>
          <p:nvPr/>
        </p:nvSpPr>
        <p:spPr>
          <a:xfrm>
            <a:off x="1207008" y="2176272"/>
            <a:ext cx="4114800" cy="365760"/>
          </a:xfrm>
          <a:prstGeom prst="rect">
            <a:avLst/>
          </a:prstGeom>
          <a:noFill/>
        </p:spPr>
        <p:txBody>
          <a:bodyPr wrap="square">
            <a:spAutoFit/>
          </a:bodyPr>
          <a:lstStyle/>
          <a:p>
            <a:pPr algn="l"/>
            <a:r>
              <a:rPr sz="1050" b="0" i="0">
                <a:solidFill>
                  <a:srgbClr val="BBB8D4"/>
                </a:solidFill>
                <a:latin typeface="Segoe UI"/>
              </a:rPr>
              <a:t>Lighting styles from Dark Premium to Ocean Blue — affects mood, not subject matter</a:t>
            </a:r>
          </a:p>
        </p:txBody>
      </p:sp>
      <p:sp>
        <p:nvSpPr>
          <p:cNvPr id="12" name="Rectangle 11"/>
          <p:cNvSpPr/>
          <p:nvPr/>
        </p:nvSpPr>
        <p:spPr>
          <a:xfrm>
            <a:off x="502920" y="2697480"/>
            <a:ext cx="5029200" cy="768096"/>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770632"/>
            <a:ext cx="502920" cy="594360"/>
          </a:xfrm>
          <a:prstGeom prst="rect">
            <a:avLst/>
          </a:prstGeom>
          <a:noFill/>
        </p:spPr>
        <p:txBody>
          <a:bodyPr wrap="square">
            <a:spAutoFit/>
          </a:bodyPr>
          <a:lstStyle/>
          <a:p>
            <a:pPr algn="l"/>
            <a:r>
              <a:rPr sz="2000" b="0" i="0">
                <a:solidFill>
                  <a:srgbClr val="FFFFFF"/>
                </a:solidFill>
                <a:latin typeface="Segoe UI"/>
              </a:rPr>
              <a:t>📱</a:t>
            </a:r>
          </a:p>
        </p:txBody>
      </p:sp>
      <p:sp>
        <p:nvSpPr>
          <p:cNvPr id="14" name="TextBox 13"/>
          <p:cNvSpPr txBox="1"/>
          <p:nvPr/>
        </p:nvSpPr>
        <p:spPr>
          <a:xfrm>
            <a:off x="1207008" y="2752344"/>
            <a:ext cx="4114800" cy="292608"/>
          </a:xfrm>
          <a:prstGeom prst="rect">
            <a:avLst/>
          </a:prstGeom>
          <a:noFill/>
        </p:spPr>
        <p:txBody>
          <a:bodyPr wrap="square">
            <a:spAutoFit/>
          </a:bodyPr>
          <a:lstStyle/>
          <a:p>
            <a:pPr algn="l"/>
            <a:r>
              <a:rPr sz="1300" b="1" i="0">
                <a:solidFill>
                  <a:srgbClr val="FFFFFF"/>
                </a:solidFill>
                <a:latin typeface="Segoe UI Semibold"/>
              </a:rPr>
              <a:t>3 Platform Modes</a:t>
            </a:r>
          </a:p>
        </p:txBody>
      </p:sp>
      <p:sp>
        <p:nvSpPr>
          <p:cNvPr id="15" name="TextBox 14"/>
          <p:cNvSpPr txBox="1"/>
          <p:nvPr/>
        </p:nvSpPr>
        <p:spPr>
          <a:xfrm>
            <a:off x="1207008" y="3044952"/>
            <a:ext cx="4114800" cy="365760"/>
          </a:xfrm>
          <a:prstGeom prst="rect">
            <a:avLst/>
          </a:prstGeom>
          <a:noFill/>
        </p:spPr>
        <p:txBody>
          <a:bodyPr wrap="square">
            <a:spAutoFit/>
          </a:bodyPr>
          <a:lstStyle/>
          <a:p>
            <a:pPr algn="l"/>
            <a:r>
              <a:rPr sz="1050" b="0" i="0">
                <a:solidFill>
                  <a:srgbClr val="BBB8D4"/>
                </a:solidFill>
                <a:latin typeface="Segoe UI"/>
              </a:rPr>
              <a:t>Meta (square), Google (horizontal), TikTok (vertical) — composition adapts automatically</a:t>
            </a:r>
          </a:p>
        </p:txBody>
      </p:sp>
      <p:sp>
        <p:nvSpPr>
          <p:cNvPr id="16" name="Rectangle 15"/>
          <p:cNvSpPr/>
          <p:nvPr/>
        </p:nvSpPr>
        <p:spPr>
          <a:xfrm>
            <a:off x="502920" y="3566160"/>
            <a:ext cx="5029200" cy="768096"/>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639312"/>
            <a:ext cx="502920" cy="594360"/>
          </a:xfrm>
          <a:prstGeom prst="rect">
            <a:avLst/>
          </a:prstGeom>
          <a:noFill/>
        </p:spPr>
        <p:txBody>
          <a:bodyPr wrap="square">
            <a:spAutoFit/>
          </a:bodyPr>
          <a:lstStyle/>
          <a:p>
            <a:pPr algn="l"/>
            <a:r>
              <a:rPr sz="2000" b="0" i="0">
                <a:solidFill>
                  <a:srgbClr val="FFFFFF"/>
                </a:solidFill>
                <a:latin typeface="Segoe UI"/>
              </a:rPr>
              <a:t>⚡</a:t>
            </a:r>
          </a:p>
        </p:txBody>
      </p:sp>
      <p:sp>
        <p:nvSpPr>
          <p:cNvPr id="18" name="TextBox 17"/>
          <p:cNvSpPr txBox="1"/>
          <p:nvPr/>
        </p:nvSpPr>
        <p:spPr>
          <a:xfrm>
            <a:off x="1207008" y="3621024"/>
            <a:ext cx="4114800" cy="292608"/>
          </a:xfrm>
          <a:prstGeom prst="rect">
            <a:avLst/>
          </a:prstGeom>
          <a:noFill/>
        </p:spPr>
        <p:txBody>
          <a:bodyPr wrap="square">
            <a:spAutoFit/>
          </a:bodyPr>
          <a:lstStyle/>
          <a:p>
            <a:pPr algn="l"/>
            <a:r>
              <a:rPr sz="1300" b="1" i="0">
                <a:solidFill>
                  <a:srgbClr val="FFFFFF"/>
                </a:solidFill>
                <a:latin typeface="Segoe UI Semibold"/>
              </a:rPr>
              <a:t>4 Parallel Variants</a:t>
            </a:r>
          </a:p>
        </p:txBody>
      </p:sp>
      <p:sp>
        <p:nvSpPr>
          <p:cNvPr id="19" name="TextBox 18"/>
          <p:cNvSpPr txBox="1"/>
          <p:nvPr/>
        </p:nvSpPr>
        <p:spPr>
          <a:xfrm>
            <a:off x="1207008" y="3913632"/>
            <a:ext cx="4114800" cy="365760"/>
          </a:xfrm>
          <a:prstGeom prst="rect">
            <a:avLst/>
          </a:prstGeom>
          <a:noFill/>
        </p:spPr>
        <p:txBody>
          <a:bodyPr wrap="square">
            <a:spAutoFit/>
          </a:bodyPr>
          <a:lstStyle/>
          <a:p>
            <a:pPr algn="l"/>
            <a:r>
              <a:rPr sz="1050" b="0" i="0">
                <a:solidFill>
                  <a:srgbClr val="BBB8D4"/>
                </a:solidFill>
                <a:latin typeface="Segoe UI"/>
              </a:rPr>
              <a:t>Up to 4 ad variants generated simultaneously using different hooks and angles</a:t>
            </a:r>
          </a:p>
        </p:txBody>
      </p:sp>
      <p:sp>
        <p:nvSpPr>
          <p:cNvPr id="20" name="Rectangle 19"/>
          <p:cNvSpPr/>
          <p:nvPr/>
        </p:nvSpPr>
        <p:spPr>
          <a:xfrm>
            <a:off x="502920" y="4434840"/>
            <a:ext cx="5029200" cy="768096"/>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507992"/>
            <a:ext cx="502920" cy="594360"/>
          </a:xfrm>
          <a:prstGeom prst="rect">
            <a:avLst/>
          </a:prstGeom>
          <a:noFill/>
        </p:spPr>
        <p:txBody>
          <a:bodyPr wrap="square">
            <a:spAutoFit/>
          </a:bodyPr>
          <a:lstStyle/>
          <a:p>
            <a:pPr algn="l"/>
            <a:r>
              <a:rPr sz="2000" b="0" i="0">
                <a:solidFill>
                  <a:srgbClr val="FFFFFF"/>
                </a:solidFill>
                <a:latin typeface="Segoe UI"/>
              </a:rPr>
              <a:t>🖼</a:t>
            </a:r>
          </a:p>
        </p:txBody>
      </p:sp>
      <p:sp>
        <p:nvSpPr>
          <p:cNvPr id="22" name="TextBox 21"/>
          <p:cNvSpPr txBox="1"/>
          <p:nvPr/>
        </p:nvSpPr>
        <p:spPr>
          <a:xfrm>
            <a:off x="1207008" y="4489703"/>
            <a:ext cx="4114800" cy="292608"/>
          </a:xfrm>
          <a:prstGeom prst="rect">
            <a:avLst/>
          </a:prstGeom>
          <a:noFill/>
        </p:spPr>
        <p:txBody>
          <a:bodyPr wrap="square">
            <a:spAutoFit/>
          </a:bodyPr>
          <a:lstStyle/>
          <a:p>
            <a:pPr algn="l"/>
            <a:r>
              <a:rPr sz="1300" b="1" i="0">
                <a:solidFill>
                  <a:srgbClr val="FFFFFF"/>
                </a:solidFill>
                <a:latin typeface="Segoe UI Semibold"/>
              </a:rPr>
              <a:t>Full Ad Mockup</a:t>
            </a:r>
          </a:p>
        </p:txBody>
      </p:sp>
      <p:sp>
        <p:nvSpPr>
          <p:cNvPr id="23" name="TextBox 22"/>
          <p:cNvSpPr txBox="1"/>
          <p:nvPr/>
        </p:nvSpPr>
        <p:spPr>
          <a:xfrm>
            <a:off x="1207008" y="4782312"/>
            <a:ext cx="4114800" cy="365760"/>
          </a:xfrm>
          <a:prstGeom prst="rect">
            <a:avLst/>
          </a:prstGeom>
          <a:noFill/>
        </p:spPr>
        <p:txBody>
          <a:bodyPr wrap="square">
            <a:spAutoFit/>
          </a:bodyPr>
          <a:lstStyle/>
          <a:p>
            <a:pPr algn="l"/>
            <a:r>
              <a:rPr sz="1050" b="0" i="0">
                <a:solidFill>
                  <a:srgbClr val="BBB8D4"/>
                </a:solidFill>
                <a:latin typeface="Segoe UI"/>
              </a:rPr>
              <a:t>Brand bar + Hook text + 3 benefit bullets + CTA button overlaid on the image</a:t>
            </a:r>
          </a:p>
        </p:txBody>
      </p:sp>
      <p:sp>
        <p:nvSpPr>
          <p:cNvPr id="24" name="Rectangle 23"/>
          <p:cNvSpPr/>
          <p:nvPr/>
        </p:nvSpPr>
        <p:spPr>
          <a:xfrm>
            <a:off x="502920" y="5303520"/>
            <a:ext cx="5029200" cy="768096"/>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376672"/>
            <a:ext cx="502920" cy="594360"/>
          </a:xfrm>
          <a:prstGeom prst="rect">
            <a:avLst/>
          </a:prstGeom>
          <a:noFill/>
        </p:spPr>
        <p:txBody>
          <a:bodyPr wrap="square">
            <a:spAutoFit/>
          </a:bodyPr>
          <a:lstStyle/>
          <a:p>
            <a:pPr algn="l"/>
            <a:r>
              <a:rPr sz="2000" b="0" i="0">
                <a:solidFill>
                  <a:srgbClr val="FFFFFF"/>
                </a:solidFill>
                <a:latin typeface="Segoe UI"/>
              </a:rPr>
              <a:t>🧠</a:t>
            </a:r>
          </a:p>
        </p:txBody>
      </p:sp>
      <p:sp>
        <p:nvSpPr>
          <p:cNvPr id="26" name="TextBox 25"/>
          <p:cNvSpPr txBox="1"/>
          <p:nvPr/>
        </p:nvSpPr>
        <p:spPr>
          <a:xfrm>
            <a:off x="1207008" y="5358383"/>
            <a:ext cx="4114800" cy="292608"/>
          </a:xfrm>
          <a:prstGeom prst="rect">
            <a:avLst/>
          </a:prstGeom>
          <a:noFill/>
        </p:spPr>
        <p:txBody>
          <a:bodyPr wrap="square">
            <a:spAutoFit/>
          </a:bodyPr>
          <a:lstStyle/>
          <a:p>
            <a:pPr algn="l"/>
            <a:r>
              <a:rPr sz="1300" b="1" i="0">
                <a:solidFill>
                  <a:srgbClr val="FFFFFF"/>
                </a:solidFill>
                <a:latin typeface="Segoe UI Semibold"/>
              </a:rPr>
              <a:t>ICP-Derived Images</a:t>
            </a:r>
          </a:p>
        </p:txBody>
      </p:sp>
      <p:sp>
        <p:nvSpPr>
          <p:cNvPr id="27" name="TextBox 26"/>
          <p:cNvSpPr txBox="1"/>
          <p:nvPr/>
        </p:nvSpPr>
        <p:spPr>
          <a:xfrm>
            <a:off x="1207008" y="5650992"/>
            <a:ext cx="4114800" cy="365760"/>
          </a:xfrm>
          <a:prstGeom prst="rect">
            <a:avLst/>
          </a:prstGeom>
          <a:noFill/>
        </p:spPr>
        <p:txBody>
          <a:bodyPr wrap="square">
            <a:spAutoFit/>
          </a:bodyPr>
          <a:lstStyle/>
          <a:p>
            <a:pPr algn="l"/>
            <a:r>
              <a:rPr sz="1050" b="0" i="0">
                <a:solidFill>
                  <a:srgbClr val="BBB8D4"/>
                </a:solidFill>
                <a:latin typeface="Segoe UI"/>
              </a:rPr>
              <a:t>Characters and scenes come from the Marketing Brain ICP — not random AI guesses</a:t>
            </a:r>
          </a:p>
        </p:txBody>
      </p:sp>
      <p:sp>
        <p:nvSpPr>
          <p:cNvPr id="28" name="Rounded Rectangle 27"/>
          <p:cNvSpPr/>
          <p:nvPr/>
        </p:nvSpPr>
        <p:spPr>
          <a:xfrm>
            <a:off x="5989320" y="868680"/>
            <a:ext cx="5852160" cy="5715000"/>
          </a:xfrm>
          <a:prstGeom prst="roundRect">
            <a:avLst/>
          </a:prstGeom>
          <a:solidFill>
            <a:srgbClr val="181038"/>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941832"/>
            <a:ext cx="5852160" cy="256032"/>
          </a:xfrm>
          <a:prstGeom prst="rect">
            <a:avLst/>
          </a:prstGeom>
          <a:noFill/>
        </p:spPr>
        <p:txBody>
          <a:bodyPr wrap="square">
            <a:spAutoFit/>
          </a:bodyPr>
          <a:lstStyle/>
          <a:p>
            <a:pPr algn="ctr"/>
            <a:r>
              <a:rPr sz="800" b="0" i="0">
                <a:solidFill>
                  <a:srgbClr val="777397"/>
                </a:solidFill>
                <a:latin typeface="Segoe UI"/>
              </a:rPr>
              <a:t>LIVE AD MOCKUP PREVIEW</a:t>
            </a:r>
          </a:p>
        </p:txBody>
      </p:sp>
      <p:sp>
        <p:nvSpPr>
          <p:cNvPr id="30" name="Rectangle 29"/>
          <p:cNvSpPr/>
          <p:nvPr/>
        </p:nvSpPr>
        <p:spPr>
          <a:xfrm>
            <a:off x="6099048" y="1252728"/>
            <a:ext cx="5632704" cy="475488"/>
          </a:xfrm>
          <a:prstGeom prst="rect">
            <a:avLst/>
          </a:prstGeom>
          <a:solidFill>
            <a:srgbClr val="221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153912" y="1307592"/>
            <a:ext cx="365760" cy="365760"/>
          </a:xfrm>
          <a:prstGeom prst="ellipse">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53912" y="1307592"/>
            <a:ext cx="365760" cy="365760"/>
          </a:xfrm>
          <a:prstGeom prst="rect">
            <a:avLst/>
          </a:prstGeom>
          <a:noFill/>
        </p:spPr>
        <p:txBody>
          <a:bodyPr wrap="square">
            <a:spAutoFit/>
          </a:bodyPr>
          <a:lstStyle/>
          <a:p>
            <a:pPr algn="ctr"/>
            <a:r>
              <a:rPr sz="1400" b="1" i="0">
                <a:solidFill>
                  <a:srgbClr val="FFFFFF"/>
                </a:solidFill>
                <a:latin typeface="Segoe UI"/>
              </a:rPr>
              <a:t>C</a:t>
            </a:r>
          </a:p>
        </p:txBody>
      </p:sp>
      <p:sp>
        <p:nvSpPr>
          <p:cNvPr id="33" name="TextBox 32"/>
          <p:cNvSpPr txBox="1"/>
          <p:nvPr/>
        </p:nvSpPr>
        <p:spPr>
          <a:xfrm>
            <a:off x="6583680" y="1307592"/>
            <a:ext cx="2743200" cy="201168"/>
          </a:xfrm>
          <a:prstGeom prst="rect">
            <a:avLst/>
          </a:prstGeom>
          <a:noFill/>
        </p:spPr>
        <p:txBody>
          <a:bodyPr wrap="square">
            <a:spAutoFit/>
          </a:bodyPr>
          <a:lstStyle/>
          <a:p>
            <a:pPr algn="l"/>
            <a:r>
              <a:rPr sz="1100" b="1" i="0">
                <a:solidFill>
                  <a:srgbClr val="FFFFFF"/>
                </a:solidFill>
                <a:latin typeface="Segoe UI Semibold"/>
              </a:rPr>
              <a:t>Your Brand Name</a:t>
            </a:r>
          </a:p>
        </p:txBody>
      </p:sp>
      <p:sp>
        <p:nvSpPr>
          <p:cNvPr id="34" name="TextBox 33"/>
          <p:cNvSpPr txBox="1"/>
          <p:nvPr/>
        </p:nvSpPr>
        <p:spPr>
          <a:xfrm>
            <a:off x="6583680" y="1508760"/>
            <a:ext cx="1828800" cy="182880"/>
          </a:xfrm>
          <a:prstGeom prst="rect">
            <a:avLst/>
          </a:prstGeom>
          <a:noFill/>
        </p:spPr>
        <p:txBody>
          <a:bodyPr wrap="square">
            <a:spAutoFit/>
          </a:bodyPr>
          <a:lstStyle/>
          <a:p>
            <a:pPr algn="l"/>
            <a:r>
              <a:rPr sz="850" b="0" i="0">
                <a:solidFill>
                  <a:srgbClr val="777397"/>
                </a:solidFill>
                <a:latin typeface="Segoe UI"/>
              </a:rPr>
              <a:t>Sponsored ·</a:t>
            </a:r>
          </a:p>
        </p:txBody>
      </p:sp>
      <p:sp>
        <p:nvSpPr>
          <p:cNvPr id="35" name="Rectangle 34"/>
          <p:cNvSpPr/>
          <p:nvPr/>
        </p:nvSpPr>
        <p:spPr>
          <a:xfrm>
            <a:off x="6099048" y="1764792"/>
            <a:ext cx="5632704" cy="265176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2A1866"/>
            </a:gs>
            <a:gs pos="100000">
              <a:srgbClr val="09071C"/>
            </a:gs>
          </a:gsLst>
          <a:lin ang="10800000" scaled="0"/>
        </a:gradFill>
      </p:sp>
      <p:sp>
        <p:nvSpPr>
          <p:cNvPr id="36" name="TextBox 35"/>
          <p:cNvSpPr txBox="1"/>
          <p:nvPr/>
        </p:nvSpPr>
        <p:spPr>
          <a:xfrm>
            <a:off x="6099048" y="2788920"/>
            <a:ext cx="5632704" cy="457200"/>
          </a:xfrm>
          <a:prstGeom prst="rect">
            <a:avLst/>
          </a:prstGeom>
          <a:noFill/>
        </p:spPr>
        <p:txBody>
          <a:bodyPr wrap="square">
            <a:spAutoFit/>
          </a:bodyPr>
          <a:lstStyle/>
          <a:p>
            <a:pPr algn="ctr"/>
            <a:r>
              <a:rPr sz="1100" b="0" i="1">
                <a:solidFill>
                  <a:srgbClr val="3A2870"/>
                </a:solidFill>
                <a:latin typeface="Segoe UI"/>
              </a:rPr>
              <a:t>[ AI-Generated Background Image ]</a:t>
            </a:r>
          </a:p>
        </p:txBody>
      </p:sp>
      <p:sp>
        <p:nvSpPr>
          <p:cNvPr id="37" name="TextBox 36"/>
          <p:cNvSpPr txBox="1"/>
          <p:nvPr/>
        </p:nvSpPr>
        <p:spPr>
          <a:xfrm>
            <a:off x="6190488" y="1874519"/>
            <a:ext cx="2286000" cy="256032"/>
          </a:xfrm>
          <a:prstGeom prst="rect">
            <a:avLst/>
          </a:prstGeom>
          <a:noFill/>
        </p:spPr>
        <p:txBody>
          <a:bodyPr wrap="square">
            <a:spAutoFit/>
          </a:bodyPr>
          <a:lstStyle/>
          <a:p>
            <a:pPr algn="l"/>
            <a:r>
              <a:rPr sz="900" b="1" i="0">
                <a:solidFill>
                  <a:srgbClr val="FFFFFF"/>
                </a:solidFill>
                <a:latin typeface="Segoe UI"/>
              </a:rPr>
              <a:t>⬤ YourBrand</a:t>
            </a:r>
          </a:p>
        </p:txBody>
      </p:sp>
      <p:sp>
        <p:nvSpPr>
          <p:cNvPr id="38" name="TextBox 37"/>
          <p:cNvSpPr txBox="1"/>
          <p:nvPr/>
        </p:nvSpPr>
        <p:spPr>
          <a:xfrm>
            <a:off x="6190488" y="2240280"/>
            <a:ext cx="5486400" cy="594360"/>
          </a:xfrm>
          <a:prstGeom prst="rect">
            <a:avLst/>
          </a:prstGeom>
          <a:noFill/>
        </p:spPr>
        <p:txBody>
          <a:bodyPr wrap="square">
            <a:spAutoFit/>
          </a:bodyPr>
          <a:lstStyle/>
          <a:p>
            <a:pPr algn="l"/>
            <a:r>
              <a:rPr sz="1400" b="1" i="0">
                <a:solidFill>
                  <a:srgbClr val="FFFFFF"/>
                </a:solidFill>
                <a:latin typeface="Segoe UI Black"/>
              </a:rPr>
              <a:t>"Stop wasting ad spend on
creatives that don't convert."</a:t>
            </a:r>
          </a:p>
        </p:txBody>
      </p:sp>
      <p:sp>
        <p:nvSpPr>
          <p:cNvPr id="39" name="TextBox 38"/>
          <p:cNvSpPr txBox="1"/>
          <p:nvPr/>
        </p:nvSpPr>
        <p:spPr>
          <a:xfrm>
            <a:off x="6190488" y="2926080"/>
            <a:ext cx="3840480" cy="219456"/>
          </a:xfrm>
          <a:prstGeom prst="rect">
            <a:avLst/>
          </a:prstGeom>
          <a:noFill/>
        </p:spPr>
        <p:txBody>
          <a:bodyPr wrap="square">
            <a:spAutoFit/>
          </a:bodyPr>
          <a:lstStyle/>
          <a:p>
            <a:pPr algn="l"/>
            <a:r>
              <a:rPr sz="950" b="0" i="0">
                <a:solidFill>
                  <a:srgbClr val="CCBBFF"/>
                </a:solidFill>
                <a:latin typeface="Segoe UI"/>
              </a:rPr>
              <a:t>✓ ICP-targeted creative</a:t>
            </a:r>
          </a:p>
        </p:txBody>
      </p:sp>
      <p:sp>
        <p:nvSpPr>
          <p:cNvPr id="40" name="TextBox 39"/>
          <p:cNvSpPr txBox="1"/>
          <p:nvPr/>
        </p:nvSpPr>
        <p:spPr>
          <a:xfrm>
            <a:off x="6190488" y="3163824"/>
            <a:ext cx="3840480" cy="219456"/>
          </a:xfrm>
          <a:prstGeom prst="rect">
            <a:avLst/>
          </a:prstGeom>
          <a:noFill/>
        </p:spPr>
        <p:txBody>
          <a:bodyPr wrap="square">
            <a:spAutoFit/>
          </a:bodyPr>
          <a:lstStyle/>
          <a:p>
            <a:pPr algn="l"/>
            <a:r>
              <a:rPr sz="950" b="0" i="0">
                <a:solidFill>
                  <a:srgbClr val="CCBBFF"/>
                </a:solidFill>
                <a:latin typeface="Segoe UI"/>
              </a:rPr>
              <a:t>✓ Platform-optimized size</a:t>
            </a:r>
          </a:p>
        </p:txBody>
      </p:sp>
      <p:sp>
        <p:nvSpPr>
          <p:cNvPr id="41" name="TextBox 40"/>
          <p:cNvSpPr txBox="1"/>
          <p:nvPr/>
        </p:nvSpPr>
        <p:spPr>
          <a:xfrm>
            <a:off x="6190488" y="3401568"/>
            <a:ext cx="3840480" cy="219456"/>
          </a:xfrm>
          <a:prstGeom prst="rect">
            <a:avLst/>
          </a:prstGeom>
          <a:noFill/>
        </p:spPr>
        <p:txBody>
          <a:bodyPr wrap="square">
            <a:spAutoFit/>
          </a:bodyPr>
          <a:lstStyle/>
          <a:p>
            <a:pPr algn="l"/>
            <a:r>
              <a:rPr sz="950" b="0" i="0">
                <a:solidFill>
                  <a:srgbClr val="CCBBFF"/>
                </a:solidFill>
                <a:latin typeface="Segoe UI"/>
              </a:rPr>
              <a:t>✓ Conversion-tested copy</a:t>
            </a:r>
          </a:p>
        </p:txBody>
      </p:sp>
      <p:sp>
        <p:nvSpPr>
          <p:cNvPr id="42" name="Rounded Rectangle 41"/>
          <p:cNvSpPr/>
          <p:nvPr/>
        </p:nvSpPr>
        <p:spPr>
          <a:xfrm>
            <a:off x="6190488" y="3703320"/>
            <a:ext cx="1691640" cy="329184"/>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Get Started Free →</a:t>
            </a:r>
          </a:p>
        </p:txBody>
      </p:sp>
      <p:sp>
        <p:nvSpPr>
          <p:cNvPr id="43" name="Rectangle 42"/>
          <p:cNvSpPr/>
          <p:nvPr/>
        </p:nvSpPr>
        <p:spPr>
          <a:xfrm>
            <a:off x="6099048" y="4480560"/>
            <a:ext cx="5632704" cy="640080"/>
          </a:xfrm>
          <a:prstGeom prst="rect">
            <a:avLst/>
          </a:prstGeom>
          <a:solidFill>
            <a:srgbClr val="1A1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0488" y="4526280"/>
            <a:ext cx="2743200" cy="219456"/>
          </a:xfrm>
          <a:prstGeom prst="rect">
            <a:avLst/>
          </a:prstGeom>
          <a:noFill/>
        </p:spPr>
        <p:txBody>
          <a:bodyPr wrap="square">
            <a:spAutoFit/>
          </a:bodyPr>
          <a:lstStyle/>
          <a:p>
            <a:pPr algn="l"/>
            <a:r>
              <a:rPr sz="900" b="0" i="0">
                <a:solidFill>
                  <a:srgbClr val="777397"/>
                </a:solidFill>
                <a:latin typeface="Segoe UI"/>
              </a:rPr>
              <a:t>crelix.ai</a:t>
            </a:r>
          </a:p>
        </p:txBody>
      </p:sp>
      <p:sp>
        <p:nvSpPr>
          <p:cNvPr id="45" name="TextBox 44"/>
          <p:cNvSpPr txBox="1"/>
          <p:nvPr/>
        </p:nvSpPr>
        <p:spPr>
          <a:xfrm>
            <a:off x="6190488" y="4745736"/>
            <a:ext cx="4114800" cy="219456"/>
          </a:xfrm>
          <a:prstGeom prst="rect">
            <a:avLst/>
          </a:prstGeom>
          <a:noFill/>
        </p:spPr>
        <p:txBody>
          <a:bodyPr wrap="square">
            <a:spAutoFit/>
          </a:bodyPr>
          <a:lstStyle/>
          <a:p>
            <a:pPr algn="l"/>
            <a:r>
              <a:rPr sz="1000" b="1" i="0">
                <a:solidFill>
                  <a:srgbClr val="FFFFFF"/>
                </a:solidFill>
                <a:latin typeface="Segoe UI"/>
              </a:rPr>
              <a:t>Crelix AI — AI Marketing Platform</a:t>
            </a:r>
          </a:p>
        </p:txBody>
      </p:sp>
      <p:sp>
        <p:nvSpPr>
          <p:cNvPr id="46" name="Rounded Rectangle 45"/>
          <p:cNvSpPr/>
          <p:nvPr/>
        </p:nvSpPr>
        <p:spPr>
          <a:xfrm>
            <a:off x="10378440" y="4617720"/>
            <a:ext cx="1280160" cy="292608"/>
          </a:xfrm>
          <a:prstGeom prst="roundRect">
            <a:avLst/>
          </a:prstGeom>
          <a:solidFill>
            <a:srgbClr val="1E4A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Learn More</a:t>
            </a:r>
          </a:p>
        </p:txBody>
      </p:sp>
      <p:sp>
        <p:nvSpPr>
          <p:cNvPr id="47" name="TextBox 46"/>
          <p:cNvSpPr txBox="1"/>
          <p:nvPr/>
        </p:nvSpPr>
        <p:spPr>
          <a:xfrm>
            <a:off x="5989320" y="5276088"/>
            <a:ext cx="5852160" cy="274320"/>
          </a:xfrm>
          <a:prstGeom prst="rect">
            <a:avLst/>
          </a:prstGeom>
          <a:noFill/>
        </p:spPr>
        <p:txBody>
          <a:bodyPr wrap="square">
            <a:spAutoFit/>
          </a:bodyPr>
          <a:lstStyle/>
          <a:p>
            <a:pPr algn="ctr"/>
            <a:r>
              <a:rPr sz="950" b="0" i="1">
                <a:solidFill>
                  <a:srgbClr val="777397"/>
                </a:solidFill>
                <a:latin typeface="Segoe UI"/>
              </a:rPr>
              <a:t>↕ 4 variants generated in parallel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06</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TECHNOLOGY ARCHITECTURE</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07</a:t>
            </a:r>
          </a:p>
        </p:txBody>
      </p:sp>
      <p:sp>
        <p:nvSpPr>
          <p:cNvPr id="7" name="TextBox 6"/>
          <p:cNvSpPr txBox="1"/>
          <p:nvPr/>
        </p:nvSpPr>
        <p:spPr>
          <a:xfrm>
            <a:off x="502920" y="841248"/>
            <a:ext cx="11155680" cy="685800"/>
          </a:xfrm>
          <a:prstGeom prst="rect">
            <a:avLst/>
          </a:prstGeom>
          <a:noFill/>
        </p:spPr>
        <p:txBody>
          <a:bodyPr wrap="square">
            <a:spAutoFit/>
          </a:bodyPr>
          <a:lstStyle/>
          <a:p>
            <a:pPr algn="ctr"/>
            <a:r>
              <a:rPr sz="1500" b="0" i="0">
                <a:solidFill>
                  <a:srgbClr val="BBB8D4"/>
                </a:solidFill>
                <a:latin typeface="Segoe UI"/>
              </a:rPr>
              <a:t>Dual-AI Pipeline — the only platform using both the best research model
and the best synthesis model, in a single seamless workflow.</a:t>
            </a:r>
          </a:p>
        </p:txBody>
      </p:sp>
      <p:sp>
        <p:nvSpPr>
          <p:cNvPr id="8" name="Rounded Rectangle 7"/>
          <p:cNvSpPr/>
          <p:nvPr/>
        </p:nvSpPr>
        <p:spPr>
          <a:xfrm>
            <a:off x="457200" y="1627632"/>
            <a:ext cx="2103120" cy="34747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210312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6E3DFF"/>
            </a:gs>
          </a:gsLst>
          <a:lin ang="0" scaled="0"/>
        </a:gradFill>
      </p:sp>
      <p:sp>
        <p:nvSpPr>
          <p:cNvPr id="10" name="Rounded Rectangle 9"/>
          <p:cNvSpPr/>
          <p:nvPr/>
        </p:nvSpPr>
        <p:spPr>
          <a:xfrm>
            <a:off x="566928" y="1755648"/>
            <a:ext cx="914400" cy="237744"/>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STEP 1</a:t>
            </a:r>
          </a:p>
        </p:txBody>
      </p:sp>
      <p:sp>
        <p:nvSpPr>
          <p:cNvPr id="11" name="TextBox 10"/>
          <p:cNvSpPr txBox="1"/>
          <p:nvPr/>
        </p:nvSpPr>
        <p:spPr>
          <a:xfrm>
            <a:off x="566928" y="2084831"/>
            <a:ext cx="1874519" cy="594360"/>
          </a:xfrm>
          <a:prstGeom prst="rect">
            <a:avLst/>
          </a:prstGeom>
          <a:noFill/>
        </p:spPr>
        <p:txBody>
          <a:bodyPr wrap="square">
            <a:spAutoFit/>
          </a:bodyPr>
          <a:lstStyle/>
          <a:p>
            <a:pPr algn="l"/>
            <a:r>
              <a:rPr sz="1400" b="1" i="0">
                <a:solidFill>
                  <a:srgbClr val="FFFFFF"/>
                </a:solidFill>
                <a:latin typeface="Segoe UI Black"/>
              </a:rPr>
              <a:t>Website
Scraper</a:t>
            </a:r>
          </a:p>
        </p:txBody>
      </p:sp>
      <p:sp>
        <p:nvSpPr>
          <p:cNvPr id="12" name="TextBox 11"/>
          <p:cNvSpPr txBox="1"/>
          <p:nvPr/>
        </p:nvSpPr>
        <p:spPr>
          <a:xfrm>
            <a:off x="566928" y="2743200"/>
            <a:ext cx="1883664" cy="2194560"/>
          </a:xfrm>
          <a:prstGeom prst="rect">
            <a:avLst/>
          </a:prstGeom>
          <a:noFill/>
        </p:spPr>
        <p:txBody>
          <a:bodyPr wrap="square">
            <a:spAutoFit/>
          </a:bodyPr>
          <a:lstStyle/>
          <a:p>
            <a:pPr algn="l"/>
            <a:r>
              <a:rPr sz="950" b="0" i="0">
                <a:solidFill>
                  <a:srgbClr val="BBB8D4"/>
                </a:solidFill>
                <a:latin typeface="Segoe UI"/>
              </a:rPr>
              <a:t>Fetches title, H1, meta,
clean content from URL
python fetch + HTML parsing
Server-side only</a:t>
            </a:r>
          </a:p>
        </p:txBody>
      </p:sp>
      <p:sp>
        <p:nvSpPr>
          <p:cNvPr id="13" name="TextBox 12"/>
          <p:cNvSpPr txBox="1"/>
          <p:nvPr/>
        </p:nvSpPr>
        <p:spPr>
          <a:xfrm>
            <a:off x="2468879" y="2011680"/>
            <a:ext cx="320040" cy="365760"/>
          </a:xfrm>
          <a:prstGeom prst="rect">
            <a:avLst/>
          </a:prstGeom>
          <a:noFill/>
        </p:spPr>
        <p:txBody>
          <a:bodyPr wrap="square">
            <a:spAutoFit/>
          </a:bodyPr>
          <a:lstStyle/>
          <a:p>
            <a:pPr algn="l"/>
            <a:r>
              <a:rPr sz="1800" b="1" i="0">
                <a:solidFill>
                  <a:srgbClr val="777397"/>
                </a:solidFill>
                <a:latin typeface="Segoe UI"/>
              </a:rPr>
              <a:t>→</a:t>
            </a:r>
          </a:p>
        </p:txBody>
      </p:sp>
      <p:sp>
        <p:nvSpPr>
          <p:cNvPr id="14" name="Rounded Rectangle 13"/>
          <p:cNvSpPr/>
          <p:nvPr/>
        </p:nvSpPr>
        <p:spPr>
          <a:xfrm>
            <a:off x="2788920" y="1627632"/>
            <a:ext cx="2103120" cy="34747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88920" y="1627632"/>
            <a:ext cx="210312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F59E0B"/>
            </a:gs>
            <a:gs pos="100000">
              <a:srgbClr val="F59E0B"/>
            </a:gs>
          </a:gsLst>
          <a:lin ang="0" scaled="0"/>
        </a:gradFill>
      </p:sp>
      <p:sp>
        <p:nvSpPr>
          <p:cNvPr id="16" name="Rounded Rectangle 15"/>
          <p:cNvSpPr/>
          <p:nvPr/>
        </p:nvSpPr>
        <p:spPr>
          <a:xfrm>
            <a:off x="2898648" y="1755648"/>
            <a:ext cx="914400" cy="23774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STEP 2</a:t>
            </a:r>
          </a:p>
        </p:txBody>
      </p:sp>
      <p:sp>
        <p:nvSpPr>
          <p:cNvPr id="17" name="TextBox 16"/>
          <p:cNvSpPr txBox="1"/>
          <p:nvPr/>
        </p:nvSpPr>
        <p:spPr>
          <a:xfrm>
            <a:off x="2898648" y="2084831"/>
            <a:ext cx="1874519" cy="594360"/>
          </a:xfrm>
          <a:prstGeom prst="rect">
            <a:avLst/>
          </a:prstGeom>
          <a:noFill/>
        </p:spPr>
        <p:txBody>
          <a:bodyPr wrap="square">
            <a:spAutoFit/>
          </a:bodyPr>
          <a:lstStyle/>
          <a:p>
            <a:pPr algn="l"/>
            <a:r>
              <a:rPr sz="1400" b="1" i="0">
                <a:solidFill>
                  <a:srgbClr val="FFFFFF"/>
                </a:solidFill>
                <a:latin typeface="Segoe UI Black"/>
              </a:rPr>
              <a:t>Grok AI
Research</a:t>
            </a:r>
          </a:p>
        </p:txBody>
      </p:sp>
      <p:sp>
        <p:nvSpPr>
          <p:cNvPr id="18" name="TextBox 17"/>
          <p:cNvSpPr txBox="1"/>
          <p:nvPr/>
        </p:nvSpPr>
        <p:spPr>
          <a:xfrm>
            <a:off x="2898648" y="2743200"/>
            <a:ext cx="1883664" cy="2194560"/>
          </a:xfrm>
          <a:prstGeom prst="rect">
            <a:avLst/>
          </a:prstGeom>
          <a:noFill/>
        </p:spPr>
        <p:txBody>
          <a:bodyPr wrap="square">
            <a:spAutoFit/>
          </a:bodyPr>
          <a:lstStyle/>
          <a:p>
            <a:pPr algn="l"/>
            <a:r>
              <a:rPr sz="950" b="0" i="0">
                <a:solidFill>
                  <a:srgbClr val="BBB8D4"/>
                </a:solidFill>
                <a:latin typeface="Segoe UI"/>
              </a:rPr>
              <a:t>Real-time business
&amp; customer intelligence
grok-4 series model
Max 1200 tokens output</a:t>
            </a:r>
          </a:p>
        </p:txBody>
      </p:sp>
      <p:sp>
        <p:nvSpPr>
          <p:cNvPr id="19" name="TextBox 18"/>
          <p:cNvSpPr txBox="1"/>
          <p:nvPr/>
        </p:nvSpPr>
        <p:spPr>
          <a:xfrm>
            <a:off x="4800600" y="2011680"/>
            <a:ext cx="320040" cy="365760"/>
          </a:xfrm>
          <a:prstGeom prst="rect">
            <a:avLst/>
          </a:prstGeom>
          <a:noFill/>
        </p:spPr>
        <p:txBody>
          <a:bodyPr wrap="square">
            <a:spAutoFit/>
          </a:bodyPr>
          <a:lstStyle/>
          <a:p>
            <a:pPr algn="l"/>
            <a:r>
              <a:rPr sz="1800" b="1" i="0">
                <a:solidFill>
                  <a:srgbClr val="777397"/>
                </a:solidFill>
                <a:latin typeface="Segoe UI"/>
              </a:rPr>
              <a:t>→</a:t>
            </a:r>
          </a:p>
        </p:txBody>
      </p:sp>
      <p:sp>
        <p:nvSpPr>
          <p:cNvPr id="20" name="Rounded Rectangle 19"/>
          <p:cNvSpPr/>
          <p:nvPr/>
        </p:nvSpPr>
        <p:spPr>
          <a:xfrm>
            <a:off x="5120640" y="1627632"/>
            <a:ext cx="2103120" cy="34747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1627632"/>
            <a:ext cx="210312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FF4FCB"/>
            </a:gs>
            <a:gs pos="100000">
              <a:srgbClr val="FF4FCB"/>
            </a:gs>
          </a:gsLst>
          <a:lin ang="0" scaled="0"/>
        </a:gradFill>
      </p:sp>
      <p:sp>
        <p:nvSpPr>
          <p:cNvPr id="22" name="Rounded Rectangle 21"/>
          <p:cNvSpPr/>
          <p:nvPr/>
        </p:nvSpPr>
        <p:spPr>
          <a:xfrm>
            <a:off x="5230368" y="1755648"/>
            <a:ext cx="914400" cy="237744"/>
          </a:xfrm>
          <a:prstGeom prst="round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STEP 3</a:t>
            </a:r>
          </a:p>
        </p:txBody>
      </p:sp>
      <p:sp>
        <p:nvSpPr>
          <p:cNvPr id="23" name="TextBox 22"/>
          <p:cNvSpPr txBox="1"/>
          <p:nvPr/>
        </p:nvSpPr>
        <p:spPr>
          <a:xfrm>
            <a:off x="5230368" y="2084831"/>
            <a:ext cx="1874519" cy="594360"/>
          </a:xfrm>
          <a:prstGeom prst="rect">
            <a:avLst/>
          </a:prstGeom>
          <a:noFill/>
        </p:spPr>
        <p:txBody>
          <a:bodyPr wrap="square">
            <a:spAutoFit/>
          </a:bodyPr>
          <a:lstStyle/>
          <a:p>
            <a:pPr algn="l"/>
            <a:r>
              <a:rPr sz="1400" b="1" i="0">
                <a:solidFill>
                  <a:srgbClr val="FFFFFF"/>
                </a:solidFill>
                <a:latin typeface="Segoe UI Black"/>
              </a:rPr>
              <a:t>Claude AI
Synthesis</a:t>
            </a:r>
          </a:p>
        </p:txBody>
      </p:sp>
      <p:sp>
        <p:nvSpPr>
          <p:cNvPr id="24" name="TextBox 23"/>
          <p:cNvSpPr txBox="1"/>
          <p:nvPr/>
        </p:nvSpPr>
        <p:spPr>
          <a:xfrm>
            <a:off x="5230368" y="2743200"/>
            <a:ext cx="1883664" cy="2194560"/>
          </a:xfrm>
          <a:prstGeom prst="rect">
            <a:avLst/>
          </a:prstGeom>
          <a:noFill/>
        </p:spPr>
        <p:txBody>
          <a:bodyPr wrap="square">
            <a:spAutoFit/>
          </a:bodyPr>
          <a:lstStyle/>
          <a:p>
            <a:pPr algn="l"/>
            <a:r>
              <a:rPr sz="950" b="0" i="0">
                <a:solidFill>
                  <a:srgbClr val="BBB8D4"/>
                </a:solidFill>
                <a:latin typeface="Segoe UI"/>
              </a:rPr>
              <a:t>Structured JSON output
via tool_use constraint
claude-sonnet-4-6
Guaranteed schema</a:t>
            </a:r>
          </a:p>
        </p:txBody>
      </p:sp>
      <p:sp>
        <p:nvSpPr>
          <p:cNvPr id="25" name="TextBox 24"/>
          <p:cNvSpPr txBox="1"/>
          <p:nvPr/>
        </p:nvSpPr>
        <p:spPr>
          <a:xfrm>
            <a:off x="7132319" y="2011680"/>
            <a:ext cx="320040" cy="365760"/>
          </a:xfrm>
          <a:prstGeom prst="rect">
            <a:avLst/>
          </a:prstGeom>
          <a:noFill/>
        </p:spPr>
        <p:txBody>
          <a:bodyPr wrap="square">
            <a:spAutoFit/>
          </a:bodyPr>
          <a:lstStyle/>
          <a:p>
            <a:pPr algn="l"/>
            <a:r>
              <a:rPr sz="1800" b="1" i="0">
                <a:solidFill>
                  <a:srgbClr val="777397"/>
                </a:solidFill>
                <a:latin typeface="Segoe UI"/>
              </a:rPr>
              <a:t>→</a:t>
            </a:r>
          </a:p>
        </p:txBody>
      </p:sp>
      <p:sp>
        <p:nvSpPr>
          <p:cNvPr id="26" name="Rounded Rectangle 25"/>
          <p:cNvSpPr/>
          <p:nvPr/>
        </p:nvSpPr>
        <p:spPr>
          <a:xfrm>
            <a:off x="7452359" y="1627632"/>
            <a:ext cx="2103120" cy="34747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59" y="1627632"/>
            <a:ext cx="210312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22C55E"/>
            </a:gs>
            <a:gs pos="100000">
              <a:srgbClr val="22C55E"/>
            </a:gs>
          </a:gsLst>
          <a:lin ang="0" scaled="0"/>
        </a:gradFill>
      </p:sp>
      <p:sp>
        <p:nvSpPr>
          <p:cNvPr id="28" name="Rounded Rectangle 27"/>
          <p:cNvSpPr/>
          <p:nvPr/>
        </p:nvSpPr>
        <p:spPr>
          <a:xfrm>
            <a:off x="7562087" y="1755648"/>
            <a:ext cx="914400" cy="237744"/>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STEP 4</a:t>
            </a:r>
          </a:p>
        </p:txBody>
      </p:sp>
      <p:sp>
        <p:nvSpPr>
          <p:cNvPr id="29" name="TextBox 28"/>
          <p:cNvSpPr txBox="1"/>
          <p:nvPr/>
        </p:nvSpPr>
        <p:spPr>
          <a:xfrm>
            <a:off x="7562087" y="2084831"/>
            <a:ext cx="1874519" cy="594360"/>
          </a:xfrm>
          <a:prstGeom prst="rect">
            <a:avLst/>
          </a:prstGeom>
          <a:noFill/>
        </p:spPr>
        <p:txBody>
          <a:bodyPr wrap="square">
            <a:spAutoFit/>
          </a:bodyPr>
          <a:lstStyle/>
          <a:p>
            <a:pPr algn="l"/>
            <a:r>
              <a:rPr sz="1400" b="1" i="0">
                <a:solidFill>
                  <a:srgbClr val="FFFFFF"/>
                </a:solidFill>
                <a:latin typeface="Segoe UI Black"/>
              </a:rPr>
              <a:t>Image
Generation</a:t>
            </a:r>
          </a:p>
        </p:txBody>
      </p:sp>
      <p:sp>
        <p:nvSpPr>
          <p:cNvPr id="30" name="TextBox 29"/>
          <p:cNvSpPr txBox="1"/>
          <p:nvPr/>
        </p:nvSpPr>
        <p:spPr>
          <a:xfrm>
            <a:off x="7562087" y="2743200"/>
            <a:ext cx="1883664" cy="2194560"/>
          </a:xfrm>
          <a:prstGeom prst="rect">
            <a:avLst/>
          </a:prstGeom>
          <a:noFill/>
        </p:spPr>
        <p:txBody>
          <a:bodyPr wrap="square">
            <a:spAutoFit/>
          </a:bodyPr>
          <a:lstStyle/>
          <a:p>
            <a:pPr algn="l"/>
            <a:r>
              <a:rPr sz="950" b="0" i="0">
                <a:solidFill>
                  <a:srgbClr val="BBB8D4"/>
                </a:solidFill>
                <a:latin typeface="Segoe UI"/>
              </a:rPr>
              <a:t>4 parallel prompts
with ICP-derived
grok-imagine-image-quality
Promise.allSettled()</a:t>
            </a:r>
          </a:p>
        </p:txBody>
      </p:sp>
      <p:sp>
        <p:nvSpPr>
          <p:cNvPr id="31" name="TextBox 30"/>
          <p:cNvSpPr txBox="1"/>
          <p:nvPr/>
        </p:nvSpPr>
        <p:spPr>
          <a:xfrm>
            <a:off x="9464040" y="2011680"/>
            <a:ext cx="320040" cy="365760"/>
          </a:xfrm>
          <a:prstGeom prst="rect">
            <a:avLst/>
          </a:prstGeom>
          <a:noFill/>
        </p:spPr>
        <p:txBody>
          <a:bodyPr wrap="square">
            <a:spAutoFit/>
          </a:bodyPr>
          <a:lstStyle/>
          <a:p>
            <a:pPr algn="l"/>
            <a:r>
              <a:rPr sz="1800" b="1" i="0">
                <a:solidFill>
                  <a:srgbClr val="777397"/>
                </a:solidFill>
                <a:latin typeface="Segoe UI"/>
              </a:rPr>
              <a:t>→</a:t>
            </a:r>
          </a:p>
        </p:txBody>
      </p:sp>
      <p:sp>
        <p:nvSpPr>
          <p:cNvPr id="32" name="Rounded Rectangle 31"/>
          <p:cNvSpPr/>
          <p:nvPr/>
        </p:nvSpPr>
        <p:spPr>
          <a:xfrm>
            <a:off x="9784080" y="1627632"/>
            <a:ext cx="2103120" cy="34747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784080" y="1627632"/>
            <a:ext cx="210312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22D3EE"/>
            </a:gs>
            <a:gs pos="100000">
              <a:srgbClr val="22D3EE"/>
            </a:gs>
          </a:gsLst>
          <a:lin ang="0" scaled="0"/>
        </a:gradFill>
      </p:sp>
      <p:sp>
        <p:nvSpPr>
          <p:cNvPr id="34" name="Rounded Rectangle 33"/>
          <p:cNvSpPr/>
          <p:nvPr/>
        </p:nvSpPr>
        <p:spPr>
          <a:xfrm>
            <a:off x="9893807" y="1755648"/>
            <a:ext cx="914400" cy="237744"/>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STEP 5</a:t>
            </a:r>
          </a:p>
        </p:txBody>
      </p:sp>
      <p:sp>
        <p:nvSpPr>
          <p:cNvPr id="35" name="TextBox 34"/>
          <p:cNvSpPr txBox="1"/>
          <p:nvPr/>
        </p:nvSpPr>
        <p:spPr>
          <a:xfrm>
            <a:off x="9893807" y="2084831"/>
            <a:ext cx="1874519" cy="594360"/>
          </a:xfrm>
          <a:prstGeom prst="rect">
            <a:avLst/>
          </a:prstGeom>
          <a:noFill/>
        </p:spPr>
        <p:txBody>
          <a:bodyPr wrap="square">
            <a:spAutoFit/>
          </a:bodyPr>
          <a:lstStyle/>
          <a:p>
            <a:pPr algn="l"/>
            <a:r>
              <a:rPr sz="1400" b="1" i="0">
                <a:solidFill>
                  <a:srgbClr val="FFFFFF"/>
                </a:solidFill>
                <a:latin typeface="Segoe UI Black"/>
              </a:rPr>
              <a:t>Ad
Compositor</a:t>
            </a:r>
          </a:p>
        </p:txBody>
      </p:sp>
      <p:sp>
        <p:nvSpPr>
          <p:cNvPr id="36" name="TextBox 35"/>
          <p:cNvSpPr txBox="1"/>
          <p:nvPr/>
        </p:nvSpPr>
        <p:spPr>
          <a:xfrm>
            <a:off x="9893807" y="2743200"/>
            <a:ext cx="1883664" cy="2194560"/>
          </a:xfrm>
          <a:prstGeom prst="rect">
            <a:avLst/>
          </a:prstGeom>
          <a:noFill/>
        </p:spPr>
        <p:txBody>
          <a:bodyPr wrap="square">
            <a:spAutoFit/>
          </a:bodyPr>
          <a:lstStyle/>
          <a:p>
            <a:pPr algn="l"/>
            <a:r>
              <a:rPr sz="950" b="0" i="0">
                <a:solidFill>
                  <a:srgbClr val="BBB8D4"/>
                </a:solidFill>
                <a:latin typeface="Segoe UI"/>
              </a:rPr>
              <a:t>Brand bar + overlay
hooks + benefits + CTA
React CSS overlay
Full mockup output</a:t>
            </a:r>
          </a:p>
        </p:txBody>
      </p:sp>
      <p:sp>
        <p:nvSpPr>
          <p:cNvPr id="37" name="Rectangle 36"/>
          <p:cNvSpPr/>
          <p:nvPr/>
        </p:nvSpPr>
        <p:spPr>
          <a:xfrm>
            <a:off x="457200" y="5303520"/>
            <a:ext cx="11247120" cy="1207008"/>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5376672"/>
            <a:ext cx="1828800" cy="274320"/>
          </a:xfrm>
          <a:prstGeom prst="rect">
            <a:avLst/>
          </a:prstGeom>
          <a:noFill/>
        </p:spPr>
        <p:txBody>
          <a:bodyPr wrap="square">
            <a:spAutoFit/>
          </a:bodyPr>
          <a:lstStyle/>
          <a:p>
            <a:pPr algn="l"/>
            <a:r>
              <a:rPr sz="900" b="1" i="0">
                <a:solidFill>
                  <a:srgbClr val="9B72FF"/>
                </a:solidFill>
                <a:latin typeface="Segoe UI"/>
              </a:rPr>
              <a:t>TECH STACK</a:t>
            </a:r>
          </a:p>
        </p:txBody>
      </p:sp>
      <p:sp>
        <p:nvSpPr>
          <p:cNvPr id="39" name="TextBox 38"/>
          <p:cNvSpPr txBox="1"/>
          <p:nvPr/>
        </p:nvSpPr>
        <p:spPr>
          <a:xfrm>
            <a:off x="640080" y="5687568"/>
            <a:ext cx="2103120" cy="274320"/>
          </a:xfrm>
          <a:prstGeom prst="rect">
            <a:avLst/>
          </a:prstGeom>
          <a:noFill/>
        </p:spPr>
        <p:txBody>
          <a:bodyPr wrap="square">
            <a:spAutoFit/>
          </a:bodyPr>
          <a:lstStyle/>
          <a:p>
            <a:pPr algn="l"/>
            <a:r>
              <a:rPr sz="1150" b="1" i="0">
                <a:solidFill>
                  <a:srgbClr val="FFFFFF"/>
                </a:solidFill>
                <a:latin typeface="Segoe UI Semibold"/>
              </a:rPr>
              <a:t>Next.js 16</a:t>
            </a:r>
          </a:p>
        </p:txBody>
      </p:sp>
      <p:sp>
        <p:nvSpPr>
          <p:cNvPr id="40" name="TextBox 39"/>
          <p:cNvSpPr txBox="1"/>
          <p:nvPr/>
        </p:nvSpPr>
        <p:spPr>
          <a:xfrm>
            <a:off x="640080" y="5980176"/>
            <a:ext cx="2103120" cy="457200"/>
          </a:xfrm>
          <a:prstGeom prst="rect">
            <a:avLst/>
          </a:prstGeom>
          <a:noFill/>
        </p:spPr>
        <p:txBody>
          <a:bodyPr wrap="square">
            <a:spAutoFit/>
          </a:bodyPr>
          <a:lstStyle/>
          <a:p>
            <a:pPr algn="l"/>
            <a:r>
              <a:rPr sz="950" b="0" i="0">
                <a:solidFill>
                  <a:srgbClr val="777397"/>
                </a:solidFill>
                <a:latin typeface="Segoe UI"/>
              </a:rPr>
              <a:t>App Router + Turbopack</a:t>
            </a:r>
          </a:p>
        </p:txBody>
      </p:sp>
      <p:sp>
        <p:nvSpPr>
          <p:cNvPr id="41" name="TextBox 40"/>
          <p:cNvSpPr txBox="1"/>
          <p:nvPr/>
        </p:nvSpPr>
        <p:spPr>
          <a:xfrm>
            <a:off x="2880360" y="5687568"/>
            <a:ext cx="2103120" cy="274320"/>
          </a:xfrm>
          <a:prstGeom prst="rect">
            <a:avLst/>
          </a:prstGeom>
          <a:noFill/>
        </p:spPr>
        <p:txBody>
          <a:bodyPr wrap="square">
            <a:spAutoFit/>
          </a:bodyPr>
          <a:lstStyle/>
          <a:p>
            <a:pPr algn="l"/>
            <a:r>
              <a:rPr sz="1150" b="1" i="0">
                <a:solidFill>
                  <a:srgbClr val="FFFFFF"/>
                </a:solidFill>
                <a:latin typeface="Segoe UI Semibold"/>
              </a:rPr>
              <a:t>React 19</a:t>
            </a:r>
          </a:p>
        </p:txBody>
      </p:sp>
      <p:sp>
        <p:nvSpPr>
          <p:cNvPr id="42" name="TextBox 41"/>
          <p:cNvSpPr txBox="1"/>
          <p:nvPr/>
        </p:nvSpPr>
        <p:spPr>
          <a:xfrm>
            <a:off x="2880360" y="5980176"/>
            <a:ext cx="2103120" cy="457200"/>
          </a:xfrm>
          <a:prstGeom prst="rect">
            <a:avLst/>
          </a:prstGeom>
          <a:noFill/>
        </p:spPr>
        <p:txBody>
          <a:bodyPr wrap="square">
            <a:spAutoFit/>
          </a:bodyPr>
          <a:lstStyle/>
          <a:p>
            <a:pPr algn="l"/>
            <a:r>
              <a:rPr sz="950" b="0" i="0">
                <a:solidFill>
                  <a:srgbClr val="777397"/>
                </a:solidFill>
                <a:latin typeface="Segoe UI"/>
              </a:rPr>
              <a:t>Client components + hooks</a:t>
            </a:r>
          </a:p>
        </p:txBody>
      </p:sp>
      <p:sp>
        <p:nvSpPr>
          <p:cNvPr id="43" name="TextBox 42"/>
          <p:cNvSpPr txBox="1"/>
          <p:nvPr/>
        </p:nvSpPr>
        <p:spPr>
          <a:xfrm>
            <a:off x="5120640" y="5687568"/>
            <a:ext cx="2103120" cy="274320"/>
          </a:xfrm>
          <a:prstGeom prst="rect">
            <a:avLst/>
          </a:prstGeom>
          <a:noFill/>
        </p:spPr>
        <p:txBody>
          <a:bodyPr wrap="square">
            <a:spAutoFit/>
          </a:bodyPr>
          <a:lstStyle/>
          <a:p>
            <a:pPr algn="l"/>
            <a:r>
              <a:rPr sz="1150" b="1" i="0">
                <a:solidFill>
                  <a:srgbClr val="FFFFFF"/>
                </a:solidFill>
                <a:latin typeface="Segoe UI Semibold"/>
              </a:rPr>
              <a:t>xAI / Grok API</a:t>
            </a:r>
          </a:p>
        </p:txBody>
      </p:sp>
      <p:sp>
        <p:nvSpPr>
          <p:cNvPr id="44" name="TextBox 43"/>
          <p:cNvSpPr txBox="1"/>
          <p:nvPr/>
        </p:nvSpPr>
        <p:spPr>
          <a:xfrm>
            <a:off x="5120640" y="5980176"/>
            <a:ext cx="2103120" cy="457200"/>
          </a:xfrm>
          <a:prstGeom prst="rect">
            <a:avLst/>
          </a:prstGeom>
          <a:noFill/>
        </p:spPr>
        <p:txBody>
          <a:bodyPr wrap="square">
            <a:spAutoFit/>
          </a:bodyPr>
          <a:lstStyle/>
          <a:p>
            <a:pPr algn="l"/>
            <a:r>
              <a:rPr sz="950" b="0" i="0">
                <a:solidFill>
                  <a:srgbClr val="777397"/>
                </a:solidFill>
                <a:latin typeface="Segoe UI"/>
              </a:rPr>
              <a:t>Research + image generation</a:t>
            </a:r>
          </a:p>
        </p:txBody>
      </p:sp>
      <p:sp>
        <p:nvSpPr>
          <p:cNvPr id="45" name="TextBox 44"/>
          <p:cNvSpPr txBox="1"/>
          <p:nvPr/>
        </p:nvSpPr>
        <p:spPr>
          <a:xfrm>
            <a:off x="7360920" y="5687568"/>
            <a:ext cx="2103120" cy="274320"/>
          </a:xfrm>
          <a:prstGeom prst="rect">
            <a:avLst/>
          </a:prstGeom>
          <a:noFill/>
        </p:spPr>
        <p:txBody>
          <a:bodyPr wrap="square">
            <a:spAutoFit/>
          </a:bodyPr>
          <a:lstStyle/>
          <a:p>
            <a:pPr algn="l"/>
            <a:r>
              <a:rPr sz="1150" b="1" i="0">
                <a:solidFill>
                  <a:srgbClr val="FFFFFF"/>
                </a:solidFill>
                <a:latin typeface="Segoe UI Semibold"/>
              </a:rPr>
              <a:t>Anthropic Claude</a:t>
            </a:r>
          </a:p>
        </p:txBody>
      </p:sp>
      <p:sp>
        <p:nvSpPr>
          <p:cNvPr id="46" name="TextBox 45"/>
          <p:cNvSpPr txBox="1"/>
          <p:nvPr/>
        </p:nvSpPr>
        <p:spPr>
          <a:xfrm>
            <a:off x="7360920" y="5980176"/>
            <a:ext cx="2103120" cy="457200"/>
          </a:xfrm>
          <a:prstGeom prst="rect">
            <a:avLst/>
          </a:prstGeom>
          <a:noFill/>
        </p:spPr>
        <p:txBody>
          <a:bodyPr wrap="square">
            <a:spAutoFit/>
          </a:bodyPr>
          <a:lstStyle/>
          <a:p>
            <a:pPr algn="l"/>
            <a:r>
              <a:rPr sz="950" b="0" i="0">
                <a:solidFill>
                  <a:srgbClr val="777397"/>
                </a:solidFill>
                <a:latin typeface="Segoe UI"/>
              </a:rPr>
              <a:t>claude-sonnet-4-6 via tool_use</a:t>
            </a:r>
          </a:p>
        </p:txBody>
      </p:sp>
      <p:sp>
        <p:nvSpPr>
          <p:cNvPr id="47" name="TextBox 46"/>
          <p:cNvSpPr txBox="1"/>
          <p:nvPr/>
        </p:nvSpPr>
        <p:spPr>
          <a:xfrm>
            <a:off x="9601200" y="5687568"/>
            <a:ext cx="2103120" cy="274320"/>
          </a:xfrm>
          <a:prstGeom prst="rect">
            <a:avLst/>
          </a:prstGeom>
          <a:noFill/>
        </p:spPr>
        <p:txBody>
          <a:bodyPr wrap="square">
            <a:spAutoFit/>
          </a:bodyPr>
          <a:lstStyle/>
          <a:p>
            <a:pPr algn="l"/>
            <a:r>
              <a:rPr sz="1150" b="1" i="0">
                <a:solidFill>
                  <a:srgbClr val="FFFFFF"/>
                </a:solidFill>
                <a:latin typeface="Segoe UI Semibold"/>
              </a:rPr>
              <a:t>Vercel Edge</a:t>
            </a:r>
          </a:p>
        </p:txBody>
      </p:sp>
      <p:sp>
        <p:nvSpPr>
          <p:cNvPr id="48" name="TextBox 47"/>
          <p:cNvSpPr txBox="1"/>
          <p:nvPr/>
        </p:nvSpPr>
        <p:spPr>
          <a:xfrm>
            <a:off x="9601200" y="5980176"/>
            <a:ext cx="2103120" cy="457200"/>
          </a:xfrm>
          <a:prstGeom prst="rect">
            <a:avLst/>
          </a:prstGeom>
          <a:noFill/>
        </p:spPr>
        <p:txBody>
          <a:bodyPr wrap="square">
            <a:spAutoFit/>
          </a:bodyPr>
          <a:lstStyle/>
          <a:p>
            <a:pPr algn="l"/>
            <a:r>
              <a:rPr sz="950" b="0" i="0">
                <a:solidFill>
                  <a:srgbClr val="777397"/>
                </a:solidFill>
                <a:latin typeface="Segoe UI"/>
              </a:rPr>
              <a:t>Serverless, maxDuration 300s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07</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MARKET OPPORTUNITY</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08</a:t>
            </a:r>
          </a:p>
        </p:txBody>
      </p:sp>
      <p:sp>
        <p:nvSpPr>
          <p:cNvPr id="7" name="TextBox 6"/>
          <p:cNvSpPr txBox="1"/>
          <p:nvPr/>
        </p:nvSpPr>
        <p:spPr>
          <a:xfrm>
            <a:off x="502920" y="822960"/>
            <a:ext cx="11155680" cy="685800"/>
          </a:xfrm>
          <a:prstGeom prst="rect">
            <a:avLst/>
          </a:prstGeom>
          <a:noFill/>
        </p:spPr>
        <p:txBody>
          <a:bodyPr wrap="square">
            <a:spAutoFit/>
          </a:bodyPr>
          <a:lstStyle/>
          <a:p>
            <a:pPr algn="ctr"/>
            <a:r>
              <a:rPr sz="1700" b="0" i="0">
                <a:solidFill>
                  <a:srgbClr val="BBB8D4"/>
                </a:solidFill>
                <a:latin typeface="Segoe UI"/>
              </a:rPr>
              <a:t>Positioned at the intersection of the two fastest-growing
software categories of the decade.</a:t>
            </a:r>
          </a:p>
        </p:txBody>
      </p:sp>
      <p:sp>
        <p:nvSpPr>
          <p:cNvPr id="8" name="Oval 7"/>
          <p:cNvSpPr/>
          <p:nvPr/>
        </p:nvSpPr>
        <p:spPr>
          <a:xfrm>
            <a:off x="822960" y="1691640"/>
            <a:ext cx="5303520" cy="4754880"/>
          </a:xfrm>
          <a:prstGeom prst="ellipse">
            <a:avLst/>
          </a:prstGeom>
          <a:solidFill>
            <a:srgbClr val="1E1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1920240"/>
            <a:ext cx="2286000" cy="320040"/>
          </a:xfrm>
          <a:prstGeom prst="rect">
            <a:avLst/>
          </a:prstGeom>
          <a:noFill/>
        </p:spPr>
        <p:txBody>
          <a:bodyPr wrap="square">
            <a:spAutoFit/>
          </a:bodyPr>
          <a:lstStyle/>
          <a:p>
            <a:pPr algn="ctr"/>
            <a:r>
              <a:rPr sz="1100" b="1" i="0">
                <a:solidFill>
                  <a:srgbClr val="777397"/>
                </a:solidFill>
                <a:latin typeface="Segoe UI"/>
              </a:rPr>
              <a:t>TAM</a:t>
            </a:r>
          </a:p>
        </p:txBody>
      </p:sp>
      <p:sp>
        <p:nvSpPr>
          <p:cNvPr id="10" name="TextBox 9"/>
          <p:cNvSpPr txBox="1"/>
          <p:nvPr/>
        </p:nvSpPr>
        <p:spPr>
          <a:xfrm>
            <a:off x="1371600" y="2240280"/>
            <a:ext cx="4114800" cy="502920"/>
          </a:xfrm>
          <a:prstGeom prst="rect">
            <a:avLst/>
          </a:prstGeom>
          <a:noFill/>
        </p:spPr>
        <p:txBody>
          <a:bodyPr wrap="square">
            <a:spAutoFit/>
          </a:bodyPr>
          <a:lstStyle/>
          <a:p>
            <a:pPr algn="ctr"/>
            <a:r>
              <a:rPr sz="2800" b="1" i="0">
                <a:solidFill>
                  <a:srgbClr val="4A3099"/>
                </a:solidFill>
                <a:latin typeface="Segoe UI Black"/>
              </a:rPr>
              <a:t>$740B</a:t>
            </a:r>
          </a:p>
        </p:txBody>
      </p:sp>
      <p:sp>
        <p:nvSpPr>
          <p:cNvPr id="11" name="TextBox 10"/>
          <p:cNvSpPr txBox="1"/>
          <p:nvPr/>
        </p:nvSpPr>
        <p:spPr>
          <a:xfrm>
            <a:off x="1828800" y="2724912"/>
            <a:ext cx="3200400" cy="502920"/>
          </a:xfrm>
          <a:prstGeom prst="rect">
            <a:avLst/>
          </a:prstGeom>
          <a:noFill/>
        </p:spPr>
        <p:txBody>
          <a:bodyPr wrap="square">
            <a:spAutoFit/>
          </a:bodyPr>
          <a:lstStyle/>
          <a:p>
            <a:pPr algn="ctr"/>
            <a:r>
              <a:rPr sz="1000" b="0" i="0">
                <a:solidFill>
                  <a:srgbClr val="777397"/>
                </a:solidFill>
                <a:latin typeface="Segoe UI"/>
              </a:rPr>
              <a:t>Global Digital
Advertising</a:t>
            </a:r>
          </a:p>
        </p:txBody>
      </p:sp>
      <p:sp>
        <p:nvSpPr>
          <p:cNvPr id="12" name="Oval 11"/>
          <p:cNvSpPr/>
          <p:nvPr/>
        </p:nvSpPr>
        <p:spPr>
          <a:xfrm>
            <a:off x="1417320" y="2423160"/>
            <a:ext cx="4114800" cy="3337560"/>
          </a:xfrm>
          <a:prstGeom prst="ellipse">
            <a:avLst/>
          </a:prstGeom>
          <a:solidFill>
            <a:srgbClr val="2A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2788920"/>
            <a:ext cx="1645920" cy="274320"/>
          </a:xfrm>
          <a:prstGeom prst="rect">
            <a:avLst/>
          </a:prstGeom>
          <a:noFill/>
        </p:spPr>
        <p:txBody>
          <a:bodyPr wrap="square">
            <a:spAutoFit/>
          </a:bodyPr>
          <a:lstStyle/>
          <a:p>
            <a:pPr algn="ctr"/>
            <a:r>
              <a:rPr sz="1000" b="1" i="0">
                <a:solidFill>
                  <a:srgbClr val="777397"/>
                </a:solidFill>
                <a:latin typeface="Segoe UI"/>
              </a:rPr>
              <a:t>SAM</a:t>
            </a:r>
          </a:p>
        </p:txBody>
      </p:sp>
      <p:sp>
        <p:nvSpPr>
          <p:cNvPr id="14" name="TextBox 13"/>
          <p:cNvSpPr txBox="1"/>
          <p:nvPr/>
        </p:nvSpPr>
        <p:spPr>
          <a:xfrm>
            <a:off x="2103120" y="3090672"/>
            <a:ext cx="2926080" cy="457200"/>
          </a:xfrm>
          <a:prstGeom prst="rect">
            <a:avLst/>
          </a:prstGeom>
          <a:noFill/>
        </p:spPr>
        <p:txBody>
          <a:bodyPr wrap="square">
            <a:spAutoFit/>
          </a:bodyPr>
          <a:lstStyle/>
          <a:p>
            <a:pPr algn="ctr"/>
            <a:r>
              <a:rPr sz="2400" b="1" i="0">
                <a:solidFill>
                  <a:srgbClr val="9B72FF"/>
                </a:solidFill>
                <a:latin typeface="Segoe UI Black"/>
              </a:rPr>
              <a:t>$107B</a:t>
            </a:r>
          </a:p>
        </p:txBody>
      </p:sp>
      <p:sp>
        <p:nvSpPr>
          <p:cNvPr id="15" name="TextBox 14"/>
          <p:cNvSpPr txBox="1"/>
          <p:nvPr/>
        </p:nvSpPr>
        <p:spPr>
          <a:xfrm>
            <a:off x="2286000" y="3547872"/>
            <a:ext cx="2560320" cy="411480"/>
          </a:xfrm>
          <a:prstGeom prst="rect">
            <a:avLst/>
          </a:prstGeom>
          <a:noFill/>
        </p:spPr>
        <p:txBody>
          <a:bodyPr wrap="square">
            <a:spAutoFit/>
          </a:bodyPr>
          <a:lstStyle/>
          <a:p>
            <a:pPr algn="ctr"/>
            <a:r>
              <a:rPr sz="950" b="0" i="0">
                <a:solidFill>
                  <a:srgbClr val="777397"/>
                </a:solidFill>
                <a:latin typeface="Segoe UI"/>
              </a:rPr>
              <a:t>AI in Marketing
by 2028</a:t>
            </a:r>
          </a:p>
        </p:txBody>
      </p:sp>
      <p:sp>
        <p:nvSpPr>
          <p:cNvPr id="16" name="Oval 15"/>
          <p:cNvSpPr/>
          <p:nvPr/>
        </p:nvSpPr>
        <p:spPr>
          <a:xfrm>
            <a:off x="2148840" y="3246120"/>
            <a:ext cx="2651760" cy="1874519"/>
          </a:xfrm>
          <a:prstGeom prst="ellipse">
            <a:avLst/>
          </a:prstGeom>
          <a:solidFill>
            <a:srgbClr val="3A2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0" y="3456432"/>
            <a:ext cx="868680" cy="256032"/>
          </a:xfrm>
          <a:prstGeom prst="rect">
            <a:avLst/>
          </a:prstGeom>
          <a:noFill/>
        </p:spPr>
        <p:txBody>
          <a:bodyPr wrap="square">
            <a:spAutoFit/>
          </a:bodyPr>
          <a:lstStyle/>
          <a:p>
            <a:pPr algn="ctr"/>
            <a:r>
              <a:rPr sz="900" b="1" i="0">
                <a:solidFill>
                  <a:srgbClr val="FF4FCB"/>
                </a:solidFill>
                <a:latin typeface="Segoe UI"/>
              </a:rPr>
              <a:t>SOM</a:t>
            </a:r>
          </a:p>
        </p:txBody>
      </p:sp>
      <p:sp>
        <p:nvSpPr>
          <p:cNvPr id="18" name="TextBox 17"/>
          <p:cNvSpPr txBox="1"/>
          <p:nvPr/>
        </p:nvSpPr>
        <p:spPr>
          <a:xfrm>
            <a:off x="2423160" y="3730752"/>
            <a:ext cx="2103120" cy="384048"/>
          </a:xfrm>
          <a:prstGeom prst="rect">
            <a:avLst/>
          </a:prstGeom>
          <a:noFill/>
        </p:spPr>
        <p:txBody>
          <a:bodyPr wrap="square">
            <a:spAutoFit/>
          </a:bodyPr>
          <a:lstStyle/>
          <a:p>
            <a:pPr algn="ctr"/>
            <a:r>
              <a:rPr sz="2000" b="1" i="0">
                <a:solidFill>
                  <a:srgbClr val="FF4FCB"/>
                </a:solidFill>
                <a:latin typeface="Segoe UI Black"/>
              </a:rPr>
              <a:t>$28B</a:t>
            </a:r>
          </a:p>
        </p:txBody>
      </p:sp>
      <p:sp>
        <p:nvSpPr>
          <p:cNvPr id="19" name="TextBox 18"/>
          <p:cNvSpPr txBox="1"/>
          <p:nvPr/>
        </p:nvSpPr>
        <p:spPr>
          <a:xfrm>
            <a:off x="2560320" y="4114800"/>
            <a:ext cx="1828800" cy="347472"/>
          </a:xfrm>
          <a:prstGeom prst="rect">
            <a:avLst/>
          </a:prstGeom>
          <a:noFill/>
        </p:spPr>
        <p:txBody>
          <a:bodyPr wrap="square">
            <a:spAutoFit/>
          </a:bodyPr>
          <a:lstStyle/>
          <a:p>
            <a:pPr algn="ctr"/>
            <a:r>
              <a:rPr sz="900" b="0" i="0">
                <a:solidFill>
                  <a:srgbClr val="777397"/>
                </a:solidFill>
                <a:latin typeface="Segoe UI"/>
              </a:rPr>
              <a:t>AI Creative
Tools 2028</a:t>
            </a:r>
          </a:p>
        </p:txBody>
      </p:sp>
      <p:sp>
        <p:nvSpPr>
          <p:cNvPr id="20" name="Rounded Rectangle 19"/>
          <p:cNvSpPr/>
          <p:nvPr/>
        </p:nvSpPr>
        <p:spPr>
          <a:xfrm>
            <a:off x="6400800" y="1005840"/>
            <a:ext cx="5303520" cy="123444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1005840"/>
            <a:ext cx="54864" cy="1234440"/>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65392" y="1078992"/>
            <a:ext cx="822960" cy="256032"/>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CAGR</a:t>
            </a:r>
          </a:p>
        </p:txBody>
      </p:sp>
      <p:sp>
        <p:nvSpPr>
          <p:cNvPr id="23" name="TextBox 22"/>
          <p:cNvSpPr txBox="1"/>
          <p:nvPr/>
        </p:nvSpPr>
        <p:spPr>
          <a:xfrm>
            <a:off x="6565392" y="1389888"/>
            <a:ext cx="2011680" cy="640080"/>
          </a:xfrm>
          <a:prstGeom prst="rect">
            <a:avLst/>
          </a:prstGeom>
          <a:noFill/>
        </p:spPr>
        <p:txBody>
          <a:bodyPr wrap="square">
            <a:spAutoFit/>
          </a:bodyPr>
          <a:lstStyle/>
          <a:p>
            <a:pPr algn="l"/>
            <a:r>
              <a:rPr sz="3400" b="1" i="0">
                <a:solidFill>
                  <a:srgbClr val="FFFFFF"/>
                </a:solidFill>
                <a:latin typeface="Segoe UI Black"/>
              </a:rPr>
              <a:t>26.1%</a:t>
            </a:r>
          </a:p>
        </p:txBody>
      </p:sp>
      <p:sp>
        <p:nvSpPr>
          <p:cNvPr id="24" name="TextBox 23"/>
          <p:cNvSpPr txBox="1"/>
          <p:nvPr/>
        </p:nvSpPr>
        <p:spPr>
          <a:xfrm>
            <a:off x="8412480" y="1463040"/>
            <a:ext cx="3108960" cy="502920"/>
          </a:xfrm>
          <a:prstGeom prst="rect">
            <a:avLst/>
          </a:prstGeom>
          <a:noFill/>
        </p:spPr>
        <p:txBody>
          <a:bodyPr wrap="square">
            <a:spAutoFit/>
          </a:bodyPr>
          <a:lstStyle/>
          <a:p>
            <a:pPr algn="l"/>
            <a:r>
              <a:rPr sz="1250" b="0" i="0">
                <a:solidFill>
                  <a:srgbClr val="BBB8D4"/>
                </a:solidFill>
                <a:latin typeface="Segoe UI"/>
              </a:rPr>
              <a:t>AI in Marketing 2021–2028</a:t>
            </a:r>
          </a:p>
        </p:txBody>
      </p:sp>
      <p:sp>
        <p:nvSpPr>
          <p:cNvPr id="25" name="Rounded Rectangle 24"/>
          <p:cNvSpPr/>
          <p:nvPr/>
        </p:nvSpPr>
        <p:spPr>
          <a:xfrm>
            <a:off x="6400800" y="2423160"/>
            <a:ext cx="5303520" cy="123444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2423160"/>
            <a:ext cx="54864" cy="1234440"/>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565392" y="2496312"/>
            <a:ext cx="822960" cy="256032"/>
          </a:xfrm>
          <a:prstGeom prst="round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NOW</a:t>
            </a:r>
          </a:p>
        </p:txBody>
      </p:sp>
      <p:sp>
        <p:nvSpPr>
          <p:cNvPr id="28" name="TextBox 27"/>
          <p:cNvSpPr txBox="1"/>
          <p:nvPr/>
        </p:nvSpPr>
        <p:spPr>
          <a:xfrm>
            <a:off x="6565392" y="2807208"/>
            <a:ext cx="2011680" cy="640080"/>
          </a:xfrm>
          <a:prstGeom prst="rect">
            <a:avLst/>
          </a:prstGeom>
          <a:noFill/>
        </p:spPr>
        <p:txBody>
          <a:bodyPr wrap="square">
            <a:spAutoFit/>
          </a:bodyPr>
          <a:lstStyle/>
          <a:p>
            <a:pPr algn="l"/>
            <a:r>
              <a:rPr sz="3400" b="1" i="0">
                <a:solidFill>
                  <a:srgbClr val="FFFFFF"/>
                </a:solidFill>
                <a:latin typeface="Segoe UI Black"/>
              </a:rPr>
              <a:t>$8B</a:t>
            </a:r>
          </a:p>
        </p:txBody>
      </p:sp>
      <p:sp>
        <p:nvSpPr>
          <p:cNvPr id="29" name="TextBox 28"/>
          <p:cNvSpPr txBox="1"/>
          <p:nvPr/>
        </p:nvSpPr>
        <p:spPr>
          <a:xfrm>
            <a:off x="8412480" y="2880360"/>
            <a:ext cx="3108960" cy="502920"/>
          </a:xfrm>
          <a:prstGeom prst="rect">
            <a:avLst/>
          </a:prstGeom>
          <a:noFill/>
        </p:spPr>
        <p:txBody>
          <a:bodyPr wrap="square">
            <a:spAutoFit/>
          </a:bodyPr>
          <a:lstStyle/>
          <a:p>
            <a:pPr algn="l"/>
            <a:r>
              <a:rPr sz="1250" b="0" i="0">
                <a:solidFill>
                  <a:srgbClr val="BBB8D4"/>
                </a:solidFill>
                <a:latin typeface="Segoe UI"/>
              </a:rPr>
              <a:t>AI Creative Tools market today</a:t>
            </a:r>
          </a:p>
        </p:txBody>
      </p:sp>
      <p:sp>
        <p:nvSpPr>
          <p:cNvPr id="30" name="Rounded Rectangle 29"/>
          <p:cNvSpPr/>
          <p:nvPr/>
        </p:nvSpPr>
        <p:spPr>
          <a:xfrm>
            <a:off x="6400800" y="3840480"/>
            <a:ext cx="5303520" cy="123444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3840480"/>
            <a:ext cx="54864" cy="12344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65392" y="3913632"/>
            <a:ext cx="822960" cy="256032"/>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TOOLS</a:t>
            </a:r>
          </a:p>
        </p:txBody>
      </p:sp>
      <p:sp>
        <p:nvSpPr>
          <p:cNvPr id="33" name="TextBox 32"/>
          <p:cNvSpPr txBox="1"/>
          <p:nvPr/>
        </p:nvSpPr>
        <p:spPr>
          <a:xfrm>
            <a:off x="6565392" y="4224528"/>
            <a:ext cx="2011680" cy="640080"/>
          </a:xfrm>
          <a:prstGeom prst="rect">
            <a:avLst/>
          </a:prstGeom>
          <a:noFill/>
        </p:spPr>
        <p:txBody>
          <a:bodyPr wrap="square">
            <a:spAutoFit/>
          </a:bodyPr>
          <a:lstStyle/>
          <a:p>
            <a:pPr algn="l"/>
            <a:r>
              <a:rPr sz="3400" b="1" i="0">
                <a:solidFill>
                  <a:srgbClr val="FFFFFF"/>
                </a:solidFill>
                <a:latin typeface="Segoe UI Black"/>
              </a:rPr>
              <a:t>14,000+</a:t>
            </a:r>
          </a:p>
        </p:txBody>
      </p:sp>
      <p:sp>
        <p:nvSpPr>
          <p:cNvPr id="34" name="TextBox 33"/>
          <p:cNvSpPr txBox="1"/>
          <p:nvPr/>
        </p:nvSpPr>
        <p:spPr>
          <a:xfrm>
            <a:off x="8412480" y="4297680"/>
            <a:ext cx="3108960" cy="502920"/>
          </a:xfrm>
          <a:prstGeom prst="rect">
            <a:avLst/>
          </a:prstGeom>
          <a:noFill/>
        </p:spPr>
        <p:txBody>
          <a:bodyPr wrap="square">
            <a:spAutoFit/>
          </a:bodyPr>
          <a:lstStyle/>
          <a:p>
            <a:pPr algn="l"/>
            <a:r>
              <a:rPr sz="1250" b="0" i="0">
                <a:solidFill>
                  <a:srgbClr val="BBB8D4"/>
                </a:solidFill>
                <a:latin typeface="Segoe UI"/>
              </a:rPr>
              <a:t>Marketing technology solutions globally</a:t>
            </a:r>
          </a:p>
        </p:txBody>
      </p:sp>
      <p:sp>
        <p:nvSpPr>
          <p:cNvPr id="35" name="Rounded Rectangle 34"/>
          <p:cNvSpPr/>
          <p:nvPr/>
        </p:nvSpPr>
        <p:spPr>
          <a:xfrm>
            <a:off x="6400800" y="5257800"/>
            <a:ext cx="5303520" cy="123444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5257800"/>
            <a:ext cx="54864" cy="1234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565392" y="5330952"/>
            <a:ext cx="82296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latin typeface="Segoe UI"/>
              </a:rPr>
              <a:t>GAP</a:t>
            </a:r>
          </a:p>
        </p:txBody>
      </p:sp>
      <p:sp>
        <p:nvSpPr>
          <p:cNvPr id="38" name="TextBox 37"/>
          <p:cNvSpPr txBox="1"/>
          <p:nvPr/>
        </p:nvSpPr>
        <p:spPr>
          <a:xfrm>
            <a:off x="6565392" y="5641848"/>
            <a:ext cx="2011680" cy="640080"/>
          </a:xfrm>
          <a:prstGeom prst="rect">
            <a:avLst/>
          </a:prstGeom>
          <a:noFill/>
        </p:spPr>
        <p:txBody>
          <a:bodyPr wrap="square">
            <a:spAutoFit/>
          </a:bodyPr>
          <a:lstStyle/>
          <a:p>
            <a:pPr algn="l"/>
            <a:r>
              <a:rPr sz="3400" b="1" i="0">
                <a:solidFill>
                  <a:srgbClr val="FFFFFF"/>
                </a:solidFill>
                <a:latin typeface="Segoe UI Black"/>
              </a:rPr>
              <a:t>0%</a:t>
            </a:r>
          </a:p>
        </p:txBody>
      </p:sp>
      <p:sp>
        <p:nvSpPr>
          <p:cNvPr id="39" name="TextBox 38"/>
          <p:cNvSpPr txBox="1"/>
          <p:nvPr/>
        </p:nvSpPr>
        <p:spPr>
          <a:xfrm>
            <a:off x="8412480" y="5715000"/>
            <a:ext cx="3108960" cy="502920"/>
          </a:xfrm>
          <a:prstGeom prst="rect">
            <a:avLst/>
          </a:prstGeom>
          <a:noFill/>
        </p:spPr>
        <p:txBody>
          <a:bodyPr wrap="square">
            <a:spAutoFit/>
          </a:bodyPr>
          <a:lstStyle/>
          <a:p>
            <a:pPr algn="l"/>
            <a:r>
              <a:rPr sz="1250" b="0" i="0">
                <a:solidFill>
                  <a:srgbClr val="BBB8D4"/>
                </a:solidFill>
                <a:latin typeface="Segoe UI"/>
              </a:rPr>
              <a:t>Platforms with intelligence-first workflow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08</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COMPETITIVE LANDSCAPE</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09</a:t>
            </a:r>
          </a:p>
        </p:txBody>
      </p:sp>
      <p:sp>
        <p:nvSpPr>
          <p:cNvPr id="7" name="TextBox 6"/>
          <p:cNvSpPr txBox="1"/>
          <p:nvPr/>
        </p:nvSpPr>
        <p:spPr>
          <a:xfrm>
            <a:off x="502920" y="804672"/>
            <a:ext cx="11155680" cy="594360"/>
          </a:xfrm>
          <a:prstGeom prst="rect">
            <a:avLst/>
          </a:prstGeom>
          <a:noFill/>
        </p:spPr>
        <p:txBody>
          <a:bodyPr wrap="square">
            <a:spAutoFit/>
          </a:bodyPr>
          <a:lstStyle/>
          <a:p>
            <a:pPr algn="ctr"/>
            <a:r>
              <a:rPr sz="1350" b="0" i="0">
                <a:solidFill>
                  <a:srgbClr val="BBB8D4"/>
                </a:solidFill>
                <a:latin typeface="Segoe UI"/>
              </a:rPr>
              <a:t>No competitor combines intelligence research + image generation + strategic copy
in a single workflow. That gap is Crelix's entire market position.</a:t>
            </a:r>
          </a:p>
        </p:txBody>
      </p:sp>
      <p:sp>
        <p:nvSpPr>
          <p:cNvPr id="8" name="Rectangle 7"/>
          <p:cNvSpPr/>
          <p:nvPr/>
        </p:nvSpPr>
        <p:spPr>
          <a:xfrm>
            <a:off x="384048" y="1572768"/>
            <a:ext cx="2011680" cy="47548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9" name="TextBox 8"/>
          <p:cNvSpPr txBox="1"/>
          <p:nvPr/>
        </p:nvSpPr>
        <p:spPr>
          <a:xfrm>
            <a:off x="429768" y="1572768"/>
            <a:ext cx="2011680" cy="475488"/>
          </a:xfrm>
          <a:prstGeom prst="rect">
            <a:avLst/>
          </a:prstGeom>
          <a:noFill/>
        </p:spPr>
        <p:txBody>
          <a:bodyPr wrap="square">
            <a:spAutoFit/>
          </a:bodyPr>
          <a:lstStyle/>
          <a:p>
            <a:pPr algn="ctr"/>
            <a:r>
              <a:rPr sz="950" b="1" i="0">
                <a:solidFill>
                  <a:srgbClr val="FFFFFF"/>
                </a:solidFill>
                <a:latin typeface="Segoe UI Semibold"/>
              </a:rPr>
              <a:t>Platform</a:t>
            </a:r>
          </a:p>
        </p:txBody>
      </p:sp>
      <p:sp>
        <p:nvSpPr>
          <p:cNvPr id="10" name="Rectangle 9"/>
          <p:cNvSpPr/>
          <p:nvPr/>
        </p:nvSpPr>
        <p:spPr>
          <a:xfrm>
            <a:off x="2441448" y="1572768"/>
            <a:ext cx="1261872" cy="47548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11" name="TextBox 10"/>
          <p:cNvSpPr txBox="1"/>
          <p:nvPr/>
        </p:nvSpPr>
        <p:spPr>
          <a:xfrm>
            <a:off x="2487168" y="1572768"/>
            <a:ext cx="1261872" cy="475488"/>
          </a:xfrm>
          <a:prstGeom prst="rect">
            <a:avLst/>
          </a:prstGeom>
          <a:noFill/>
        </p:spPr>
        <p:txBody>
          <a:bodyPr wrap="square">
            <a:spAutoFit/>
          </a:bodyPr>
          <a:lstStyle/>
          <a:p>
            <a:pPr algn="ctr"/>
            <a:r>
              <a:rPr sz="950" b="1" i="0">
                <a:solidFill>
                  <a:srgbClr val="FFFFFF"/>
                </a:solidFill>
                <a:latin typeface="Segoe UI Semibold"/>
              </a:rPr>
              <a:t>Marketing
Brain</a:t>
            </a:r>
          </a:p>
        </p:txBody>
      </p:sp>
      <p:sp>
        <p:nvSpPr>
          <p:cNvPr id="12" name="Rectangle 11"/>
          <p:cNvSpPr/>
          <p:nvPr/>
        </p:nvSpPr>
        <p:spPr>
          <a:xfrm>
            <a:off x="3749039" y="1572768"/>
            <a:ext cx="1261872" cy="47548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13" name="TextBox 12"/>
          <p:cNvSpPr txBox="1"/>
          <p:nvPr/>
        </p:nvSpPr>
        <p:spPr>
          <a:xfrm>
            <a:off x="3794759" y="1572768"/>
            <a:ext cx="1261872" cy="475488"/>
          </a:xfrm>
          <a:prstGeom prst="rect">
            <a:avLst/>
          </a:prstGeom>
          <a:noFill/>
        </p:spPr>
        <p:txBody>
          <a:bodyPr wrap="square">
            <a:spAutoFit/>
          </a:bodyPr>
          <a:lstStyle/>
          <a:p>
            <a:pPr algn="ctr"/>
            <a:r>
              <a:rPr sz="950" b="1" i="0">
                <a:solidFill>
                  <a:srgbClr val="FFFFFF"/>
                </a:solidFill>
                <a:latin typeface="Segoe UI Semibold"/>
              </a:rPr>
              <a:t>AI Image
Gen</a:t>
            </a:r>
          </a:p>
        </p:txBody>
      </p:sp>
      <p:sp>
        <p:nvSpPr>
          <p:cNvPr id="14" name="Rectangle 13"/>
          <p:cNvSpPr/>
          <p:nvPr/>
        </p:nvSpPr>
        <p:spPr>
          <a:xfrm>
            <a:off x="5056631" y="1572768"/>
            <a:ext cx="1261872" cy="47548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15" name="TextBox 14"/>
          <p:cNvSpPr txBox="1"/>
          <p:nvPr/>
        </p:nvSpPr>
        <p:spPr>
          <a:xfrm>
            <a:off x="5102351" y="1572768"/>
            <a:ext cx="1261872" cy="475488"/>
          </a:xfrm>
          <a:prstGeom prst="rect">
            <a:avLst/>
          </a:prstGeom>
          <a:noFill/>
        </p:spPr>
        <p:txBody>
          <a:bodyPr wrap="square">
            <a:spAutoFit/>
          </a:bodyPr>
          <a:lstStyle/>
          <a:p>
            <a:pPr algn="ctr"/>
            <a:r>
              <a:rPr sz="950" b="1" i="0">
                <a:solidFill>
                  <a:srgbClr val="FFFFFF"/>
                </a:solidFill>
                <a:latin typeface="Segoe UI Semibold"/>
              </a:rPr>
              <a:t>Strategic
Copy</a:t>
            </a:r>
          </a:p>
        </p:txBody>
      </p:sp>
      <p:sp>
        <p:nvSpPr>
          <p:cNvPr id="16" name="Rectangle 15"/>
          <p:cNvSpPr/>
          <p:nvPr/>
        </p:nvSpPr>
        <p:spPr>
          <a:xfrm>
            <a:off x="6364223" y="1572768"/>
            <a:ext cx="1261872" cy="47548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17" name="TextBox 16"/>
          <p:cNvSpPr txBox="1"/>
          <p:nvPr/>
        </p:nvSpPr>
        <p:spPr>
          <a:xfrm>
            <a:off x="6409943" y="1572768"/>
            <a:ext cx="1261872" cy="475488"/>
          </a:xfrm>
          <a:prstGeom prst="rect">
            <a:avLst/>
          </a:prstGeom>
          <a:noFill/>
        </p:spPr>
        <p:txBody>
          <a:bodyPr wrap="square">
            <a:spAutoFit/>
          </a:bodyPr>
          <a:lstStyle/>
          <a:p>
            <a:pPr algn="ctr"/>
            <a:r>
              <a:rPr sz="950" b="1" i="0">
                <a:solidFill>
                  <a:srgbClr val="FFFFFF"/>
                </a:solidFill>
                <a:latin typeface="Segoe UI Semibold"/>
              </a:rPr>
              <a:t>ICP
Research</a:t>
            </a:r>
          </a:p>
        </p:txBody>
      </p:sp>
      <p:sp>
        <p:nvSpPr>
          <p:cNvPr id="18" name="Rectangle 17"/>
          <p:cNvSpPr/>
          <p:nvPr/>
        </p:nvSpPr>
        <p:spPr>
          <a:xfrm>
            <a:off x="7671816" y="1572768"/>
            <a:ext cx="1097280" cy="47548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19" name="TextBox 18"/>
          <p:cNvSpPr txBox="1"/>
          <p:nvPr/>
        </p:nvSpPr>
        <p:spPr>
          <a:xfrm>
            <a:off x="7717536" y="1572768"/>
            <a:ext cx="1097280" cy="475488"/>
          </a:xfrm>
          <a:prstGeom prst="rect">
            <a:avLst/>
          </a:prstGeom>
          <a:noFill/>
        </p:spPr>
        <p:txBody>
          <a:bodyPr wrap="square">
            <a:spAutoFit/>
          </a:bodyPr>
          <a:lstStyle/>
          <a:p>
            <a:pPr algn="ctr"/>
            <a:r>
              <a:rPr sz="950" b="1" i="0">
                <a:solidFill>
                  <a:srgbClr val="FFFFFF"/>
                </a:solidFill>
                <a:latin typeface="Segoe UI Semibold"/>
              </a:rPr>
              <a:t>Price/mo</a:t>
            </a:r>
          </a:p>
        </p:txBody>
      </p:sp>
      <p:sp>
        <p:nvSpPr>
          <p:cNvPr id="20" name="Rectangle 19"/>
          <p:cNvSpPr/>
          <p:nvPr/>
        </p:nvSpPr>
        <p:spPr>
          <a:xfrm>
            <a:off x="8814816" y="1572768"/>
            <a:ext cx="2468880" cy="47548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21" name="TextBox 20"/>
          <p:cNvSpPr txBox="1"/>
          <p:nvPr/>
        </p:nvSpPr>
        <p:spPr>
          <a:xfrm>
            <a:off x="8860536" y="1572768"/>
            <a:ext cx="2468880" cy="475488"/>
          </a:xfrm>
          <a:prstGeom prst="rect">
            <a:avLst/>
          </a:prstGeom>
          <a:noFill/>
        </p:spPr>
        <p:txBody>
          <a:bodyPr wrap="square">
            <a:spAutoFit/>
          </a:bodyPr>
          <a:lstStyle/>
          <a:p>
            <a:pPr algn="ctr"/>
            <a:r>
              <a:rPr sz="950" b="1" i="0">
                <a:solidFill>
                  <a:srgbClr val="FFFFFF"/>
                </a:solidFill>
                <a:latin typeface="Segoe UI Semibold"/>
              </a:rPr>
              <a:t>Our Edge</a:t>
            </a:r>
          </a:p>
        </p:txBody>
      </p:sp>
      <p:sp>
        <p:nvSpPr>
          <p:cNvPr id="22" name="Rectangle 21"/>
          <p:cNvSpPr/>
          <p:nvPr/>
        </p:nvSpPr>
        <p:spPr>
          <a:xfrm>
            <a:off x="384048" y="2084831"/>
            <a:ext cx="2011680" cy="621792"/>
          </a:xfrm>
          <a:prstGeom prst="rect">
            <a:avLst/>
          </a:prstGeom>
          <a:solidFill>
            <a:srgbClr val="1C1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4048" y="2084831"/>
            <a:ext cx="2011680" cy="621792"/>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3A1599"/>
            </a:gs>
            <a:gs pos="100000">
              <a:srgbClr val="6E3DFF"/>
            </a:gs>
          </a:gsLst>
          <a:lin ang="0" scaled="0"/>
        </a:gradFill>
      </p:sp>
      <p:sp>
        <p:nvSpPr>
          <p:cNvPr id="24" name="TextBox 23"/>
          <p:cNvSpPr txBox="1"/>
          <p:nvPr/>
        </p:nvSpPr>
        <p:spPr>
          <a:xfrm>
            <a:off x="438912" y="2194560"/>
            <a:ext cx="1920240" cy="402336"/>
          </a:xfrm>
          <a:prstGeom prst="rect">
            <a:avLst/>
          </a:prstGeom>
          <a:noFill/>
        </p:spPr>
        <p:txBody>
          <a:bodyPr wrap="square">
            <a:spAutoFit/>
          </a:bodyPr>
          <a:lstStyle/>
          <a:p>
            <a:pPr algn="ctr"/>
            <a:r>
              <a:rPr sz="1100" b="1" i="0">
                <a:solidFill>
                  <a:srgbClr val="FFFFFF"/>
                </a:solidFill>
                <a:latin typeface="Segoe UI"/>
              </a:rPr>
              <a:t>Crelix AI</a:t>
            </a:r>
          </a:p>
        </p:txBody>
      </p:sp>
      <p:sp>
        <p:nvSpPr>
          <p:cNvPr id="25" name="Rectangle 24"/>
          <p:cNvSpPr/>
          <p:nvPr/>
        </p:nvSpPr>
        <p:spPr>
          <a:xfrm>
            <a:off x="2441448" y="2084831"/>
            <a:ext cx="1261872" cy="621792"/>
          </a:xfrm>
          <a:prstGeom prst="rect">
            <a:avLst/>
          </a:prstGeom>
          <a:solidFill>
            <a:srgbClr val="1C1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96312" y="2194560"/>
            <a:ext cx="1170431" cy="402336"/>
          </a:xfrm>
          <a:prstGeom prst="rect">
            <a:avLst/>
          </a:prstGeom>
          <a:noFill/>
        </p:spPr>
        <p:txBody>
          <a:bodyPr wrap="square">
            <a:spAutoFit/>
          </a:bodyPr>
          <a:lstStyle/>
          <a:p>
            <a:pPr algn="ctr"/>
            <a:r>
              <a:rPr sz="1100" b="0" i="0">
                <a:solidFill>
                  <a:srgbClr val="FFFFFF"/>
                </a:solidFill>
                <a:latin typeface="Segoe UI"/>
              </a:rPr>
              <a:t>✅ Full</a:t>
            </a:r>
          </a:p>
        </p:txBody>
      </p:sp>
      <p:sp>
        <p:nvSpPr>
          <p:cNvPr id="27" name="Rectangle 26"/>
          <p:cNvSpPr/>
          <p:nvPr/>
        </p:nvSpPr>
        <p:spPr>
          <a:xfrm>
            <a:off x="3749039" y="2084831"/>
            <a:ext cx="1261872" cy="621792"/>
          </a:xfrm>
          <a:prstGeom prst="rect">
            <a:avLst/>
          </a:prstGeom>
          <a:solidFill>
            <a:srgbClr val="1C1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03903" y="2194560"/>
            <a:ext cx="1170431" cy="402336"/>
          </a:xfrm>
          <a:prstGeom prst="rect">
            <a:avLst/>
          </a:prstGeom>
          <a:noFill/>
        </p:spPr>
        <p:txBody>
          <a:bodyPr wrap="square">
            <a:spAutoFit/>
          </a:bodyPr>
          <a:lstStyle/>
          <a:p>
            <a:pPr algn="ctr"/>
            <a:r>
              <a:rPr sz="1100" b="0" i="0">
                <a:solidFill>
                  <a:srgbClr val="FFFFFF"/>
                </a:solidFill>
                <a:latin typeface="Segoe UI"/>
              </a:rPr>
              <a:t>✅ Grok</a:t>
            </a:r>
          </a:p>
        </p:txBody>
      </p:sp>
      <p:sp>
        <p:nvSpPr>
          <p:cNvPr id="29" name="Rectangle 28"/>
          <p:cNvSpPr/>
          <p:nvPr/>
        </p:nvSpPr>
        <p:spPr>
          <a:xfrm>
            <a:off x="5056631" y="2084831"/>
            <a:ext cx="1261872" cy="621792"/>
          </a:xfrm>
          <a:prstGeom prst="rect">
            <a:avLst/>
          </a:prstGeom>
          <a:solidFill>
            <a:srgbClr val="1C1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11495" y="2194560"/>
            <a:ext cx="1170431" cy="402336"/>
          </a:xfrm>
          <a:prstGeom prst="rect">
            <a:avLst/>
          </a:prstGeom>
          <a:noFill/>
        </p:spPr>
        <p:txBody>
          <a:bodyPr wrap="square">
            <a:spAutoFit/>
          </a:bodyPr>
          <a:lstStyle/>
          <a:p>
            <a:pPr algn="ctr"/>
            <a:r>
              <a:rPr sz="1100" b="0" i="0">
                <a:solidFill>
                  <a:srgbClr val="FFFFFF"/>
                </a:solidFill>
                <a:latin typeface="Segoe UI"/>
              </a:rPr>
              <a:t>✅ Claude</a:t>
            </a:r>
          </a:p>
        </p:txBody>
      </p:sp>
      <p:sp>
        <p:nvSpPr>
          <p:cNvPr id="31" name="Rectangle 30"/>
          <p:cNvSpPr/>
          <p:nvPr/>
        </p:nvSpPr>
        <p:spPr>
          <a:xfrm>
            <a:off x="6364223" y="2084831"/>
            <a:ext cx="1261872" cy="621792"/>
          </a:xfrm>
          <a:prstGeom prst="rect">
            <a:avLst/>
          </a:prstGeom>
          <a:solidFill>
            <a:srgbClr val="1C1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9087" y="2194560"/>
            <a:ext cx="1170431" cy="402336"/>
          </a:xfrm>
          <a:prstGeom prst="rect">
            <a:avLst/>
          </a:prstGeom>
          <a:noFill/>
        </p:spPr>
        <p:txBody>
          <a:bodyPr wrap="square">
            <a:spAutoFit/>
          </a:bodyPr>
          <a:lstStyle/>
          <a:p>
            <a:pPr algn="ctr"/>
            <a:r>
              <a:rPr sz="1100" b="0" i="0">
                <a:solidFill>
                  <a:srgbClr val="FFFFFF"/>
                </a:solidFill>
                <a:latin typeface="Segoe UI"/>
              </a:rPr>
              <a:t>✅ Yes</a:t>
            </a:r>
          </a:p>
        </p:txBody>
      </p:sp>
      <p:sp>
        <p:nvSpPr>
          <p:cNvPr id="33" name="Rectangle 32"/>
          <p:cNvSpPr/>
          <p:nvPr/>
        </p:nvSpPr>
        <p:spPr>
          <a:xfrm>
            <a:off x="7671816" y="2084831"/>
            <a:ext cx="1097280" cy="621792"/>
          </a:xfrm>
          <a:prstGeom prst="rect">
            <a:avLst/>
          </a:prstGeom>
          <a:solidFill>
            <a:srgbClr val="1C1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26680" y="2194560"/>
            <a:ext cx="1005839" cy="402336"/>
          </a:xfrm>
          <a:prstGeom prst="rect">
            <a:avLst/>
          </a:prstGeom>
          <a:noFill/>
        </p:spPr>
        <p:txBody>
          <a:bodyPr wrap="square">
            <a:spAutoFit/>
          </a:bodyPr>
          <a:lstStyle/>
          <a:p>
            <a:pPr algn="ctr"/>
            <a:r>
              <a:rPr sz="1100" b="0" i="0">
                <a:solidFill>
                  <a:srgbClr val="FFFFFF"/>
                </a:solidFill>
                <a:latin typeface="Segoe UI"/>
              </a:rPr>
              <a:t>$49–499</a:t>
            </a:r>
          </a:p>
        </p:txBody>
      </p:sp>
      <p:sp>
        <p:nvSpPr>
          <p:cNvPr id="35" name="Rectangle 34"/>
          <p:cNvSpPr/>
          <p:nvPr/>
        </p:nvSpPr>
        <p:spPr>
          <a:xfrm>
            <a:off x="8814816" y="2084831"/>
            <a:ext cx="2468880" cy="621792"/>
          </a:xfrm>
          <a:prstGeom prst="rect">
            <a:avLst/>
          </a:prstGeom>
          <a:solidFill>
            <a:srgbClr val="1C1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0" y="2194560"/>
            <a:ext cx="2377440" cy="402336"/>
          </a:xfrm>
          <a:prstGeom prst="rect">
            <a:avLst/>
          </a:prstGeom>
          <a:noFill/>
        </p:spPr>
        <p:txBody>
          <a:bodyPr wrap="square">
            <a:spAutoFit/>
          </a:bodyPr>
          <a:lstStyle/>
          <a:p>
            <a:pPr algn="ctr"/>
            <a:r>
              <a:rPr sz="950" b="0" i="0">
                <a:solidFill>
                  <a:srgbClr val="FFFFFF"/>
                </a:solidFill>
                <a:latin typeface="Segoe UI"/>
              </a:rPr>
              <a:t>Only intelligence-first platform</a:t>
            </a:r>
          </a:p>
        </p:txBody>
      </p:sp>
      <p:sp>
        <p:nvSpPr>
          <p:cNvPr id="37" name="Rectangle 36"/>
          <p:cNvSpPr/>
          <p:nvPr/>
        </p:nvSpPr>
        <p:spPr>
          <a:xfrm>
            <a:off x="384048" y="2761487"/>
            <a:ext cx="2011680"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8912" y="2871215"/>
            <a:ext cx="1920240" cy="402336"/>
          </a:xfrm>
          <a:prstGeom prst="rect">
            <a:avLst/>
          </a:prstGeom>
          <a:noFill/>
        </p:spPr>
        <p:txBody>
          <a:bodyPr wrap="square">
            <a:spAutoFit/>
          </a:bodyPr>
          <a:lstStyle/>
          <a:p>
            <a:pPr algn="ctr"/>
            <a:r>
              <a:rPr sz="1100" b="0" i="0">
                <a:solidFill>
                  <a:srgbClr val="FFFFFF"/>
                </a:solidFill>
                <a:latin typeface="Segoe UI"/>
              </a:rPr>
              <a:t>AdCreative.ai</a:t>
            </a:r>
          </a:p>
        </p:txBody>
      </p:sp>
      <p:sp>
        <p:nvSpPr>
          <p:cNvPr id="39" name="Rectangle 38"/>
          <p:cNvSpPr/>
          <p:nvPr/>
        </p:nvSpPr>
        <p:spPr>
          <a:xfrm>
            <a:off x="2441448" y="2761487"/>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496312" y="2871215"/>
            <a:ext cx="1170431" cy="402336"/>
          </a:xfrm>
          <a:prstGeom prst="rect">
            <a:avLst/>
          </a:prstGeom>
          <a:noFill/>
        </p:spPr>
        <p:txBody>
          <a:bodyPr wrap="square">
            <a:spAutoFit/>
          </a:bodyPr>
          <a:lstStyle/>
          <a:p>
            <a:pPr algn="ctr"/>
            <a:r>
              <a:rPr sz="1100" b="0" i="0">
                <a:solidFill>
                  <a:srgbClr val="EF4444"/>
                </a:solidFill>
                <a:latin typeface="Segoe UI"/>
              </a:rPr>
              <a:t>❌ None</a:t>
            </a:r>
          </a:p>
        </p:txBody>
      </p:sp>
      <p:sp>
        <p:nvSpPr>
          <p:cNvPr id="41" name="Rectangle 40"/>
          <p:cNvSpPr/>
          <p:nvPr/>
        </p:nvSpPr>
        <p:spPr>
          <a:xfrm>
            <a:off x="3749039" y="2761487"/>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03903" y="2871215"/>
            <a:ext cx="1170431" cy="402336"/>
          </a:xfrm>
          <a:prstGeom prst="rect">
            <a:avLst/>
          </a:prstGeom>
          <a:noFill/>
        </p:spPr>
        <p:txBody>
          <a:bodyPr wrap="square">
            <a:spAutoFit/>
          </a:bodyPr>
          <a:lstStyle/>
          <a:p>
            <a:pPr algn="ctr"/>
            <a:r>
              <a:rPr sz="1100" b="0" i="0">
                <a:solidFill>
                  <a:srgbClr val="22C55E"/>
                </a:solidFill>
                <a:latin typeface="Segoe UI"/>
              </a:rPr>
              <a:t>✅ SD</a:t>
            </a:r>
          </a:p>
        </p:txBody>
      </p:sp>
      <p:sp>
        <p:nvSpPr>
          <p:cNvPr id="43" name="Rectangle 42"/>
          <p:cNvSpPr/>
          <p:nvPr/>
        </p:nvSpPr>
        <p:spPr>
          <a:xfrm>
            <a:off x="5056631" y="2761487"/>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11495" y="2871215"/>
            <a:ext cx="1170431" cy="402336"/>
          </a:xfrm>
          <a:prstGeom prst="rect">
            <a:avLst/>
          </a:prstGeom>
          <a:noFill/>
        </p:spPr>
        <p:txBody>
          <a:bodyPr wrap="square">
            <a:spAutoFit/>
          </a:bodyPr>
          <a:lstStyle/>
          <a:p>
            <a:pPr algn="ctr"/>
            <a:r>
              <a:rPr sz="1100" b="0" i="0">
                <a:solidFill>
                  <a:srgbClr val="F59E0B"/>
                </a:solidFill>
                <a:latin typeface="Segoe UI"/>
              </a:rPr>
              <a:t>⚠️ Basic</a:t>
            </a:r>
          </a:p>
        </p:txBody>
      </p:sp>
      <p:sp>
        <p:nvSpPr>
          <p:cNvPr id="45" name="Rectangle 44"/>
          <p:cNvSpPr/>
          <p:nvPr/>
        </p:nvSpPr>
        <p:spPr>
          <a:xfrm>
            <a:off x="6364223" y="2761487"/>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9087" y="2871215"/>
            <a:ext cx="1170431" cy="402336"/>
          </a:xfrm>
          <a:prstGeom prst="rect">
            <a:avLst/>
          </a:prstGeom>
          <a:noFill/>
        </p:spPr>
        <p:txBody>
          <a:bodyPr wrap="square">
            <a:spAutoFit/>
          </a:bodyPr>
          <a:lstStyle/>
          <a:p>
            <a:pPr algn="ctr"/>
            <a:r>
              <a:rPr sz="1100" b="0" i="0">
                <a:solidFill>
                  <a:srgbClr val="EF4444"/>
                </a:solidFill>
                <a:latin typeface="Segoe UI"/>
              </a:rPr>
              <a:t>❌ No</a:t>
            </a:r>
          </a:p>
        </p:txBody>
      </p:sp>
      <p:sp>
        <p:nvSpPr>
          <p:cNvPr id="47" name="Rectangle 46"/>
          <p:cNvSpPr/>
          <p:nvPr/>
        </p:nvSpPr>
        <p:spPr>
          <a:xfrm>
            <a:off x="7671816" y="2761487"/>
            <a:ext cx="1097280"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26680" y="2871215"/>
            <a:ext cx="1005839" cy="402336"/>
          </a:xfrm>
          <a:prstGeom prst="rect">
            <a:avLst/>
          </a:prstGeom>
          <a:noFill/>
        </p:spPr>
        <p:txBody>
          <a:bodyPr wrap="square">
            <a:spAutoFit/>
          </a:bodyPr>
          <a:lstStyle/>
          <a:p>
            <a:pPr algn="ctr"/>
            <a:r>
              <a:rPr sz="1100" b="0" i="0">
                <a:solidFill>
                  <a:srgbClr val="BBB8D4"/>
                </a:solidFill>
                <a:latin typeface="Segoe UI"/>
              </a:rPr>
              <a:t>$29–149</a:t>
            </a:r>
          </a:p>
        </p:txBody>
      </p:sp>
      <p:sp>
        <p:nvSpPr>
          <p:cNvPr id="49" name="Rectangle 48"/>
          <p:cNvSpPr/>
          <p:nvPr/>
        </p:nvSpPr>
        <p:spPr>
          <a:xfrm>
            <a:off x="8814816" y="2761487"/>
            <a:ext cx="2468880"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0" y="2871215"/>
            <a:ext cx="2377440" cy="402336"/>
          </a:xfrm>
          <a:prstGeom prst="rect">
            <a:avLst/>
          </a:prstGeom>
          <a:noFill/>
        </p:spPr>
        <p:txBody>
          <a:bodyPr wrap="square">
            <a:spAutoFit/>
          </a:bodyPr>
          <a:lstStyle/>
          <a:p>
            <a:pPr algn="ctr"/>
            <a:r>
              <a:rPr sz="950" b="0" i="0">
                <a:solidFill>
                  <a:srgbClr val="BBB8D4"/>
                </a:solidFill>
                <a:latin typeface="Segoe UI"/>
              </a:rPr>
              <a:t>No research, template-only</a:t>
            </a:r>
          </a:p>
        </p:txBody>
      </p:sp>
      <p:sp>
        <p:nvSpPr>
          <p:cNvPr id="51" name="Rectangle 50"/>
          <p:cNvSpPr/>
          <p:nvPr/>
        </p:nvSpPr>
        <p:spPr>
          <a:xfrm>
            <a:off x="384048" y="3438144"/>
            <a:ext cx="2011680"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8912" y="3547872"/>
            <a:ext cx="1920240" cy="402336"/>
          </a:xfrm>
          <a:prstGeom prst="rect">
            <a:avLst/>
          </a:prstGeom>
          <a:noFill/>
        </p:spPr>
        <p:txBody>
          <a:bodyPr wrap="square">
            <a:spAutoFit/>
          </a:bodyPr>
          <a:lstStyle/>
          <a:p>
            <a:pPr algn="ctr"/>
            <a:r>
              <a:rPr sz="1100" b="0" i="0">
                <a:solidFill>
                  <a:srgbClr val="FFFFFF"/>
                </a:solidFill>
                <a:latin typeface="Segoe UI"/>
              </a:rPr>
              <a:t>Jasper AI</a:t>
            </a:r>
          </a:p>
        </p:txBody>
      </p:sp>
      <p:sp>
        <p:nvSpPr>
          <p:cNvPr id="53" name="Rectangle 52"/>
          <p:cNvSpPr/>
          <p:nvPr/>
        </p:nvSpPr>
        <p:spPr>
          <a:xfrm>
            <a:off x="2441448" y="3438144"/>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496312" y="3547872"/>
            <a:ext cx="1170431" cy="402336"/>
          </a:xfrm>
          <a:prstGeom prst="rect">
            <a:avLst/>
          </a:prstGeom>
          <a:noFill/>
        </p:spPr>
        <p:txBody>
          <a:bodyPr wrap="square">
            <a:spAutoFit/>
          </a:bodyPr>
          <a:lstStyle/>
          <a:p>
            <a:pPr algn="ctr"/>
            <a:r>
              <a:rPr sz="1100" b="0" i="0">
                <a:solidFill>
                  <a:srgbClr val="EF4444"/>
                </a:solidFill>
                <a:latin typeface="Segoe UI"/>
              </a:rPr>
              <a:t>❌ None</a:t>
            </a:r>
          </a:p>
        </p:txBody>
      </p:sp>
      <p:sp>
        <p:nvSpPr>
          <p:cNvPr id="55" name="Rectangle 54"/>
          <p:cNvSpPr/>
          <p:nvPr/>
        </p:nvSpPr>
        <p:spPr>
          <a:xfrm>
            <a:off x="3749039" y="3438144"/>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03903" y="3547872"/>
            <a:ext cx="1170431" cy="402336"/>
          </a:xfrm>
          <a:prstGeom prst="rect">
            <a:avLst/>
          </a:prstGeom>
          <a:noFill/>
        </p:spPr>
        <p:txBody>
          <a:bodyPr wrap="square">
            <a:spAutoFit/>
          </a:bodyPr>
          <a:lstStyle/>
          <a:p>
            <a:pPr algn="ctr"/>
            <a:r>
              <a:rPr sz="1100" b="0" i="0">
                <a:solidFill>
                  <a:srgbClr val="EF4444"/>
                </a:solidFill>
                <a:latin typeface="Segoe UI"/>
              </a:rPr>
              <a:t>❌ None</a:t>
            </a:r>
          </a:p>
        </p:txBody>
      </p:sp>
      <p:sp>
        <p:nvSpPr>
          <p:cNvPr id="57" name="Rectangle 56"/>
          <p:cNvSpPr/>
          <p:nvPr/>
        </p:nvSpPr>
        <p:spPr>
          <a:xfrm>
            <a:off x="5056631" y="3438144"/>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11495" y="3547872"/>
            <a:ext cx="1170431" cy="402336"/>
          </a:xfrm>
          <a:prstGeom prst="rect">
            <a:avLst/>
          </a:prstGeom>
          <a:noFill/>
        </p:spPr>
        <p:txBody>
          <a:bodyPr wrap="square">
            <a:spAutoFit/>
          </a:bodyPr>
          <a:lstStyle/>
          <a:p>
            <a:pPr algn="ctr"/>
            <a:r>
              <a:rPr sz="1100" b="0" i="0">
                <a:solidFill>
                  <a:srgbClr val="22C55E"/>
                </a:solidFill>
                <a:latin typeface="Segoe UI"/>
              </a:rPr>
              <a:t>✅ Strong</a:t>
            </a:r>
          </a:p>
        </p:txBody>
      </p:sp>
      <p:sp>
        <p:nvSpPr>
          <p:cNvPr id="59" name="Rectangle 58"/>
          <p:cNvSpPr/>
          <p:nvPr/>
        </p:nvSpPr>
        <p:spPr>
          <a:xfrm>
            <a:off x="6364223" y="3438144"/>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19087" y="3547872"/>
            <a:ext cx="1170431" cy="402336"/>
          </a:xfrm>
          <a:prstGeom prst="rect">
            <a:avLst/>
          </a:prstGeom>
          <a:noFill/>
        </p:spPr>
        <p:txBody>
          <a:bodyPr wrap="square">
            <a:spAutoFit/>
          </a:bodyPr>
          <a:lstStyle/>
          <a:p>
            <a:pPr algn="ctr"/>
            <a:r>
              <a:rPr sz="1100" b="0" i="0">
                <a:solidFill>
                  <a:srgbClr val="EF4444"/>
                </a:solidFill>
                <a:latin typeface="Segoe UI"/>
              </a:rPr>
              <a:t>❌ No</a:t>
            </a:r>
          </a:p>
        </p:txBody>
      </p:sp>
      <p:sp>
        <p:nvSpPr>
          <p:cNvPr id="61" name="Rectangle 60"/>
          <p:cNvSpPr/>
          <p:nvPr/>
        </p:nvSpPr>
        <p:spPr>
          <a:xfrm>
            <a:off x="7671816" y="3438144"/>
            <a:ext cx="1097280"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26680" y="3547872"/>
            <a:ext cx="1005839" cy="402336"/>
          </a:xfrm>
          <a:prstGeom prst="rect">
            <a:avLst/>
          </a:prstGeom>
          <a:noFill/>
        </p:spPr>
        <p:txBody>
          <a:bodyPr wrap="square">
            <a:spAutoFit/>
          </a:bodyPr>
          <a:lstStyle/>
          <a:p>
            <a:pPr algn="ctr"/>
            <a:r>
              <a:rPr sz="1100" b="0" i="0">
                <a:solidFill>
                  <a:srgbClr val="BBB8D4"/>
                </a:solidFill>
                <a:latin typeface="Segoe UI"/>
              </a:rPr>
              <a:t>$49–125</a:t>
            </a:r>
          </a:p>
        </p:txBody>
      </p:sp>
      <p:sp>
        <p:nvSpPr>
          <p:cNvPr id="63" name="Rectangle 62"/>
          <p:cNvSpPr/>
          <p:nvPr/>
        </p:nvSpPr>
        <p:spPr>
          <a:xfrm>
            <a:off x="8814816" y="3438144"/>
            <a:ext cx="2468880"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69680" y="3547872"/>
            <a:ext cx="2377440" cy="402336"/>
          </a:xfrm>
          <a:prstGeom prst="rect">
            <a:avLst/>
          </a:prstGeom>
          <a:noFill/>
        </p:spPr>
        <p:txBody>
          <a:bodyPr wrap="square">
            <a:spAutoFit/>
          </a:bodyPr>
          <a:lstStyle/>
          <a:p>
            <a:pPr algn="ctr"/>
            <a:r>
              <a:rPr sz="950" b="0" i="0">
                <a:solidFill>
                  <a:srgbClr val="BBB8D4"/>
                </a:solidFill>
                <a:latin typeface="Segoe UI"/>
              </a:rPr>
              <a:t>Writing only, no images</a:t>
            </a:r>
          </a:p>
        </p:txBody>
      </p:sp>
      <p:sp>
        <p:nvSpPr>
          <p:cNvPr id="65" name="Rectangle 64"/>
          <p:cNvSpPr/>
          <p:nvPr/>
        </p:nvSpPr>
        <p:spPr>
          <a:xfrm>
            <a:off x="384048" y="4114800"/>
            <a:ext cx="2011680"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38912" y="4224528"/>
            <a:ext cx="1920240" cy="402336"/>
          </a:xfrm>
          <a:prstGeom prst="rect">
            <a:avLst/>
          </a:prstGeom>
          <a:noFill/>
        </p:spPr>
        <p:txBody>
          <a:bodyPr wrap="square">
            <a:spAutoFit/>
          </a:bodyPr>
          <a:lstStyle/>
          <a:p>
            <a:pPr algn="ctr"/>
            <a:r>
              <a:rPr sz="1100" b="0" i="0">
                <a:solidFill>
                  <a:srgbClr val="FFFFFF"/>
                </a:solidFill>
                <a:latin typeface="Segoe UI"/>
              </a:rPr>
              <a:t>Canva AI</a:t>
            </a:r>
          </a:p>
        </p:txBody>
      </p:sp>
      <p:sp>
        <p:nvSpPr>
          <p:cNvPr id="67" name="Rectangle 66"/>
          <p:cNvSpPr/>
          <p:nvPr/>
        </p:nvSpPr>
        <p:spPr>
          <a:xfrm>
            <a:off x="2441448" y="4114800"/>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496312" y="4224528"/>
            <a:ext cx="1170431" cy="402336"/>
          </a:xfrm>
          <a:prstGeom prst="rect">
            <a:avLst/>
          </a:prstGeom>
          <a:noFill/>
        </p:spPr>
        <p:txBody>
          <a:bodyPr wrap="square">
            <a:spAutoFit/>
          </a:bodyPr>
          <a:lstStyle/>
          <a:p>
            <a:pPr algn="ctr"/>
            <a:r>
              <a:rPr sz="1100" b="0" i="0">
                <a:solidFill>
                  <a:srgbClr val="EF4444"/>
                </a:solidFill>
                <a:latin typeface="Segoe UI"/>
              </a:rPr>
              <a:t>❌ None</a:t>
            </a:r>
          </a:p>
        </p:txBody>
      </p:sp>
      <p:sp>
        <p:nvSpPr>
          <p:cNvPr id="69" name="Rectangle 68"/>
          <p:cNvSpPr/>
          <p:nvPr/>
        </p:nvSpPr>
        <p:spPr>
          <a:xfrm>
            <a:off x="3749039" y="4114800"/>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03903" y="4224528"/>
            <a:ext cx="1170431" cy="402336"/>
          </a:xfrm>
          <a:prstGeom prst="rect">
            <a:avLst/>
          </a:prstGeom>
          <a:noFill/>
        </p:spPr>
        <p:txBody>
          <a:bodyPr wrap="square">
            <a:spAutoFit/>
          </a:bodyPr>
          <a:lstStyle/>
          <a:p>
            <a:pPr algn="ctr"/>
            <a:r>
              <a:rPr sz="1100" b="0" i="0">
                <a:solidFill>
                  <a:srgbClr val="22C55E"/>
                </a:solidFill>
                <a:latin typeface="Segoe UI"/>
              </a:rPr>
              <a:t>✅ Design</a:t>
            </a:r>
          </a:p>
        </p:txBody>
      </p:sp>
      <p:sp>
        <p:nvSpPr>
          <p:cNvPr id="71" name="Rectangle 70"/>
          <p:cNvSpPr/>
          <p:nvPr/>
        </p:nvSpPr>
        <p:spPr>
          <a:xfrm>
            <a:off x="5056631" y="4114800"/>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111495" y="4224528"/>
            <a:ext cx="1170431" cy="402336"/>
          </a:xfrm>
          <a:prstGeom prst="rect">
            <a:avLst/>
          </a:prstGeom>
          <a:noFill/>
        </p:spPr>
        <p:txBody>
          <a:bodyPr wrap="square">
            <a:spAutoFit/>
          </a:bodyPr>
          <a:lstStyle/>
          <a:p>
            <a:pPr algn="ctr"/>
            <a:r>
              <a:rPr sz="1100" b="0" i="0">
                <a:solidFill>
                  <a:srgbClr val="F59E0B"/>
                </a:solidFill>
                <a:latin typeface="Segoe UI"/>
              </a:rPr>
              <a:t>⚠️ Weak</a:t>
            </a:r>
          </a:p>
        </p:txBody>
      </p:sp>
      <p:sp>
        <p:nvSpPr>
          <p:cNvPr id="73" name="Rectangle 72"/>
          <p:cNvSpPr/>
          <p:nvPr/>
        </p:nvSpPr>
        <p:spPr>
          <a:xfrm>
            <a:off x="6364223" y="4114800"/>
            <a:ext cx="1261872"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19087" y="4224528"/>
            <a:ext cx="1170431" cy="402336"/>
          </a:xfrm>
          <a:prstGeom prst="rect">
            <a:avLst/>
          </a:prstGeom>
          <a:noFill/>
        </p:spPr>
        <p:txBody>
          <a:bodyPr wrap="square">
            <a:spAutoFit/>
          </a:bodyPr>
          <a:lstStyle/>
          <a:p>
            <a:pPr algn="ctr"/>
            <a:r>
              <a:rPr sz="1100" b="0" i="0">
                <a:solidFill>
                  <a:srgbClr val="EF4444"/>
                </a:solidFill>
                <a:latin typeface="Segoe UI"/>
              </a:rPr>
              <a:t>❌ No</a:t>
            </a:r>
          </a:p>
        </p:txBody>
      </p:sp>
      <p:sp>
        <p:nvSpPr>
          <p:cNvPr id="75" name="Rectangle 74"/>
          <p:cNvSpPr/>
          <p:nvPr/>
        </p:nvSpPr>
        <p:spPr>
          <a:xfrm>
            <a:off x="7671816" y="4114800"/>
            <a:ext cx="1097280"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26680" y="4224528"/>
            <a:ext cx="1005839" cy="402336"/>
          </a:xfrm>
          <a:prstGeom prst="rect">
            <a:avLst/>
          </a:prstGeom>
          <a:noFill/>
        </p:spPr>
        <p:txBody>
          <a:bodyPr wrap="square">
            <a:spAutoFit/>
          </a:bodyPr>
          <a:lstStyle/>
          <a:p>
            <a:pPr algn="ctr"/>
            <a:r>
              <a:rPr sz="1100" b="0" i="0">
                <a:solidFill>
                  <a:srgbClr val="BBB8D4"/>
                </a:solidFill>
                <a:latin typeface="Segoe UI"/>
              </a:rPr>
              <a:t>$15–55</a:t>
            </a:r>
          </a:p>
        </p:txBody>
      </p:sp>
      <p:sp>
        <p:nvSpPr>
          <p:cNvPr id="77" name="Rectangle 76"/>
          <p:cNvSpPr/>
          <p:nvPr/>
        </p:nvSpPr>
        <p:spPr>
          <a:xfrm>
            <a:off x="8814816" y="4114800"/>
            <a:ext cx="2468880" cy="621792"/>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869680" y="4224528"/>
            <a:ext cx="2377440" cy="402336"/>
          </a:xfrm>
          <a:prstGeom prst="rect">
            <a:avLst/>
          </a:prstGeom>
          <a:noFill/>
        </p:spPr>
        <p:txBody>
          <a:bodyPr wrap="square">
            <a:spAutoFit/>
          </a:bodyPr>
          <a:lstStyle/>
          <a:p>
            <a:pPr algn="ctr"/>
            <a:r>
              <a:rPr sz="950" b="0" i="0">
                <a:solidFill>
                  <a:srgbClr val="BBB8D4"/>
                </a:solidFill>
                <a:latin typeface="Segoe UI"/>
              </a:rPr>
              <a:t>Designer tool, not advertiser</a:t>
            </a:r>
          </a:p>
        </p:txBody>
      </p:sp>
      <p:sp>
        <p:nvSpPr>
          <p:cNvPr id="79" name="Rectangle 78"/>
          <p:cNvSpPr/>
          <p:nvPr/>
        </p:nvSpPr>
        <p:spPr>
          <a:xfrm>
            <a:off x="384048" y="4791456"/>
            <a:ext cx="2011680"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38912" y="4901184"/>
            <a:ext cx="1920240" cy="402336"/>
          </a:xfrm>
          <a:prstGeom prst="rect">
            <a:avLst/>
          </a:prstGeom>
          <a:noFill/>
        </p:spPr>
        <p:txBody>
          <a:bodyPr wrap="square">
            <a:spAutoFit/>
          </a:bodyPr>
          <a:lstStyle/>
          <a:p>
            <a:pPr algn="ctr"/>
            <a:r>
              <a:rPr sz="1100" b="0" i="0">
                <a:solidFill>
                  <a:srgbClr val="FFFFFF"/>
                </a:solidFill>
                <a:latin typeface="Segoe UI"/>
              </a:rPr>
              <a:t>Copy.ai</a:t>
            </a:r>
          </a:p>
        </p:txBody>
      </p:sp>
      <p:sp>
        <p:nvSpPr>
          <p:cNvPr id="81" name="Rectangle 80"/>
          <p:cNvSpPr/>
          <p:nvPr/>
        </p:nvSpPr>
        <p:spPr>
          <a:xfrm>
            <a:off x="2441448" y="4791456"/>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496312" y="4901184"/>
            <a:ext cx="1170431" cy="402336"/>
          </a:xfrm>
          <a:prstGeom prst="rect">
            <a:avLst/>
          </a:prstGeom>
          <a:noFill/>
        </p:spPr>
        <p:txBody>
          <a:bodyPr wrap="square">
            <a:spAutoFit/>
          </a:bodyPr>
          <a:lstStyle/>
          <a:p>
            <a:pPr algn="ctr"/>
            <a:r>
              <a:rPr sz="1100" b="0" i="0">
                <a:solidFill>
                  <a:srgbClr val="EF4444"/>
                </a:solidFill>
                <a:latin typeface="Segoe UI"/>
              </a:rPr>
              <a:t>❌ None</a:t>
            </a:r>
          </a:p>
        </p:txBody>
      </p:sp>
      <p:sp>
        <p:nvSpPr>
          <p:cNvPr id="83" name="Rectangle 82"/>
          <p:cNvSpPr/>
          <p:nvPr/>
        </p:nvSpPr>
        <p:spPr>
          <a:xfrm>
            <a:off x="3749039" y="4791456"/>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803903" y="4901184"/>
            <a:ext cx="1170431" cy="402336"/>
          </a:xfrm>
          <a:prstGeom prst="rect">
            <a:avLst/>
          </a:prstGeom>
          <a:noFill/>
        </p:spPr>
        <p:txBody>
          <a:bodyPr wrap="square">
            <a:spAutoFit/>
          </a:bodyPr>
          <a:lstStyle/>
          <a:p>
            <a:pPr algn="ctr"/>
            <a:r>
              <a:rPr sz="1100" b="0" i="0">
                <a:solidFill>
                  <a:srgbClr val="EF4444"/>
                </a:solidFill>
                <a:latin typeface="Segoe UI"/>
              </a:rPr>
              <a:t>❌ None</a:t>
            </a:r>
          </a:p>
        </p:txBody>
      </p:sp>
      <p:sp>
        <p:nvSpPr>
          <p:cNvPr id="85" name="Rectangle 84"/>
          <p:cNvSpPr/>
          <p:nvPr/>
        </p:nvSpPr>
        <p:spPr>
          <a:xfrm>
            <a:off x="5056631" y="4791456"/>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111495" y="4901184"/>
            <a:ext cx="1170431" cy="402336"/>
          </a:xfrm>
          <a:prstGeom prst="rect">
            <a:avLst/>
          </a:prstGeom>
          <a:noFill/>
        </p:spPr>
        <p:txBody>
          <a:bodyPr wrap="square">
            <a:spAutoFit/>
          </a:bodyPr>
          <a:lstStyle/>
          <a:p>
            <a:pPr algn="ctr"/>
            <a:r>
              <a:rPr sz="1100" b="0" i="0">
                <a:solidFill>
                  <a:srgbClr val="22C55E"/>
                </a:solidFill>
                <a:latin typeface="Segoe UI"/>
              </a:rPr>
              <a:t>✅ Good</a:t>
            </a:r>
          </a:p>
        </p:txBody>
      </p:sp>
      <p:sp>
        <p:nvSpPr>
          <p:cNvPr id="87" name="Rectangle 86"/>
          <p:cNvSpPr/>
          <p:nvPr/>
        </p:nvSpPr>
        <p:spPr>
          <a:xfrm>
            <a:off x="6364223" y="4791456"/>
            <a:ext cx="1261872"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419087" y="4901184"/>
            <a:ext cx="1170431" cy="402336"/>
          </a:xfrm>
          <a:prstGeom prst="rect">
            <a:avLst/>
          </a:prstGeom>
          <a:noFill/>
        </p:spPr>
        <p:txBody>
          <a:bodyPr wrap="square">
            <a:spAutoFit/>
          </a:bodyPr>
          <a:lstStyle/>
          <a:p>
            <a:pPr algn="ctr"/>
            <a:r>
              <a:rPr sz="1100" b="0" i="0">
                <a:solidFill>
                  <a:srgbClr val="EF4444"/>
                </a:solidFill>
                <a:latin typeface="Segoe UI"/>
              </a:rPr>
              <a:t>❌ No</a:t>
            </a:r>
          </a:p>
        </p:txBody>
      </p:sp>
      <p:sp>
        <p:nvSpPr>
          <p:cNvPr id="89" name="Rectangle 88"/>
          <p:cNvSpPr/>
          <p:nvPr/>
        </p:nvSpPr>
        <p:spPr>
          <a:xfrm>
            <a:off x="7671816" y="4791456"/>
            <a:ext cx="1097280"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726680" y="4901184"/>
            <a:ext cx="1005839" cy="402336"/>
          </a:xfrm>
          <a:prstGeom prst="rect">
            <a:avLst/>
          </a:prstGeom>
          <a:noFill/>
        </p:spPr>
        <p:txBody>
          <a:bodyPr wrap="square">
            <a:spAutoFit/>
          </a:bodyPr>
          <a:lstStyle/>
          <a:p>
            <a:pPr algn="ctr"/>
            <a:r>
              <a:rPr sz="1100" b="0" i="0">
                <a:solidFill>
                  <a:srgbClr val="BBB8D4"/>
                </a:solidFill>
                <a:latin typeface="Segoe UI"/>
              </a:rPr>
              <a:t>$49–249</a:t>
            </a:r>
          </a:p>
        </p:txBody>
      </p:sp>
      <p:sp>
        <p:nvSpPr>
          <p:cNvPr id="91" name="Rectangle 90"/>
          <p:cNvSpPr/>
          <p:nvPr/>
        </p:nvSpPr>
        <p:spPr>
          <a:xfrm>
            <a:off x="8814816" y="4791456"/>
            <a:ext cx="2468880" cy="62179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869680" y="4901184"/>
            <a:ext cx="2377440" cy="402336"/>
          </a:xfrm>
          <a:prstGeom prst="rect">
            <a:avLst/>
          </a:prstGeom>
          <a:noFill/>
        </p:spPr>
        <p:txBody>
          <a:bodyPr wrap="square">
            <a:spAutoFit/>
          </a:bodyPr>
          <a:lstStyle/>
          <a:p>
            <a:pPr algn="ctr"/>
            <a:r>
              <a:rPr sz="950" b="0" i="0">
                <a:solidFill>
                  <a:srgbClr val="BBB8D4"/>
                </a:solidFill>
                <a:latin typeface="Segoe UI"/>
              </a:rPr>
              <a:t>Copy only, no strategy</a:t>
            </a:r>
          </a:p>
        </p:txBody>
      </p:sp>
      <p:sp>
        <p:nvSpPr>
          <p:cNvPr id="93" name="Rectangle 92"/>
          <p:cNvSpPr/>
          <p:nvPr/>
        </p:nvSpPr>
        <p:spPr>
          <a:xfrm>
            <a:off x="384048" y="5486400"/>
            <a:ext cx="11411712" cy="50292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94" name="TextBox 93"/>
          <p:cNvSpPr txBox="1"/>
          <p:nvPr/>
        </p:nvSpPr>
        <p:spPr>
          <a:xfrm>
            <a:off x="548640" y="5486400"/>
            <a:ext cx="11155680" cy="502920"/>
          </a:xfrm>
          <a:prstGeom prst="rect">
            <a:avLst/>
          </a:prstGeom>
          <a:noFill/>
        </p:spPr>
        <p:txBody>
          <a:bodyPr wrap="square">
            <a:spAutoFit/>
          </a:bodyPr>
          <a:lstStyle/>
          <a:p>
            <a:pPr algn="ctr"/>
            <a:r>
              <a:rPr sz="1250" b="1" i="0">
                <a:solidFill>
                  <a:srgbClr val="FFFFFF"/>
                </a:solidFill>
                <a:latin typeface="Segoe UI Semibold"/>
              </a:rPr>
              <a:t>💡  Key Insight: Every competitor assumes you already know your customer. Crelix is the only platform that finds out for you first.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09</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BUSINESS MODEL</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10</a:t>
            </a:r>
          </a:p>
        </p:txBody>
      </p:sp>
      <p:sp>
        <p:nvSpPr>
          <p:cNvPr id="7" name="TextBox 6"/>
          <p:cNvSpPr txBox="1"/>
          <p:nvPr/>
        </p:nvSpPr>
        <p:spPr>
          <a:xfrm>
            <a:off x="502920" y="822960"/>
            <a:ext cx="11155680" cy="384048"/>
          </a:xfrm>
          <a:prstGeom prst="rect">
            <a:avLst/>
          </a:prstGeom>
          <a:noFill/>
        </p:spPr>
        <p:txBody>
          <a:bodyPr wrap="square">
            <a:spAutoFit/>
          </a:bodyPr>
          <a:lstStyle/>
          <a:p>
            <a:pPr algn="ctr"/>
            <a:r>
              <a:rPr sz="1700" b="0" i="0">
                <a:solidFill>
                  <a:srgbClr val="BBB8D4"/>
                </a:solidFill>
                <a:latin typeface="Segoe UI"/>
              </a:rPr>
              <a:t>Subscription SaaS — three tiers aligned to customer segment value.</a:t>
            </a:r>
          </a:p>
        </p:txBody>
      </p:sp>
      <p:sp>
        <p:nvSpPr>
          <p:cNvPr id="8" name="Rounded Rectangle 7"/>
          <p:cNvSpPr/>
          <p:nvPr/>
        </p:nvSpPr>
        <p:spPr>
          <a:xfrm>
            <a:off x="502920" y="1353312"/>
            <a:ext cx="3657600" cy="513892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53312"/>
            <a:ext cx="365760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6E3DFF"/>
            </a:gs>
          </a:gsLst>
          <a:lin ang="0" scaled="0"/>
        </a:gradFill>
      </p:sp>
      <p:sp>
        <p:nvSpPr>
          <p:cNvPr id="10" name="TextBox 9"/>
          <p:cNvSpPr txBox="1"/>
          <p:nvPr/>
        </p:nvSpPr>
        <p:spPr>
          <a:xfrm>
            <a:off x="685800" y="1517904"/>
            <a:ext cx="3291840" cy="347472"/>
          </a:xfrm>
          <a:prstGeom prst="rect">
            <a:avLst/>
          </a:prstGeom>
          <a:noFill/>
        </p:spPr>
        <p:txBody>
          <a:bodyPr wrap="square">
            <a:spAutoFit/>
          </a:bodyPr>
          <a:lstStyle/>
          <a:p>
            <a:pPr algn="ctr"/>
            <a:r>
              <a:rPr sz="1100" b="1" i="0">
                <a:solidFill>
                  <a:srgbClr val="6E3DFF"/>
                </a:solidFill>
                <a:latin typeface="Segoe UI Black"/>
              </a:rPr>
              <a:t>STARTER</a:t>
            </a:r>
          </a:p>
        </p:txBody>
      </p:sp>
      <p:sp>
        <p:nvSpPr>
          <p:cNvPr id="11" name="TextBox 10"/>
          <p:cNvSpPr txBox="1"/>
          <p:nvPr/>
        </p:nvSpPr>
        <p:spPr>
          <a:xfrm>
            <a:off x="685800" y="1856232"/>
            <a:ext cx="3291840" cy="749808"/>
          </a:xfrm>
          <a:prstGeom prst="rect">
            <a:avLst/>
          </a:prstGeom>
          <a:noFill/>
        </p:spPr>
        <p:txBody>
          <a:bodyPr wrap="square">
            <a:spAutoFit/>
          </a:bodyPr>
          <a:lstStyle/>
          <a:p>
            <a:pPr algn="ctr"/>
            <a:r>
              <a:rPr sz="4800" b="1" i="0">
                <a:solidFill>
                  <a:srgbClr val="FFFFFF"/>
                </a:solidFill>
                <a:latin typeface="Segoe UI Black"/>
              </a:rPr>
              <a:t>$49</a:t>
            </a:r>
          </a:p>
        </p:txBody>
      </p:sp>
      <p:sp>
        <p:nvSpPr>
          <p:cNvPr id="12" name="TextBox 11"/>
          <p:cNvSpPr txBox="1"/>
          <p:nvPr/>
        </p:nvSpPr>
        <p:spPr>
          <a:xfrm>
            <a:off x="685800" y="2587752"/>
            <a:ext cx="3291840" cy="274320"/>
          </a:xfrm>
          <a:prstGeom prst="rect">
            <a:avLst/>
          </a:prstGeom>
          <a:noFill/>
        </p:spPr>
        <p:txBody>
          <a:bodyPr wrap="square">
            <a:spAutoFit/>
          </a:bodyPr>
          <a:lstStyle/>
          <a:p>
            <a:pPr algn="ctr"/>
            <a:r>
              <a:rPr sz="1200" b="0" i="0">
                <a:solidFill>
                  <a:srgbClr val="777397"/>
                </a:solidFill>
                <a:latin typeface="Segoe UI"/>
              </a:rPr>
              <a:t>/month</a:t>
            </a:r>
          </a:p>
        </p:txBody>
      </p:sp>
      <p:sp>
        <p:nvSpPr>
          <p:cNvPr id="13" name="Rectangle 12"/>
          <p:cNvSpPr/>
          <p:nvPr/>
        </p:nvSpPr>
        <p:spPr>
          <a:xfrm>
            <a:off x="685800" y="2907791"/>
            <a:ext cx="3291840" cy="27432"/>
          </a:xfrm>
          <a:prstGeom prst="rect">
            <a:avLst/>
          </a:prstGeom>
          <a:solidFill>
            <a:srgbClr val="2A1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017520"/>
            <a:ext cx="3291840" cy="640080"/>
          </a:xfrm>
          <a:prstGeom prst="rect">
            <a:avLst/>
          </a:prstGeom>
          <a:noFill/>
        </p:spPr>
        <p:txBody>
          <a:bodyPr wrap="square">
            <a:spAutoFit/>
          </a:bodyPr>
          <a:lstStyle/>
          <a:p>
            <a:pPr algn="ctr"/>
            <a:r>
              <a:rPr sz="1050" b="0" i="0">
                <a:solidFill>
                  <a:srgbClr val="BBB8D4"/>
                </a:solidFill>
                <a:latin typeface="Segoe UI"/>
              </a:rPr>
              <a:t>For independent business owners and solopreneurs running their own ads.</a:t>
            </a:r>
          </a:p>
        </p:txBody>
      </p:sp>
      <p:sp>
        <p:nvSpPr>
          <p:cNvPr id="15" name="TextBox 14"/>
          <p:cNvSpPr txBox="1"/>
          <p:nvPr/>
        </p:nvSpPr>
        <p:spPr>
          <a:xfrm>
            <a:off x="704088" y="3749039"/>
            <a:ext cx="274320" cy="347472"/>
          </a:xfrm>
          <a:prstGeom prst="rect">
            <a:avLst/>
          </a:prstGeom>
          <a:noFill/>
        </p:spPr>
        <p:txBody>
          <a:bodyPr wrap="square">
            <a:spAutoFit/>
          </a:bodyPr>
          <a:lstStyle/>
          <a:p>
            <a:pPr algn="l"/>
            <a:r>
              <a:rPr sz="1100" b="1" i="0">
                <a:solidFill>
                  <a:srgbClr val="6E3DFF"/>
                </a:solidFill>
                <a:latin typeface="Segoe UI"/>
              </a:rPr>
              <a:t>✓</a:t>
            </a:r>
          </a:p>
        </p:txBody>
      </p:sp>
      <p:sp>
        <p:nvSpPr>
          <p:cNvPr id="16" name="TextBox 15"/>
          <p:cNvSpPr txBox="1"/>
          <p:nvPr/>
        </p:nvSpPr>
        <p:spPr>
          <a:xfrm>
            <a:off x="978408" y="3749039"/>
            <a:ext cx="2999232" cy="347472"/>
          </a:xfrm>
          <a:prstGeom prst="rect">
            <a:avLst/>
          </a:prstGeom>
          <a:noFill/>
        </p:spPr>
        <p:txBody>
          <a:bodyPr wrap="square">
            <a:spAutoFit/>
          </a:bodyPr>
          <a:lstStyle/>
          <a:p>
            <a:pPr algn="l"/>
            <a:r>
              <a:rPr sz="1100" b="0" i="0">
                <a:solidFill>
                  <a:srgbClr val="FFFFFF"/>
                </a:solidFill>
                <a:latin typeface="Segoe UI"/>
              </a:rPr>
              <a:t>10 Marketing Brains / month</a:t>
            </a:r>
          </a:p>
        </p:txBody>
      </p:sp>
      <p:sp>
        <p:nvSpPr>
          <p:cNvPr id="17" name="TextBox 16"/>
          <p:cNvSpPr txBox="1"/>
          <p:nvPr/>
        </p:nvSpPr>
        <p:spPr>
          <a:xfrm>
            <a:off x="704088" y="4169663"/>
            <a:ext cx="274320" cy="347472"/>
          </a:xfrm>
          <a:prstGeom prst="rect">
            <a:avLst/>
          </a:prstGeom>
          <a:noFill/>
        </p:spPr>
        <p:txBody>
          <a:bodyPr wrap="square">
            <a:spAutoFit/>
          </a:bodyPr>
          <a:lstStyle/>
          <a:p>
            <a:pPr algn="l"/>
            <a:r>
              <a:rPr sz="1100" b="1" i="0">
                <a:solidFill>
                  <a:srgbClr val="6E3DFF"/>
                </a:solidFill>
                <a:latin typeface="Segoe UI"/>
              </a:rPr>
              <a:t>✓</a:t>
            </a:r>
          </a:p>
        </p:txBody>
      </p:sp>
      <p:sp>
        <p:nvSpPr>
          <p:cNvPr id="18" name="TextBox 17"/>
          <p:cNvSpPr txBox="1"/>
          <p:nvPr/>
        </p:nvSpPr>
        <p:spPr>
          <a:xfrm>
            <a:off x="978408" y="4169663"/>
            <a:ext cx="2999232" cy="347472"/>
          </a:xfrm>
          <a:prstGeom prst="rect">
            <a:avLst/>
          </a:prstGeom>
          <a:noFill/>
        </p:spPr>
        <p:txBody>
          <a:bodyPr wrap="square">
            <a:spAutoFit/>
          </a:bodyPr>
          <a:lstStyle/>
          <a:p>
            <a:pPr algn="l"/>
            <a:r>
              <a:rPr sz="1100" b="0" i="0">
                <a:solidFill>
                  <a:srgbClr val="FFFFFF"/>
                </a:solidFill>
                <a:latin typeface="Segoe UI"/>
              </a:rPr>
              <a:t>20 ad creatives / month</a:t>
            </a:r>
          </a:p>
        </p:txBody>
      </p:sp>
      <p:sp>
        <p:nvSpPr>
          <p:cNvPr id="19" name="TextBox 18"/>
          <p:cNvSpPr txBox="1"/>
          <p:nvPr/>
        </p:nvSpPr>
        <p:spPr>
          <a:xfrm>
            <a:off x="704088" y="4590288"/>
            <a:ext cx="274320" cy="347472"/>
          </a:xfrm>
          <a:prstGeom prst="rect">
            <a:avLst/>
          </a:prstGeom>
          <a:noFill/>
        </p:spPr>
        <p:txBody>
          <a:bodyPr wrap="square">
            <a:spAutoFit/>
          </a:bodyPr>
          <a:lstStyle/>
          <a:p>
            <a:pPr algn="l"/>
            <a:r>
              <a:rPr sz="1100" b="1" i="0">
                <a:solidFill>
                  <a:srgbClr val="6E3DFF"/>
                </a:solidFill>
                <a:latin typeface="Segoe UI"/>
              </a:rPr>
              <a:t>✓</a:t>
            </a:r>
          </a:p>
        </p:txBody>
      </p:sp>
      <p:sp>
        <p:nvSpPr>
          <p:cNvPr id="20" name="TextBox 19"/>
          <p:cNvSpPr txBox="1"/>
          <p:nvPr/>
        </p:nvSpPr>
        <p:spPr>
          <a:xfrm>
            <a:off x="978408" y="4590288"/>
            <a:ext cx="2999232" cy="347472"/>
          </a:xfrm>
          <a:prstGeom prst="rect">
            <a:avLst/>
          </a:prstGeom>
          <a:noFill/>
        </p:spPr>
        <p:txBody>
          <a:bodyPr wrap="square">
            <a:spAutoFit/>
          </a:bodyPr>
          <a:lstStyle/>
          <a:p>
            <a:pPr algn="l"/>
            <a:r>
              <a:rPr sz="1100" b="0" i="0">
                <a:solidFill>
                  <a:srgbClr val="FFFFFF"/>
                </a:solidFill>
                <a:latin typeface="Segoe UI"/>
              </a:rPr>
              <a:t>2 platform modes</a:t>
            </a:r>
          </a:p>
        </p:txBody>
      </p:sp>
      <p:sp>
        <p:nvSpPr>
          <p:cNvPr id="21" name="TextBox 20"/>
          <p:cNvSpPr txBox="1"/>
          <p:nvPr/>
        </p:nvSpPr>
        <p:spPr>
          <a:xfrm>
            <a:off x="704088" y="5010912"/>
            <a:ext cx="274320" cy="347472"/>
          </a:xfrm>
          <a:prstGeom prst="rect">
            <a:avLst/>
          </a:prstGeom>
          <a:noFill/>
        </p:spPr>
        <p:txBody>
          <a:bodyPr wrap="square">
            <a:spAutoFit/>
          </a:bodyPr>
          <a:lstStyle/>
          <a:p>
            <a:pPr algn="l"/>
            <a:r>
              <a:rPr sz="1100" b="1" i="0">
                <a:solidFill>
                  <a:srgbClr val="6E3DFF"/>
                </a:solidFill>
                <a:latin typeface="Segoe UI"/>
              </a:rPr>
              <a:t>✓</a:t>
            </a:r>
          </a:p>
        </p:txBody>
      </p:sp>
      <p:sp>
        <p:nvSpPr>
          <p:cNvPr id="22" name="TextBox 21"/>
          <p:cNvSpPr txBox="1"/>
          <p:nvPr/>
        </p:nvSpPr>
        <p:spPr>
          <a:xfrm>
            <a:off x="978408" y="5010912"/>
            <a:ext cx="2999232" cy="347472"/>
          </a:xfrm>
          <a:prstGeom prst="rect">
            <a:avLst/>
          </a:prstGeom>
          <a:noFill/>
        </p:spPr>
        <p:txBody>
          <a:bodyPr wrap="square">
            <a:spAutoFit/>
          </a:bodyPr>
          <a:lstStyle/>
          <a:p>
            <a:pPr algn="l"/>
            <a:r>
              <a:rPr sz="1100" b="0" i="0">
                <a:solidFill>
                  <a:srgbClr val="FFFFFF"/>
                </a:solidFill>
                <a:latin typeface="Segoe UI"/>
              </a:rPr>
              <a:t>All 10 visual themes</a:t>
            </a:r>
          </a:p>
        </p:txBody>
      </p:sp>
      <p:sp>
        <p:nvSpPr>
          <p:cNvPr id="23" name="TextBox 22"/>
          <p:cNvSpPr txBox="1"/>
          <p:nvPr/>
        </p:nvSpPr>
        <p:spPr>
          <a:xfrm>
            <a:off x="704088" y="5431536"/>
            <a:ext cx="274320" cy="347472"/>
          </a:xfrm>
          <a:prstGeom prst="rect">
            <a:avLst/>
          </a:prstGeom>
          <a:noFill/>
        </p:spPr>
        <p:txBody>
          <a:bodyPr wrap="square">
            <a:spAutoFit/>
          </a:bodyPr>
          <a:lstStyle/>
          <a:p>
            <a:pPr algn="l"/>
            <a:r>
              <a:rPr sz="1100" b="1" i="0">
                <a:solidFill>
                  <a:srgbClr val="6E3DFF"/>
                </a:solidFill>
                <a:latin typeface="Segoe UI"/>
              </a:rPr>
              <a:t>✓</a:t>
            </a:r>
          </a:p>
        </p:txBody>
      </p:sp>
      <p:sp>
        <p:nvSpPr>
          <p:cNvPr id="24" name="TextBox 23"/>
          <p:cNvSpPr txBox="1"/>
          <p:nvPr/>
        </p:nvSpPr>
        <p:spPr>
          <a:xfrm>
            <a:off x="978408" y="5431536"/>
            <a:ext cx="2999232" cy="347472"/>
          </a:xfrm>
          <a:prstGeom prst="rect">
            <a:avLst/>
          </a:prstGeom>
          <a:noFill/>
        </p:spPr>
        <p:txBody>
          <a:bodyPr wrap="square">
            <a:spAutoFit/>
          </a:bodyPr>
          <a:lstStyle/>
          <a:p>
            <a:pPr algn="l"/>
            <a:r>
              <a:rPr sz="1100" b="0" i="0">
                <a:solidFill>
                  <a:srgbClr val="FFFFFF"/>
                </a:solidFill>
                <a:latin typeface="Segoe UI"/>
              </a:rPr>
              <a:t>Email support</a:t>
            </a:r>
          </a:p>
        </p:txBody>
      </p:sp>
      <p:sp>
        <p:nvSpPr>
          <p:cNvPr id="25" name="Rectangle 24"/>
          <p:cNvSpPr/>
          <p:nvPr/>
        </p:nvSpPr>
        <p:spPr>
          <a:xfrm>
            <a:off x="4352544" y="1124712"/>
            <a:ext cx="3749039" cy="5413248"/>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98264" y="1170432"/>
            <a:ext cx="3657600" cy="532180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8264" y="1170432"/>
            <a:ext cx="365760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FF4FCB"/>
            </a:gs>
            <a:gs pos="100000">
              <a:srgbClr val="FF4FCB"/>
            </a:gs>
          </a:gsLst>
          <a:lin ang="0" scaled="0"/>
        </a:gradFill>
      </p:sp>
      <p:sp>
        <p:nvSpPr>
          <p:cNvPr id="28" name="Rounded Rectangle 27"/>
          <p:cNvSpPr/>
          <p:nvPr/>
        </p:nvSpPr>
        <p:spPr>
          <a:xfrm>
            <a:off x="5495544" y="877824"/>
            <a:ext cx="1463040" cy="256032"/>
          </a:xfrm>
          <a:prstGeom prst="round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MOST POPULAR</a:t>
            </a:r>
          </a:p>
        </p:txBody>
      </p:sp>
      <p:sp>
        <p:nvSpPr>
          <p:cNvPr id="29" name="TextBox 28"/>
          <p:cNvSpPr txBox="1"/>
          <p:nvPr/>
        </p:nvSpPr>
        <p:spPr>
          <a:xfrm>
            <a:off x="4581144" y="1335024"/>
            <a:ext cx="3291840" cy="347472"/>
          </a:xfrm>
          <a:prstGeom prst="rect">
            <a:avLst/>
          </a:prstGeom>
          <a:noFill/>
        </p:spPr>
        <p:txBody>
          <a:bodyPr wrap="square">
            <a:spAutoFit/>
          </a:bodyPr>
          <a:lstStyle/>
          <a:p>
            <a:pPr algn="ctr"/>
            <a:r>
              <a:rPr sz="1100" b="1" i="0">
                <a:solidFill>
                  <a:srgbClr val="FF4FCB"/>
                </a:solidFill>
                <a:latin typeface="Segoe UI Black"/>
              </a:rPr>
              <a:t>PRO</a:t>
            </a:r>
          </a:p>
        </p:txBody>
      </p:sp>
      <p:sp>
        <p:nvSpPr>
          <p:cNvPr id="30" name="TextBox 29"/>
          <p:cNvSpPr txBox="1"/>
          <p:nvPr/>
        </p:nvSpPr>
        <p:spPr>
          <a:xfrm>
            <a:off x="4581144" y="1673352"/>
            <a:ext cx="3291840" cy="749808"/>
          </a:xfrm>
          <a:prstGeom prst="rect">
            <a:avLst/>
          </a:prstGeom>
          <a:noFill/>
        </p:spPr>
        <p:txBody>
          <a:bodyPr wrap="square">
            <a:spAutoFit/>
          </a:bodyPr>
          <a:lstStyle/>
          <a:p>
            <a:pPr algn="ctr"/>
            <a:r>
              <a:rPr sz="4800" b="1" i="0">
                <a:solidFill>
                  <a:srgbClr val="FFFFFF"/>
                </a:solidFill>
                <a:latin typeface="Segoe UI Black"/>
              </a:rPr>
              <a:t>$149</a:t>
            </a:r>
          </a:p>
        </p:txBody>
      </p:sp>
      <p:sp>
        <p:nvSpPr>
          <p:cNvPr id="31" name="TextBox 30"/>
          <p:cNvSpPr txBox="1"/>
          <p:nvPr/>
        </p:nvSpPr>
        <p:spPr>
          <a:xfrm>
            <a:off x="4581144" y="2404872"/>
            <a:ext cx="3291840" cy="274320"/>
          </a:xfrm>
          <a:prstGeom prst="rect">
            <a:avLst/>
          </a:prstGeom>
          <a:noFill/>
        </p:spPr>
        <p:txBody>
          <a:bodyPr wrap="square">
            <a:spAutoFit/>
          </a:bodyPr>
          <a:lstStyle/>
          <a:p>
            <a:pPr algn="ctr"/>
            <a:r>
              <a:rPr sz="1200" b="0" i="0">
                <a:solidFill>
                  <a:srgbClr val="777397"/>
                </a:solidFill>
                <a:latin typeface="Segoe UI"/>
              </a:rPr>
              <a:t>/month</a:t>
            </a:r>
          </a:p>
        </p:txBody>
      </p:sp>
      <p:sp>
        <p:nvSpPr>
          <p:cNvPr id="32" name="Rectangle 31"/>
          <p:cNvSpPr/>
          <p:nvPr/>
        </p:nvSpPr>
        <p:spPr>
          <a:xfrm>
            <a:off x="4581144" y="2724912"/>
            <a:ext cx="3291840" cy="27432"/>
          </a:xfrm>
          <a:prstGeom prst="rect">
            <a:avLst/>
          </a:prstGeom>
          <a:solidFill>
            <a:srgbClr val="2A1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81144" y="2834640"/>
            <a:ext cx="3291840" cy="640080"/>
          </a:xfrm>
          <a:prstGeom prst="rect">
            <a:avLst/>
          </a:prstGeom>
          <a:noFill/>
        </p:spPr>
        <p:txBody>
          <a:bodyPr wrap="square">
            <a:spAutoFit/>
          </a:bodyPr>
          <a:lstStyle/>
          <a:p>
            <a:pPr algn="ctr"/>
            <a:r>
              <a:rPr sz="1050" b="0" i="0">
                <a:solidFill>
                  <a:srgbClr val="BBB8D4"/>
                </a:solidFill>
                <a:latin typeface="Segoe UI"/>
              </a:rPr>
              <a:t>For in-house marketing teams needing volume and campaign strategy tools.</a:t>
            </a:r>
          </a:p>
        </p:txBody>
      </p:sp>
      <p:sp>
        <p:nvSpPr>
          <p:cNvPr id="34" name="TextBox 33"/>
          <p:cNvSpPr txBox="1"/>
          <p:nvPr/>
        </p:nvSpPr>
        <p:spPr>
          <a:xfrm>
            <a:off x="4599431" y="3566160"/>
            <a:ext cx="274320" cy="347472"/>
          </a:xfrm>
          <a:prstGeom prst="rect">
            <a:avLst/>
          </a:prstGeom>
          <a:noFill/>
        </p:spPr>
        <p:txBody>
          <a:bodyPr wrap="square">
            <a:spAutoFit/>
          </a:bodyPr>
          <a:lstStyle/>
          <a:p>
            <a:pPr algn="l"/>
            <a:r>
              <a:rPr sz="1100" b="1" i="0">
                <a:solidFill>
                  <a:srgbClr val="FF4FCB"/>
                </a:solidFill>
                <a:latin typeface="Segoe UI"/>
              </a:rPr>
              <a:t>✓</a:t>
            </a:r>
          </a:p>
        </p:txBody>
      </p:sp>
      <p:sp>
        <p:nvSpPr>
          <p:cNvPr id="35" name="TextBox 34"/>
          <p:cNvSpPr txBox="1"/>
          <p:nvPr/>
        </p:nvSpPr>
        <p:spPr>
          <a:xfrm>
            <a:off x="4873752" y="3566160"/>
            <a:ext cx="2999232" cy="347472"/>
          </a:xfrm>
          <a:prstGeom prst="rect">
            <a:avLst/>
          </a:prstGeom>
          <a:noFill/>
        </p:spPr>
        <p:txBody>
          <a:bodyPr wrap="square">
            <a:spAutoFit/>
          </a:bodyPr>
          <a:lstStyle/>
          <a:p>
            <a:pPr algn="l"/>
            <a:r>
              <a:rPr sz="1100" b="0" i="0">
                <a:solidFill>
                  <a:srgbClr val="FFFFFF"/>
                </a:solidFill>
                <a:latin typeface="Segoe UI"/>
              </a:rPr>
              <a:t>Unlimited Marketing Brains</a:t>
            </a:r>
          </a:p>
        </p:txBody>
      </p:sp>
      <p:sp>
        <p:nvSpPr>
          <p:cNvPr id="36" name="TextBox 35"/>
          <p:cNvSpPr txBox="1"/>
          <p:nvPr/>
        </p:nvSpPr>
        <p:spPr>
          <a:xfrm>
            <a:off x="4599431" y="3986784"/>
            <a:ext cx="274320" cy="347472"/>
          </a:xfrm>
          <a:prstGeom prst="rect">
            <a:avLst/>
          </a:prstGeom>
          <a:noFill/>
        </p:spPr>
        <p:txBody>
          <a:bodyPr wrap="square">
            <a:spAutoFit/>
          </a:bodyPr>
          <a:lstStyle/>
          <a:p>
            <a:pPr algn="l"/>
            <a:r>
              <a:rPr sz="1100" b="1" i="0">
                <a:solidFill>
                  <a:srgbClr val="FF4FCB"/>
                </a:solidFill>
                <a:latin typeface="Segoe UI"/>
              </a:rPr>
              <a:t>✓</a:t>
            </a:r>
          </a:p>
        </p:txBody>
      </p:sp>
      <p:sp>
        <p:nvSpPr>
          <p:cNvPr id="37" name="TextBox 36"/>
          <p:cNvSpPr txBox="1"/>
          <p:nvPr/>
        </p:nvSpPr>
        <p:spPr>
          <a:xfrm>
            <a:off x="4873752" y="3986784"/>
            <a:ext cx="2999232" cy="347472"/>
          </a:xfrm>
          <a:prstGeom prst="rect">
            <a:avLst/>
          </a:prstGeom>
          <a:noFill/>
        </p:spPr>
        <p:txBody>
          <a:bodyPr wrap="square">
            <a:spAutoFit/>
          </a:bodyPr>
          <a:lstStyle/>
          <a:p>
            <a:pPr algn="l"/>
            <a:r>
              <a:rPr sz="1100" b="0" i="0">
                <a:solidFill>
                  <a:srgbClr val="FFFFFF"/>
                </a:solidFill>
                <a:latin typeface="Segoe UI"/>
              </a:rPr>
              <a:t>100 creatives / month</a:t>
            </a:r>
          </a:p>
        </p:txBody>
      </p:sp>
      <p:sp>
        <p:nvSpPr>
          <p:cNvPr id="38" name="TextBox 37"/>
          <p:cNvSpPr txBox="1"/>
          <p:nvPr/>
        </p:nvSpPr>
        <p:spPr>
          <a:xfrm>
            <a:off x="4599431" y="4407408"/>
            <a:ext cx="274320" cy="347472"/>
          </a:xfrm>
          <a:prstGeom prst="rect">
            <a:avLst/>
          </a:prstGeom>
          <a:noFill/>
        </p:spPr>
        <p:txBody>
          <a:bodyPr wrap="square">
            <a:spAutoFit/>
          </a:bodyPr>
          <a:lstStyle/>
          <a:p>
            <a:pPr algn="l"/>
            <a:r>
              <a:rPr sz="1100" b="1" i="0">
                <a:solidFill>
                  <a:srgbClr val="FF4FCB"/>
                </a:solidFill>
                <a:latin typeface="Segoe UI"/>
              </a:rPr>
              <a:t>✓</a:t>
            </a:r>
          </a:p>
        </p:txBody>
      </p:sp>
      <p:sp>
        <p:nvSpPr>
          <p:cNvPr id="39" name="TextBox 38"/>
          <p:cNvSpPr txBox="1"/>
          <p:nvPr/>
        </p:nvSpPr>
        <p:spPr>
          <a:xfrm>
            <a:off x="4873752" y="4407408"/>
            <a:ext cx="2999232" cy="347472"/>
          </a:xfrm>
          <a:prstGeom prst="rect">
            <a:avLst/>
          </a:prstGeom>
          <a:noFill/>
        </p:spPr>
        <p:txBody>
          <a:bodyPr wrap="square">
            <a:spAutoFit/>
          </a:bodyPr>
          <a:lstStyle/>
          <a:p>
            <a:pPr algn="l"/>
            <a:r>
              <a:rPr sz="1100" b="0" i="0">
                <a:solidFill>
                  <a:srgbClr val="FFFFFF"/>
                </a:solidFill>
                <a:latin typeface="Segoe UI"/>
              </a:rPr>
              <a:t>All 3 platforms</a:t>
            </a:r>
          </a:p>
        </p:txBody>
      </p:sp>
      <p:sp>
        <p:nvSpPr>
          <p:cNvPr id="40" name="TextBox 39"/>
          <p:cNvSpPr txBox="1"/>
          <p:nvPr/>
        </p:nvSpPr>
        <p:spPr>
          <a:xfrm>
            <a:off x="4599431" y="4828032"/>
            <a:ext cx="274320" cy="347472"/>
          </a:xfrm>
          <a:prstGeom prst="rect">
            <a:avLst/>
          </a:prstGeom>
          <a:noFill/>
        </p:spPr>
        <p:txBody>
          <a:bodyPr wrap="square">
            <a:spAutoFit/>
          </a:bodyPr>
          <a:lstStyle/>
          <a:p>
            <a:pPr algn="l"/>
            <a:r>
              <a:rPr sz="1100" b="1" i="0">
                <a:solidFill>
                  <a:srgbClr val="FF4FCB"/>
                </a:solidFill>
                <a:latin typeface="Segoe UI"/>
              </a:rPr>
              <a:t>✓</a:t>
            </a:r>
          </a:p>
        </p:txBody>
      </p:sp>
      <p:sp>
        <p:nvSpPr>
          <p:cNvPr id="41" name="TextBox 40"/>
          <p:cNvSpPr txBox="1"/>
          <p:nvPr/>
        </p:nvSpPr>
        <p:spPr>
          <a:xfrm>
            <a:off x="4873752" y="4828032"/>
            <a:ext cx="2999232" cy="347472"/>
          </a:xfrm>
          <a:prstGeom prst="rect">
            <a:avLst/>
          </a:prstGeom>
          <a:noFill/>
        </p:spPr>
        <p:txBody>
          <a:bodyPr wrap="square">
            <a:spAutoFit/>
          </a:bodyPr>
          <a:lstStyle/>
          <a:p>
            <a:pPr algn="l"/>
            <a:r>
              <a:rPr sz="1100" b="0" i="0">
                <a:solidFill>
                  <a:srgbClr val="FFFFFF"/>
                </a:solidFill>
                <a:latin typeface="Segoe UI"/>
              </a:rPr>
              <a:t>Campaign Builder access</a:t>
            </a:r>
          </a:p>
        </p:txBody>
      </p:sp>
      <p:sp>
        <p:nvSpPr>
          <p:cNvPr id="42" name="TextBox 41"/>
          <p:cNvSpPr txBox="1"/>
          <p:nvPr/>
        </p:nvSpPr>
        <p:spPr>
          <a:xfrm>
            <a:off x="4599431" y="5248656"/>
            <a:ext cx="274320" cy="347472"/>
          </a:xfrm>
          <a:prstGeom prst="rect">
            <a:avLst/>
          </a:prstGeom>
          <a:noFill/>
        </p:spPr>
        <p:txBody>
          <a:bodyPr wrap="square">
            <a:spAutoFit/>
          </a:bodyPr>
          <a:lstStyle/>
          <a:p>
            <a:pPr algn="l"/>
            <a:r>
              <a:rPr sz="1100" b="1" i="0">
                <a:solidFill>
                  <a:srgbClr val="FF4FCB"/>
                </a:solidFill>
                <a:latin typeface="Segoe UI"/>
              </a:rPr>
              <a:t>✓</a:t>
            </a:r>
          </a:p>
        </p:txBody>
      </p:sp>
      <p:sp>
        <p:nvSpPr>
          <p:cNvPr id="43" name="TextBox 42"/>
          <p:cNvSpPr txBox="1"/>
          <p:nvPr/>
        </p:nvSpPr>
        <p:spPr>
          <a:xfrm>
            <a:off x="4873752" y="5248656"/>
            <a:ext cx="2999232" cy="347472"/>
          </a:xfrm>
          <a:prstGeom prst="rect">
            <a:avLst/>
          </a:prstGeom>
          <a:noFill/>
        </p:spPr>
        <p:txBody>
          <a:bodyPr wrap="square">
            <a:spAutoFit/>
          </a:bodyPr>
          <a:lstStyle/>
          <a:p>
            <a:pPr algn="l"/>
            <a:r>
              <a:rPr sz="1100" b="0" i="0">
                <a:solidFill>
                  <a:srgbClr val="FFFFFF"/>
                </a:solidFill>
                <a:latin typeface="Segoe UI"/>
              </a:rPr>
              <a:t>Creative Psychology Report</a:t>
            </a:r>
          </a:p>
        </p:txBody>
      </p:sp>
      <p:sp>
        <p:nvSpPr>
          <p:cNvPr id="44" name="TextBox 43"/>
          <p:cNvSpPr txBox="1"/>
          <p:nvPr/>
        </p:nvSpPr>
        <p:spPr>
          <a:xfrm>
            <a:off x="4599431" y="5669280"/>
            <a:ext cx="274320" cy="347472"/>
          </a:xfrm>
          <a:prstGeom prst="rect">
            <a:avLst/>
          </a:prstGeom>
          <a:noFill/>
        </p:spPr>
        <p:txBody>
          <a:bodyPr wrap="square">
            <a:spAutoFit/>
          </a:bodyPr>
          <a:lstStyle/>
          <a:p>
            <a:pPr algn="l"/>
            <a:r>
              <a:rPr sz="1100" b="1" i="0">
                <a:solidFill>
                  <a:srgbClr val="FF4FCB"/>
                </a:solidFill>
                <a:latin typeface="Segoe UI"/>
              </a:rPr>
              <a:t>✓</a:t>
            </a:r>
          </a:p>
        </p:txBody>
      </p:sp>
      <p:sp>
        <p:nvSpPr>
          <p:cNvPr id="45" name="TextBox 44"/>
          <p:cNvSpPr txBox="1"/>
          <p:nvPr/>
        </p:nvSpPr>
        <p:spPr>
          <a:xfrm>
            <a:off x="4873752" y="5669280"/>
            <a:ext cx="2999232" cy="347472"/>
          </a:xfrm>
          <a:prstGeom prst="rect">
            <a:avLst/>
          </a:prstGeom>
          <a:noFill/>
        </p:spPr>
        <p:txBody>
          <a:bodyPr wrap="square">
            <a:spAutoFit/>
          </a:bodyPr>
          <a:lstStyle/>
          <a:p>
            <a:pPr algn="l"/>
            <a:r>
              <a:rPr sz="1100" b="0" i="0">
                <a:solidFill>
                  <a:srgbClr val="FFFFFF"/>
                </a:solidFill>
                <a:latin typeface="Segoe UI"/>
              </a:rPr>
              <a:t>Priority support</a:t>
            </a:r>
          </a:p>
        </p:txBody>
      </p:sp>
      <p:sp>
        <p:nvSpPr>
          <p:cNvPr id="46" name="Rounded Rectangle 45"/>
          <p:cNvSpPr/>
          <p:nvPr/>
        </p:nvSpPr>
        <p:spPr>
          <a:xfrm>
            <a:off x="8293608" y="1353312"/>
            <a:ext cx="3657600" cy="513892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293608" y="1353312"/>
            <a:ext cx="365760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22C55E"/>
            </a:gs>
            <a:gs pos="100000">
              <a:srgbClr val="22C55E"/>
            </a:gs>
          </a:gsLst>
          <a:lin ang="0" scaled="0"/>
        </a:gradFill>
      </p:sp>
      <p:sp>
        <p:nvSpPr>
          <p:cNvPr id="48" name="TextBox 47"/>
          <p:cNvSpPr txBox="1"/>
          <p:nvPr/>
        </p:nvSpPr>
        <p:spPr>
          <a:xfrm>
            <a:off x="8476488" y="1517904"/>
            <a:ext cx="3291840" cy="347472"/>
          </a:xfrm>
          <a:prstGeom prst="rect">
            <a:avLst/>
          </a:prstGeom>
          <a:noFill/>
        </p:spPr>
        <p:txBody>
          <a:bodyPr wrap="square">
            <a:spAutoFit/>
          </a:bodyPr>
          <a:lstStyle/>
          <a:p>
            <a:pPr algn="ctr"/>
            <a:r>
              <a:rPr sz="1100" b="1" i="0">
                <a:solidFill>
                  <a:srgbClr val="22C55E"/>
                </a:solidFill>
                <a:latin typeface="Segoe UI Black"/>
              </a:rPr>
              <a:t>AGENCY</a:t>
            </a:r>
          </a:p>
        </p:txBody>
      </p:sp>
      <p:sp>
        <p:nvSpPr>
          <p:cNvPr id="49" name="TextBox 48"/>
          <p:cNvSpPr txBox="1"/>
          <p:nvPr/>
        </p:nvSpPr>
        <p:spPr>
          <a:xfrm>
            <a:off x="8476488" y="1856232"/>
            <a:ext cx="3291840" cy="749808"/>
          </a:xfrm>
          <a:prstGeom prst="rect">
            <a:avLst/>
          </a:prstGeom>
          <a:noFill/>
        </p:spPr>
        <p:txBody>
          <a:bodyPr wrap="square">
            <a:spAutoFit/>
          </a:bodyPr>
          <a:lstStyle/>
          <a:p>
            <a:pPr algn="ctr"/>
            <a:r>
              <a:rPr sz="4800" b="1" i="0">
                <a:solidFill>
                  <a:srgbClr val="FFFFFF"/>
                </a:solidFill>
                <a:latin typeface="Segoe UI Black"/>
              </a:rPr>
              <a:t>$499</a:t>
            </a:r>
          </a:p>
        </p:txBody>
      </p:sp>
      <p:sp>
        <p:nvSpPr>
          <p:cNvPr id="50" name="TextBox 49"/>
          <p:cNvSpPr txBox="1"/>
          <p:nvPr/>
        </p:nvSpPr>
        <p:spPr>
          <a:xfrm>
            <a:off x="8476488" y="2587752"/>
            <a:ext cx="3291840" cy="274320"/>
          </a:xfrm>
          <a:prstGeom prst="rect">
            <a:avLst/>
          </a:prstGeom>
          <a:noFill/>
        </p:spPr>
        <p:txBody>
          <a:bodyPr wrap="square">
            <a:spAutoFit/>
          </a:bodyPr>
          <a:lstStyle/>
          <a:p>
            <a:pPr algn="ctr"/>
            <a:r>
              <a:rPr sz="1200" b="0" i="0">
                <a:solidFill>
                  <a:srgbClr val="777397"/>
                </a:solidFill>
                <a:latin typeface="Segoe UI"/>
              </a:rPr>
              <a:t>/month</a:t>
            </a:r>
          </a:p>
        </p:txBody>
      </p:sp>
      <p:sp>
        <p:nvSpPr>
          <p:cNvPr id="51" name="Rectangle 50"/>
          <p:cNvSpPr/>
          <p:nvPr/>
        </p:nvSpPr>
        <p:spPr>
          <a:xfrm>
            <a:off x="8476488" y="2907791"/>
            <a:ext cx="3291840" cy="27432"/>
          </a:xfrm>
          <a:prstGeom prst="rect">
            <a:avLst/>
          </a:prstGeom>
          <a:solidFill>
            <a:srgbClr val="2A1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3017520"/>
            <a:ext cx="3291840" cy="640080"/>
          </a:xfrm>
          <a:prstGeom prst="rect">
            <a:avLst/>
          </a:prstGeom>
          <a:noFill/>
        </p:spPr>
        <p:txBody>
          <a:bodyPr wrap="square">
            <a:spAutoFit/>
          </a:bodyPr>
          <a:lstStyle/>
          <a:p>
            <a:pPr algn="ctr"/>
            <a:r>
              <a:rPr sz="1050" b="0" i="0">
                <a:solidFill>
                  <a:srgbClr val="BBB8D4"/>
                </a:solidFill>
                <a:latin typeface="Segoe UI"/>
              </a:rPr>
              <a:t>For agencies managing multiple client brands simultaneously.</a:t>
            </a:r>
          </a:p>
        </p:txBody>
      </p:sp>
      <p:sp>
        <p:nvSpPr>
          <p:cNvPr id="53" name="TextBox 52"/>
          <p:cNvSpPr txBox="1"/>
          <p:nvPr/>
        </p:nvSpPr>
        <p:spPr>
          <a:xfrm>
            <a:off x="8494776" y="3749039"/>
            <a:ext cx="274320" cy="347472"/>
          </a:xfrm>
          <a:prstGeom prst="rect">
            <a:avLst/>
          </a:prstGeom>
          <a:noFill/>
        </p:spPr>
        <p:txBody>
          <a:bodyPr wrap="square">
            <a:spAutoFit/>
          </a:bodyPr>
          <a:lstStyle/>
          <a:p>
            <a:pPr algn="l"/>
            <a:r>
              <a:rPr sz="1100" b="1" i="0">
                <a:solidFill>
                  <a:srgbClr val="22C55E"/>
                </a:solidFill>
                <a:latin typeface="Segoe UI"/>
              </a:rPr>
              <a:t>✓</a:t>
            </a:r>
          </a:p>
        </p:txBody>
      </p:sp>
      <p:sp>
        <p:nvSpPr>
          <p:cNvPr id="54" name="TextBox 53"/>
          <p:cNvSpPr txBox="1"/>
          <p:nvPr/>
        </p:nvSpPr>
        <p:spPr>
          <a:xfrm>
            <a:off x="8769096" y="3749039"/>
            <a:ext cx="2999232" cy="347472"/>
          </a:xfrm>
          <a:prstGeom prst="rect">
            <a:avLst/>
          </a:prstGeom>
          <a:noFill/>
        </p:spPr>
        <p:txBody>
          <a:bodyPr wrap="square">
            <a:spAutoFit/>
          </a:bodyPr>
          <a:lstStyle/>
          <a:p>
            <a:pPr algn="l"/>
            <a:r>
              <a:rPr sz="1100" b="0" i="0">
                <a:solidFill>
                  <a:srgbClr val="FFFFFF"/>
                </a:solidFill>
                <a:latin typeface="Segoe UI"/>
              </a:rPr>
              <a:t>Unlimited everything</a:t>
            </a:r>
          </a:p>
        </p:txBody>
      </p:sp>
      <p:sp>
        <p:nvSpPr>
          <p:cNvPr id="55" name="TextBox 54"/>
          <p:cNvSpPr txBox="1"/>
          <p:nvPr/>
        </p:nvSpPr>
        <p:spPr>
          <a:xfrm>
            <a:off x="8494776" y="4169663"/>
            <a:ext cx="274320" cy="347472"/>
          </a:xfrm>
          <a:prstGeom prst="rect">
            <a:avLst/>
          </a:prstGeom>
          <a:noFill/>
        </p:spPr>
        <p:txBody>
          <a:bodyPr wrap="square">
            <a:spAutoFit/>
          </a:bodyPr>
          <a:lstStyle/>
          <a:p>
            <a:pPr algn="l"/>
            <a:r>
              <a:rPr sz="1100" b="1" i="0">
                <a:solidFill>
                  <a:srgbClr val="22C55E"/>
                </a:solidFill>
                <a:latin typeface="Segoe UI"/>
              </a:rPr>
              <a:t>✓</a:t>
            </a:r>
          </a:p>
        </p:txBody>
      </p:sp>
      <p:sp>
        <p:nvSpPr>
          <p:cNvPr id="56" name="TextBox 55"/>
          <p:cNvSpPr txBox="1"/>
          <p:nvPr/>
        </p:nvSpPr>
        <p:spPr>
          <a:xfrm>
            <a:off x="8769096" y="4169663"/>
            <a:ext cx="2999232" cy="347472"/>
          </a:xfrm>
          <a:prstGeom prst="rect">
            <a:avLst/>
          </a:prstGeom>
          <a:noFill/>
        </p:spPr>
        <p:txBody>
          <a:bodyPr wrap="square">
            <a:spAutoFit/>
          </a:bodyPr>
          <a:lstStyle/>
          <a:p>
            <a:pPr algn="l"/>
            <a:r>
              <a:rPr sz="1100" b="0" i="0">
                <a:solidFill>
                  <a:srgbClr val="FFFFFF"/>
                </a:solidFill>
                <a:latin typeface="Segoe UI"/>
              </a:rPr>
              <a:t>25 brand profiles (Brand Memory)</a:t>
            </a:r>
          </a:p>
        </p:txBody>
      </p:sp>
      <p:sp>
        <p:nvSpPr>
          <p:cNvPr id="57" name="TextBox 56"/>
          <p:cNvSpPr txBox="1"/>
          <p:nvPr/>
        </p:nvSpPr>
        <p:spPr>
          <a:xfrm>
            <a:off x="8494776" y="4590288"/>
            <a:ext cx="274320" cy="347472"/>
          </a:xfrm>
          <a:prstGeom prst="rect">
            <a:avLst/>
          </a:prstGeom>
          <a:noFill/>
        </p:spPr>
        <p:txBody>
          <a:bodyPr wrap="square">
            <a:spAutoFit/>
          </a:bodyPr>
          <a:lstStyle/>
          <a:p>
            <a:pPr algn="l"/>
            <a:r>
              <a:rPr sz="1100" b="1" i="0">
                <a:solidFill>
                  <a:srgbClr val="22C55E"/>
                </a:solidFill>
                <a:latin typeface="Segoe UI"/>
              </a:rPr>
              <a:t>✓</a:t>
            </a:r>
          </a:p>
        </p:txBody>
      </p:sp>
      <p:sp>
        <p:nvSpPr>
          <p:cNvPr id="58" name="TextBox 57"/>
          <p:cNvSpPr txBox="1"/>
          <p:nvPr/>
        </p:nvSpPr>
        <p:spPr>
          <a:xfrm>
            <a:off x="8769096" y="4590288"/>
            <a:ext cx="2999232" cy="347472"/>
          </a:xfrm>
          <a:prstGeom prst="rect">
            <a:avLst/>
          </a:prstGeom>
          <a:noFill/>
        </p:spPr>
        <p:txBody>
          <a:bodyPr wrap="square">
            <a:spAutoFit/>
          </a:bodyPr>
          <a:lstStyle/>
          <a:p>
            <a:pPr algn="l"/>
            <a:r>
              <a:rPr sz="1100" b="0" i="0">
                <a:solidFill>
                  <a:srgbClr val="FFFFFF"/>
                </a:solidFill>
                <a:latin typeface="Segoe UI"/>
              </a:rPr>
              <a:t>White-label exports</a:t>
            </a:r>
          </a:p>
        </p:txBody>
      </p:sp>
      <p:sp>
        <p:nvSpPr>
          <p:cNvPr id="59" name="TextBox 58"/>
          <p:cNvSpPr txBox="1"/>
          <p:nvPr/>
        </p:nvSpPr>
        <p:spPr>
          <a:xfrm>
            <a:off x="8494776" y="5010912"/>
            <a:ext cx="274320" cy="347472"/>
          </a:xfrm>
          <a:prstGeom prst="rect">
            <a:avLst/>
          </a:prstGeom>
          <a:noFill/>
        </p:spPr>
        <p:txBody>
          <a:bodyPr wrap="square">
            <a:spAutoFit/>
          </a:bodyPr>
          <a:lstStyle/>
          <a:p>
            <a:pPr algn="l"/>
            <a:r>
              <a:rPr sz="1100" b="1" i="0">
                <a:solidFill>
                  <a:srgbClr val="22C55E"/>
                </a:solidFill>
                <a:latin typeface="Segoe UI"/>
              </a:rPr>
              <a:t>✓</a:t>
            </a:r>
          </a:p>
        </p:txBody>
      </p:sp>
      <p:sp>
        <p:nvSpPr>
          <p:cNvPr id="60" name="TextBox 59"/>
          <p:cNvSpPr txBox="1"/>
          <p:nvPr/>
        </p:nvSpPr>
        <p:spPr>
          <a:xfrm>
            <a:off x="8769096" y="5010912"/>
            <a:ext cx="2999232" cy="347472"/>
          </a:xfrm>
          <a:prstGeom prst="rect">
            <a:avLst/>
          </a:prstGeom>
          <a:noFill/>
        </p:spPr>
        <p:txBody>
          <a:bodyPr wrap="square">
            <a:spAutoFit/>
          </a:bodyPr>
          <a:lstStyle/>
          <a:p>
            <a:pPr algn="l"/>
            <a:r>
              <a:rPr sz="1100" b="0" i="0">
                <a:solidFill>
                  <a:srgbClr val="FFFFFF"/>
                </a:solidFill>
                <a:latin typeface="Segoe UI"/>
              </a:rPr>
              <a:t>Client management dashboard</a:t>
            </a:r>
          </a:p>
        </p:txBody>
      </p:sp>
      <p:sp>
        <p:nvSpPr>
          <p:cNvPr id="61" name="TextBox 60"/>
          <p:cNvSpPr txBox="1"/>
          <p:nvPr/>
        </p:nvSpPr>
        <p:spPr>
          <a:xfrm>
            <a:off x="8494776" y="5431536"/>
            <a:ext cx="274320" cy="347472"/>
          </a:xfrm>
          <a:prstGeom prst="rect">
            <a:avLst/>
          </a:prstGeom>
          <a:noFill/>
        </p:spPr>
        <p:txBody>
          <a:bodyPr wrap="square">
            <a:spAutoFit/>
          </a:bodyPr>
          <a:lstStyle/>
          <a:p>
            <a:pPr algn="l"/>
            <a:r>
              <a:rPr sz="1100" b="1" i="0">
                <a:solidFill>
                  <a:srgbClr val="22C55E"/>
                </a:solidFill>
                <a:latin typeface="Segoe UI"/>
              </a:rPr>
              <a:t>✓</a:t>
            </a:r>
          </a:p>
        </p:txBody>
      </p:sp>
      <p:sp>
        <p:nvSpPr>
          <p:cNvPr id="62" name="TextBox 61"/>
          <p:cNvSpPr txBox="1"/>
          <p:nvPr/>
        </p:nvSpPr>
        <p:spPr>
          <a:xfrm>
            <a:off x="8769096" y="5431536"/>
            <a:ext cx="2999232" cy="347472"/>
          </a:xfrm>
          <a:prstGeom prst="rect">
            <a:avLst/>
          </a:prstGeom>
          <a:noFill/>
        </p:spPr>
        <p:txBody>
          <a:bodyPr wrap="square">
            <a:spAutoFit/>
          </a:bodyPr>
          <a:lstStyle/>
          <a:p>
            <a:pPr algn="l"/>
            <a:r>
              <a:rPr sz="1100" b="0" i="0">
                <a:solidFill>
                  <a:srgbClr val="FFFFFF"/>
                </a:solidFill>
                <a:latin typeface="Segoe UI"/>
              </a:rPr>
              <a:t>Direct Meta Ads integration</a:t>
            </a:r>
          </a:p>
        </p:txBody>
      </p:sp>
      <p:sp>
        <p:nvSpPr>
          <p:cNvPr id="63" name="TextBox 62"/>
          <p:cNvSpPr txBox="1"/>
          <p:nvPr/>
        </p:nvSpPr>
        <p:spPr>
          <a:xfrm>
            <a:off x="8494776" y="5852160"/>
            <a:ext cx="274320" cy="347472"/>
          </a:xfrm>
          <a:prstGeom prst="rect">
            <a:avLst/>
          </a:prstGeom>
          <a:noFill/>
        </p:spPr>
        <p:txBody>
          <a:bodyPr wrap="square">
            <a:spAutoFit/>
          </a:bodyPr>
          <a:lstStyle/>
          <a:p>
            <a:pPr algn="l"/>
            <a:r>
              <a:rPr sz="1100" b="1" i="0">
                <a:solidFill>
                  <a:srgbClr val="22C55E"/>
                </a:solidFill>
                <a:latin typeface="Segoe UI"/>
              </a:rPr>
              <a:t>✓</a:t>
            </a:r>
          </a:p>
        </p:txBody>
      </p:sp>
      <p:sp>
        <p:nvSpPr>
          <p:cNvPr id="64" name="TextBox 63"/>
          <p:cNvSpPr txBox="1"/>
          <p:nvPr/>
        </p:nvSpPr>
        <p:spPr>
          <a:xfrm>
            <a:off x="8769096" y="5852160"/>
            <a:ext cx="2999232" cy="347472"/>
          </a:xfrm>
          <a:prstGeom prst="rect">
            <a:avLst/>
          </a:prstGeom>
          <a:noFill/>
        </p:spPr>
        <p:txBody>
          <a:bodyPr wrap="square">
            <a:spAutoFit/>
          </a:bodyPr>
          <a:lstStyle/>
          <a:p>
            <a:pPr algn="l"/>
            <a:r>
              <a:rPr sz="1100" b="0" i="0">
                <a:solidFill>
                  <a:srgbClr val="FFFFFF"/>
                </a:solidFill>
                <a:latin typeface="Segoe UI"/>
              </a:rPr>
              <a:t>Dedicated success manager</a:t>
            </a:r>
          </a:p>
        </p:txBody>
      </p:sp>
      <p:sp>
        <p:nvSpPr>
          <p:cNvPr id="65" name="TextBox 64"/>
          <p:cNvSpPr txBox="1"/>
          <p:nvPr/>
        </p:nvSpPr>
        <p:spPr>
          <a:xfrm>
            <a:off x="502920" y="6492240"/>
            <a:ext cx="11155680" cy="274320"/>
          </a:xfrm>
          <a:prstGeom prst="rect">
            <a:avLst/>
          </a:prstGeom>
          <a:noFill/>
        </p:spPr>
        <p:txBody>
          <a:bodyPr wrap="square">
            <a:spAutoFit/>
          </a:bodyPr>
          <a:lstStyle/>
          <a:p>
            <a:pPr algn="ctr"/>
            <a:r>
              <a:rPr sz="1000" b="0" i="1">
                <a:solidFill>
                  <a:srgbClr val="777397"/>
                </a:solidFill>
                <a:latin typeface="Segoe UI"/>
              </a:rPr>
              <a:t>Annual plans save 20%  ·  Free trial: 3 Marketing Brains + 5 creatives, no credit card required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10</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FINANCIAL PROJECTIONS</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11</a:t>
            </a:r>
          </a:p>
        </p:txBody>
      </p:sp>
      <p:sp>
        <p:nvSpPr>
          <p:cNvPr id="7" name="TextBox 6"/>
          <p:cNvSpPr txBox="1"/>
          <p:nvPr/>
        </p:nvSpPr>
        <p:spPr>
          <a:xfrm>
            <a:off x="502920" y="822960"/>
            <a:ext cx="11155680" cy="365760"/>
          </a:xfrm>
          <a:prstGeom prst="rect">
            <a:avLst/>
          </a:prstGeom>
          <a:noFill/>
        </p:spPr>
        <p:txBody>
          <a:bodyPr wrap="square">
            <a:spAutoFit/>
          </a:bodyPr>
          <a:lstStyle/>
          <a:p>
            <a:pPr algn="ctr"/>
            <a:r>
              <a:rPr sz="1500" b="0" i="0">
                <a:solidFill>
                  <a:srgbClr val="BBB8D4"/>
                </a:solidFill>
                <a:latin typeface="Segoe UI"/>
              </a:rPr>
              <a:t>Conservative 3-year growth model — bootstrapped Year 1, seed-funded Years 2–3.</a:t>
            </a:r>
          </a:p>
        </p:txBody>
      </p:sp>
      <p:sp>
        <p:nvSpPr>
          <p:cNvPr id="8" name="Rounded Rectangle 7"/>
          <p:cNvSpPr/>
          <p:nvPr/>
        </p:nvSpPr>
        <p:spPr>
          <a:xfrm>
            <a:off x="502920" y="1325880"/>
            <a:ext cx="5303520" cy="148132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64008" cy="1481328"/>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17320"/>
            <a:ext cx="1371600" cy="292608"/>
          </a:xfrm>
          <a:prstGeom prst="rect">
            <a:avLst/>
          </a:prstGeom>
          <a:noFill/>
        </p:spPr>
        <p:txBody>
          <a:bodyPr wrap="square">
            <a:spAutoFit/>
          </a:bodyPr>
          <a:lstStyle/>
          <a:p>
            <a:pPr algn="l"/>
            <a:r>
              <a:rPr sz="1100" b="1" i="0">
                <a:solidFill>
                  <a:srgbClr val="6E3DFF"/>
                </a:solidFill>
                <a:latin typeface="Segoe UI Black"/>
              </a:rPr>
              <a:t>Year 1</a:t>
            </a:r>
          </a:p>
        </p:txBody>
      </p:sp>
      <p:sp>
        <p:nvSpPr>
          <p:cNvPr id="11" name="TextBox 10"/>
          <p:cNvSpPr txBox="1"/>
          <p:nvPr/>
        </p:nvSpPr>
        <p:spPr>
          <a:xfrm>
            <a:off x="713232" y="1673352"/>
            <a:ext cx="2286000" cy="685800"/>
          </a:xfrm>
          <a:prstGeom prst="rect">
            <a:avLst/>
          </a:prstGeom>
          <a:noFill/>
        </p:spPr>
        <p:txBody>
          <a:bodyPr wrap="square">
            <a:spAutoFit/>
          </a:bodyPr>
          <a:lstStyle/>
          <a:p>
            <a:pPr algn="l"/>
            <a:r>
              <a:rPr sz="3800" b="1" i="0">
                <a:solidFill>
                  <a:srgbClr val="FFFFFF"/>
                </a:solidFill>
                <a:latin typeface="Segoe UI Black"/>
              </a:rPr>
              <a:t>$465K</a:t>
            </a:r>
          </a:p>
        </p:txBody>
      </p:sp>
      <p:sp>
        <p:nvSpPr>
          <p:cNvPr id="12" name="TextBox 11"/>
          <p:cNvSpPr txBox="1"/>
          <p:nvPr/>
        </p:nvSpPr>
        <p:spPr>
          <a:xfrm>
            <a:off x="2926080" y="1801368"/>
            <a:ext cx="914400" cy="320040"/>
          </a:xfrm>
          <a:prstGeom prst="rect">
            <a:avLst/>
          </a:prstGeom>
          <a:noFill/>
        </p:spPr>
        <p:txBody>
          <a:bodyPr wrap="square">
            <a:spAutoFit/>
          </a:bodyPr>
          <a:lstStyle/>
          <a:p>
            <a:pPr algn="l"/>
            <a:r>
              <a:rPr sz="1100" b="0" i="0">
                <a:solidFill>
                  <a:srgbClr val="777397"/>
                </a:solidFill>
                <a:latin typeface="Segoe UI"/>
              </a:rPr>
              <a:t>ARR</a:t>
            </a:r>
          </a:p>
        </p:txBody>
      </p:sp>
      <p:sp>
        <p:nvSpPr>
          <p:cNvPr id="13" name="TextBox 12"/>
          <p:cNvSpPr txBox="1"/>
          <p:nvPr/>
        </p:nvSpPr>
        <p:spPr>
          <a:xfrm>
            <a:off x="713232" y="2350008"/>
            <a:ext cx="2743200" cy="292608"/>
          </a:xfrm>
          <a:prstGeom prst="rect">
            <a:avLst/>
          </a:prstGeom>
          <a:noFill/>
        </p:spPr>
        <p:txBody>
          <a:bodyPr wrap="square">
            <a:spAutoFit/>
          </a:bodyPr>
          <a:lstStyle/>
          <a:p>
            <a:pPr algn="l"/>
            <a:r>
              <a:rPr sz="1200" b="0" i="0">
                <a:solidFill>
                  <a:srgbClr val="BBB8D4"/>
                </a:solidFill>
                <a:latin typeface="Segoe UI"/>
              </a:rPr>
              <a:t>~480 customers</a:t>
            </a:r>
          </a:p>
        </p:txBody>
      </p:sp>
      <p:sp>
        <p:nvSpPr>
          <p:cNvPr id="14" name="TextBox 13"/>
          <p:cNvSpPr txBox="1"/>
          <p:nvPr/>
        </p:nvSpPr>
        <p:spPr>
          <a:xfrm>
            <a:off x="3474720" y="2350008"/>
            <a:ext cx="2103120" cy="292608"/>
          </a:xfrm>
          <a:prstGeom prst="rect">
            <a:avLst/>
          </a:prstGeom>
          <a:noFill/>
        </p:spPr>
        <p:txBody>
          <a:bodyPr wrap="square">
            <a:spAutoFit/>
          </a:bodyPr>
          <a:lstStyle/>
          <a:p>
            <a:pPr algn="l"/>
            <a:r>
              <a:rPr sz="1100" b="1" i="0">
                <a:solidFill>
                  <a:srgbClr val="6E3DFF"/>
                </a:solidFill>
                <a:latin typeface="Segoe UI"/>
              </a:rPr>
              <a:t>$80 avg/mo</a:t>
            </a:r>
          </a:p>
        </p:txBody>
      </p:sp>
      <p:sp>
        <p:nvSpPr>
          <p:cNvPr id="15" name="Rounded Rectangle 14"/>
          <p:cNvSpPr/>
          <p:nvPr/>
        </p:nvSpPr>
        <p:spPr>
          <a:xfrm>
            <a:off x="502920" y="2971800"/>
            <a:ext cx="5303520" cy="148132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971800"/>
            <a:ext cx="64008" cy="1481328"/>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063240"/>
            <a:ext cx="1371600" cy="292608"/>
          </a:xfrm>
          <a:prstGeom prst="rect">
            <a:avLst/>
          </a:prstGeom>
          <a:noFill/>
        </p:spPr>
        <p:txBody>
          <a:bodyPr wrap="square">
            <a:spAutoFit/>
          </a:bodyPr>
          <a:lstStyle/>
          <a:p>
            <a:pPr algn="l"/>
            <a:r>
              <a:rPr sz="1100" b="1" i="0">
                <a:solidFill>
                  <a:srgbClr val="FF4FCB"/>
                </a:solidFill>
                <a:latin typeface="Segoe UI Black"/>
              </a:rPr>
              <a:t>Year 2</a:t>
            </a:r>
          </a:p>
        </p:txBody>
      </p:sp>
      <p:sp>
        <p:nvSpPr>
          <p:cNvPr id="18" name="TextBox 17"/>
          <p:cNvSpPr txBox="1"/>
          <p:nvPr/>
        </p:nvSpPr>
        <p:spPr>
          <a:xfrm>
            <a:off x="713232" y="3319272"/>
            <a:ext cx="2286000" cy="685800"/>
          </a:xfrm>
          <a:prstGeom prst="rect">
            <a:avLst/>
          </a:prstGeom>
          <a:noFill/>
        </p:spPr>
        <p:txBody>
          <a:bodyPr wrap="square">
            <a:spAutoFit/>
          </a:bodyPr>
          <a:lstStyle/>
          <a:p>
            <a:pPr algn="l"/>
            <a:r>
              <a:rPr sz="3800" b="1" i="0">
                <a:solidFill>
                  <a:srgbClr val="FFFFFF"/>
                </a:solidFill>
                <a:latin typeface="Segoe UI Black"/>
              </a:rPr>
              <a:t>$1.33M</a:t>
            </a:r>
          </a:p>
        </p:txBody>
      </p:sp>
      <p:sp>
        <p:nvSpPr>
          <p:cNvPr id="19" name="TextBox 18"/>
          <p:cNvSpPr txBox="1"/>
          <p:nvPr/>
        </p:nvSpPr>
        <p:spPr>
          <a:xfrm>
            <a:off x="2926080" y="3447288"/>
            <a:ext cx="914400" cy="320040"/>
          </a:xfrm>
          <a:prstGeom prst="rect">
            <a:avLst/>
          </a:prstGeom>
          <a:noFill/>
        </p:spPr>
        <p:txBody>
          <a:bodyPr wrap="square">
            <a:spAutoFit/>
          </a:bodyPr>
          <a:lstStyle/>
          <a:p>
            <a:pPr algn="l"/>
            <a:r>
              <a:rPr sz="1100" b="0" i="0">
                <a:solidFill>
                  <a:srgbClr val="777397"/>
                </a:solidFill>
                <a:latin typeface="Segoe UI"/>
              </a:rPr>
              <a:t>ARR</a:t>
            </a:r>
          </a:p>
        </p:txBody>
      </p:sp>
      <p:sp>
        <p:nvSpPr>
          <p:cNvPr id="20" name="TextBox 19"/>
          <p:cNvSpPr txBox="1"/>
          <p:nvPr/>
        </p:nvSpPr>
        <p:spPr>
          <a:xfrm>
            <a:off x="713232" y="3995928"/>
            <a:ext cx="2743200" cy="292608"/>
          </a:xfrm>
          <a:prstGeom prst="rect">
            <a:avLst/>
          </a:prstGeom>
          <a:noFill/>
        </p:spPr>
        <p:txBody>
          <a:bodyPr wrap="square">
            <a:spAutoFit/>
          </a:bodyPr>
          <a:lstStyle/>
          <a:p>
            <a:pPr algn="l"/>
            <a:r>
              <a:rPr sz="1200" b="0" i="0">
                <a:solidFill>
                  <a:srgbClr val="BBB8D4"/>
                </a:solidFill>
                <a:latin typeface="Segoe UI"/>
              </a:rPr>
              <a:t>~1,350 customers</a:t>
            </a:r>
          </a:p>
        </p:txBody>
      </p:sp>
      <p:sp>
        <p:nvSpPr>
          <p:cNvPr id="21" name="TextBox 20"/>
          <p:cNvSpPr txBox="1"/>
          <p:nvPr/>
        </p:nvSpPr>
        <p:spPr>
          <a:xfrm>
            <a:off x="3474720" y="3995928"/>
            <a:ext cx="2103120" cy="292608"/>
          </a:xfrm>
          <a:prstGeom prst="rect">
            <a:avLst/>
          </a:prstGeom>
          <a:noFill/>
        </p:spPr>
        <p:txBody>
          <a:bodyPr wrap="square">
            <a:spAutoFit/>
          </a:bodyPr>
          <a:lstStyle/>
          <a:p>
            <a:pPr algn="l"/>
            <a:r>
              <a:rPr sz="1100" b="1" i="0">
                <a:solidFill>
                  <a:srgbClr val="FF4FCB"/>
                </a:solidFill>
                <a:latin typeface="Segoe UI"/>
              </a:rPr>
              <a:t>$100 avg/mo</a:t>
            </a:r>
          </a:p>
        </p:txBody>
      </p:sp>
      <p:sp>
        <p:nvSpPr>
          <p:cNvPr id="22" name="Rounded Rectangle 21"/>
          <p:cNvSpPr/>
          <p:nvPr/>
        </p:nvSpPr>
        <p:spPr>
          <a:xfrm>
            <a:off x="502920" y="4617720"/>
            <a:ext cx="5303520" cy="148132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17720"/>
            <a:ext cx="64008" cy="148132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709159"/>
            <a:ext cx="1371600" cy="292608"/>
          </a:xfrm>
          <a:prstGeom prst="rect">
            <a:avLst/>
          </a:prstGeom>
          <a:noFill/>
        </p:spPr>
        <p:txBody>
          <a:bodyPr wrap="square">
            <a:spAutoFit/>
          </a:bodyPr>
          <a:lstStyle/>
          <a:p>
            <a:pPr algn="l"/>
            <a:r>
              <a:rPr sz="1100" b="1" i="0">
                <a:solidFill>
                  <a:srgbClr val="22C55E"/>
                </a:solidFill>
                <a:latin typeface="Segoe UI Black"/>
              </a:rPr>
              <a:t>Year 3</a:t>
            </a:r>
          </a:p>
        </p:txBody>
      </p:sp>
      <p:sp>
        <p:nvSpPr>
          <p:cNvPr id="25" name="TextBox 24"/>
          <p:cNvSpPr txBox="1"/>
          <p:nvPr/>
        </p:nvSpPr>
        <p:spPr>
          <a:xfrm>
            <a:off x="713232" y="4965192"/>
            <a:ext cx="2286000" cy="685800"/>
          </a:xfrm>
          <a:prstGeom prst="rect">
            <a:avLst/>
          </a:prstGeom>
          <a:noFill/>
        </p:spPr>
        <p:txBody>
          <a:bodyPr wrap="square">
            <a:spAutoFit/>
          </a:bodyPr>
          <a:lstStyle/>
          <a:p>
            <a:pPr algn="l"/>
            <a:r>
              <a:rPr sz="3800" b="1" i="0">
                <a:solidFill>
                  <a:srgbClr val="FFFFFF"/>
                </a:solidFill>
                <a:latin typeface="Segoe UI Black"/>
              </a:rPr>
              <a:t>$3.0M</a:t>
            </a:r>
          </a:p>
        </p:txBody>
      </p:sp>
      <p:sp>
        <p:nvSpPr>
          <p:cNvPr id="26" name="TextBox 25"/>
          <p:cNvSpPr txBox="1"/>
          <p:nvPr/>
        </p:nvSpPr>
        <p:spPr>
          <a:xfrm>
            <a:off x="2926080" y="5093208"/>
            <a:ext cx="914400" cy="320040"/>
          </a:xfrm>
          <a:prstGeom prst="rect">
            <a:avLst/>
          </a:prstGeom>
          <a:noFill/>
        </p:spPr>
        <p:txBody>
          <a:bodyPr wrap="square">
            <a:spAutoFit/>
          </a:bodyPr>
          <a:lstStyle/>
          <a:p>
            <a:pPr algn="l"/>
            <a:r>
              <a:rPr sz="1100" b="0" i="0">
                <a:solidFill>
                  <a:srgbClr val="777397"/>
                </a:solidFill>
                <a:latin typeface="Segoe UI"/>
              </a:rPr>
              <a:t>ARR</a:t>
            </a:r>
          </a:p>
        </p:txBody>
      </p:sp>
      <p:sp>
        <p:nvSpPr>
          <p:cNvPr id="27" name="TextBox 26"/>
          <p:cNvSpPr txBox="1"/>
          <p:nvPr/>
        </p:nvSpPr>
        <p:spPr>
          <a:xfrm>
            <a:off x="713232" y="5641848"/>
            <a:ext cx="2743200" cy="292608"/>
          </a:xfrm>
          <a:prstGeom prst="rect">
            <a:avLst/>
          </a:prstGeom>
          <a:noFill/>
        </p:spPr>
        <p:txBody>
          <a:bodyPr wrap="square">
            <a:spAutoFit/>
          </a:bodyPr>
          <a:lstStyle/>
          <a:p>
            <a:pPr algn="l"/>
            <a:r>
              <a:rPr sz="1200" b="0" i="0">
                <a:solidFill>
                  <a:srgbClr val="BBB8D4"/>
                </a:solidFill>
                <a:latin typeface="Segoe UI"/>
              </a:rPr>
              <a:t>~3,200 customers</a:t>
            </a:r>
          </a:p>
        </p:txBody>
      </p:sp>
      <p:sp>
        <p:nvSpPr>
          <p:cNvPr id="28" name="TextBox 27"/>
          <p:cNvSpPr txBox="1"/>
          <p:nvPr/>
        </p:nvSpPr>
        <p:spPr>
          <a:xfrm>
            <a:off x="3474720" y="5641848"/>
            <a:ext cx="2103120" cy="292608"/>
          </a:xfrm>
          <a:prstGeom prst="rect">
            <a:avLst/>
          </a:prstGeom>
          <a:noFill/>
        </p:spPr>
        <p:txBody>
          <a:bodyPr wrap="square">
            <a:spAutoFit/>
          </a:bodyPr>
          <a:lstStyle/>
          <a:p>
            <a:pPr algn="l"/>
            <a:r>
              <a:rPr sz="1100" b="1" i="0">
                <a:solidFill>
                  <a:srgbClr val="22C55E"/>
                </a:solidFill>
                <a:latin typeface="Segoe UI"/>
              </a:rPr>
              <a:t>$115 avg/mo</a:t>
            </a:r>
          </a:p>
        </p:txBody>
      </p:sp>
      <p:sp>
        <p:nvSpPr>
          <p:cNvPr id="29" name="TextBox 28"/>
          <p:cNvSpPr txBox="1"/>
          <p:nvPr/>
        </p:nvSpPr>
        <p:spPr>
          <a:xfrm>
            <a:off x="6126480" y="1325880"/>
            <a:ext cx="5760720" cy="347472"/>
          </a:xfrm>
          <a:prstGeom prst="rect">
            <a:avLst/>
          </a:prstGeom>
          <a:noFill/>
        </p:spPr>
        <p:txBody>
          <a:bodyPr wrap="square">
            <a:spAutoFit/>
          </a:bodyPr>
          <a:lstStyle/>
          <a:p>
            <a:pPr algn="l"/>
            <a:r>
              <a:rPr sz="1400" b="1" i="0">
                <a:solidFill>
                  <a:srgbClr val="FFFFFF"/>
                </a:solidFill>
                <a:latin typeface="Segoe UI Semibold"/>
              </a:rPr>
              <a:t>SaaS Health Metrics</a:t>
            </a:r>
          </a:p>
        </p:txBody>
      </p:sp>
      <p:sp>
        <p:nvSpPr>
          <p:cNvPr id="30" name="Rectangle 29"/>
          <p:cNvSpPr/>
          <p:nvPr/>
        </p:nvSpPr>
        <p:spPr>
          <a:xfrm>
            <a:off x="6080760" y="1737360"/>
            <a:ext cx="2606040" cy="38404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31" name="TextBox 30"/>
          <p:cNvSpPr txBox="1"/>
          <p:nvPr/>
        </p:nvSpPr>
        <p:spPr>
          <a:xfrm>
            <a:off x="6117336" y="1737360"/>
            <a:ext cx="2606040" cy="384048"/>
          </a:xfrm>
          <a:prstGeom prst="rect">
            <a:avLst/>
          </a:prstGeom>
          <a:noFill/>
        </p:spPr>
        <p:txBody>
          <a:bodyPr wrap="square">
            <a:spAutoFit/>
          </a:bodyPr>
          <a:lstStyle/>
          <a:p>
            <a:pPr algn="ctr"/>
            <a:r>
              <a:rPr sz="950" b="1" i="0">
                <a:solidFill>
                  <a:srgbClr val="FFFFFF"/>
                </a:solidFill>
                <a:latin typeface="Segoe UI Semibold"/>
              </a:rPr>
              <a:t>Metric</a:t>
            </a:r>
          </a:p>
        </p:txBody>
      </p:sp>
      <p:sp>
        <p:nvSpPr>
          <p:cNvPr id="32" name="Rectangle 31"/>
          <p:cNvSpPr/>
          <p:nvPr/>
        </p:nvSpPr>
        <p:spPr>
          <a:xfrm>
            <a:off x="8686800" y="1737360"/>
            <a:ext cx="987552" cy="38404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33" name="TextBox 32"/>
          <p:cNvSpPr txBox="1"/>
          <p:nvPr/>
        </p:nvSpPr>
        <p:spPr>
          <a:xfrm>
            <a:off x="8723376" y="1737360"/>
            <a:ext cx="987552" cy="384048"/>
          </a:xfrm>
          <a:prstGeom prst="rect">
            <a:avLst/>
          </a:prstGeom>
          <a:noFill/>
        </p:spPr>
        <p:txBody>
          <a:bodyPr wrap="square">
            <a:spAutoFit/>
          </a:bodyPr>
          <a:lstStyle/>
          <a:p>
            <a:pPr algn="ctr"/>
            <a:r>
              <a:rPr sz="950" b="1" i="0">
                <a:solidFill>
                  <a:srgbClr val="FFFFFF"/>
                </a:solidFill>
                <a:latin typeface="Segoe UI Semibold"/>
              </a:rPr>
              <a:t>Year 1</a:t>
            </a:r>
          </a:p>
        </p:txBody>
      </p:sp>
      <p:sp>
        <p:nvSpPr>
          <p:cNvPr id="34" name="Rectangle 33"/>
          <p:cNvSpPr/>
          <p:nvPr/>
        </p:nvSpPr>
        <p:spPr>
          <a:xfrm>
            <a:off x="9674352" y="1737360"/>
            <a:ext cx="987552" cy="38404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35" name="TextBox 34"/>
          <p:cNvSpPr txBox="1"/>
          <p:nvPr/>
        </p:nvSpPr>
        <p:spPr>
          <a:xfrm>
            <a:off x="9710928" y="1737360"/>
            <a:ext cx="987552" cy="384048"/>
          </a:xfrm>
          <a:prstGeom prst="rect">
            <a:avLst/>
          </a:prstGeom>
          <a:noFill/>
        </p:spPr>
        <p:txBody>
          <a:bodyPr wrap="square">
            <a:spAutoFit/>
          </a:bodyPr>
          <a:lstStyle/>
          <a:p>
            <a:pPr algn="ctr"/>
            <a:r>
              <a:rPr sz="950" b="1" i="0">
                <a:solidFill>
                  <a:srgbClr val="FFFFFF"/>
                </a:solidFill>
                <a:latin typeface="Segoe UI Semibold"/>
              </a:rPr>
              <a:t>Year 2</a:t>
            </a:r>
          </a:p>
        </p:txBody>
      </p:sp>
      <p:sp>
        <p:nvSpPr>
          <p:cNvPr id="36" name="Rectangle 35"/>
          <p:cNvSpPr/>
          <p:nvPr/>
        </p:nvSpPr>
        <p:spPr>
          <a:xfrm>
            <a:off x="10661904" y="1737360"/>
            <a:ext cx="987552" cy="38404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4A1ABB"/>
            </a:gs>
          </a:gsLst>
          <a:lin ang="0" scaled="0"/>
        </a:gradFill>
      </p:sp>
      <p:sp>
        <p:nvSpPr>
          <p:cNvPr id="37" name="TextBox 36"/>
          <p:cNvSpPr txBox="1"/>
          <p:nvPr/>
        </p:nvSpPr>
        <p:spPr>
          <a:xfrm>
            <a:off x="10698480" y="1737360"/>
            <a:ext cx="987552" cy="384048"/>
          </a:xfrm>
          <a:prstGeom prst="rect">
            <a:avLst/>
          </a:prstGeom>
          <a:noFill/>
        </p:spPr>
        <p:txBody>
          <a:bodyPr wrap="square">
            <a:spAutoFit/>
          </a:bodyPr>
          <a:lstStyle/>
          <a:p>
            <a:pPr algn="ctr"/>
            <a:r>
              <a:rPr sz="950" b="1" i="0">
                <a:solidFill>
                  <a:srgbClr val="FFFFFF"/>
                </a:solidFill>
                <a:latin typeface="Segoe UI Semibold"/>
              </a:rPr>
              <a:t>Year 3</a:t>
            </a:r>
          </a:p>
        </p:txBody>
      </p:sp>
      <p:sp>
        <p:nvSpPr>
          <p:cNvPr id="38" name="Rectangle 37"/>
          <p:cNvSpPr/>
          <p:nvPr/>
        </p:nvSpPr>
        <p:spPr>
          <a:xfrm>
            <a:off x="6080760" y="2157984"/>
            <a:ext cx="2606040"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17336" y="2231136"/>
            <a:ext cx="2551176" cy="347472"/>
          </a:xfrm>
          <a:prstGeom prst="rect">
            <a:avLst/>
          </a:prstGeom>
          <a:noFill/>
        </p:spPr>
        <p:txBody>
          <a:bodyPr wrap="square">
            <a:spAutoFit/>
          </a:bodyPr>
          <a:lstStyle/>
          <a:p>
            <a:pPr algn="l"/>
            <a:r>
              <a:rPr sz="1050" b="1" i="0">
                <a:solidFill>
                  <a:srgbClr val="FFFFFF"/>
                </a:solidFill>
                <a:latin typeface="Segoe UI"/>
              </a:rPr>
              <a:t>Gross Margin</a:t>
            </a:r>
          </a:p>
        </p:txBody>
      </p:sp>
      <p:sp>
        <p:nvSpPr>
          <p:cNvPr id="40" name="Rectangle 39"/>
          <p:cNvSpPr/>
          <p:nvPr/>
        </p:nvSpPr>
        <p:spPr>
          <a:xfrm>
            <a:off x="8686800" y="2157984"/>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23376" y="2231136"/>
            <a:ext cx="932688" cy="347472"/>
          </a:xfrm>
          <a:prstGeom prst="rect">
            <a:avLst/>
          </a:prstGeom>
          <a:noFill/>
        </p:spPr>
        <p:txBody>
          <a:bodyPr wrap="square">
            <a:spAutoFit/>
          </a:bodyPr>
          <a:lstStyle/>
          <a:p>
            <a:pPr algn="ctr"/>
            <a:r>
              <a:rPr sz="1050" b="0" i="0">
                <a:solidFill>
                  <a:srgbClr val="9B72FF"/>
                </a:solidFill>
                <a:latin typeface="Segoe UI"/>
              </a:rPr>
              <a:t>85%</a:t>
            </a:r>
          </a:p>
        </p:txBody>
      </p:sp>
      <p:sp>
        <p:nvSpPr>
          <p:cNvPr id="42" name="Rectangle 41"/>
          <p:cNvSpPr/>
          <p:nvPr/>
        </p:nvSpPr>
        <p:spPr>
          <a:xfrm>
            <a:off x="9674352" y="2157984"/>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10928" y="2231136"/>
            <a:ext cx="932688" cy="347472"/>
          </a:xfrm>
          <a:prstGeom prst="rect">
            <a:avLst/>
          </a:prstGeom>
          <a:noFill/>
        </p:spPr>
        <p:txBody>
          <a:bodyPr wrap="square">
            <a:spAutoFit/>
          </a:bodyPr>
          <a:lstStyle/>
          <a:p>
            <a:pPr algn="ctr"/>
            <a:r>
              <a:rPr sz="1050" b="0" i="0">
                <a:solidFill>
                  <a:srgbClr val="9B72FF"/>
                </a:solidFill>
                <a:latin typeface="Segoe UI"/>
              </a:rPr>
              <a:t>88%</a:t>
            </a:r>
          </a:p>
        </p:txBody>
      </p:sp>
      <p:sp>
        <p:nvSpPr>
          <p:cNvPr id="44" name="Rectangle 43"/>
          <p:cNvSpPr/>
          <p:nvPr/>
        </p:nvSpPr>
        <p:spPr>
          <a:xfrm>
            <a:off x="10661904" y="2157984"/>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98480" y="2231136"/>
            <a:ext cx="932688" cy="347472"/>
          </a:xfrm>
          <a:prstGeom prst="rect">
            <a:avLst/>
          </a:prstGeom>
          <a:noFill/>
        </p:spPr>
        <p:txBody>
          <a:bodyPr wrap="square">
            <a:spAutoFit/>
          </a:bodyPr>
          <a:lstStyle/>
          <a:p>
            <a:pPr algn="ctr"/>
            <a:r>
              <a:rPr sz="1050" b="0" i="0">
                <a:solidFill>
                  <a:srgbClr val="9B72FF"/>
                </a:solidFill>
                <a:latin typeface="Segoe UI"/>
              </a:rPr>
              <a:t>90%</a:t>
            </a:r>
          </a:p>
        </p:txBody>
      </p:sp>
      <p:sp>
        <p:nvSpPr>
          <p:cNvPr id="46" name="Rectangle 45"/>
          <p:cNvSpPr/>
          <p:nvPr/>
        </p:nvSpPr>
        <p:spPr>
          <a:xfrm>
            <a:off x="6080760" y="2688336"/>
            <a:ext cx="2606040"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17336" y="2761488"/>
            <a:ext cx="2551176" cy="347472"/>
          </a:xfrm>
          <a:prstGeom prst="rect">
            <a:avLst/>
          </a:prstGeom>
          <a:noFill/>
        </p:spPr>
        <p:txBody>
          <a:bodyPr wrap="square">
            <a:spAutoFit/>
          </a:bodyPr>
          <a:lstStyle/>
          <a:p>
            <a:pPr algn="l"/>
            <a:r>
              <a:rPr sz="1050" b="1" i="0">
                <a:solidFill>
                  <a:srgbClr val="FFFFFF"/>
                </a:solidFill>
                <a:latin typeface="Segoe UI"/>
              </a:rPr>
              <a:t>Monthly Churn</a:t>
            </a:r>
          </a:p>
        </p:txBody>
      </p:sp>
      <p:sp>
        <p:nvSpPr>
          <p:cNvPr id="48" name="Rectangle 47"/>
          <p:cNvSpPr/>
          <p:nvPr/>
        </p:nvSpPr>
        <p:spPr>
          <a:xfrm>
            <a:off x="8686800" y="2688336"/>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23376" y="2761488"/>
            <a:ext cx="932688" cy="347472"/>
          </a:xfrm>
          <a:prstGeom prst="rect">
            <a:avLst/>
          </a:prstGeom>
          <a:noFill/>
        </p:spPr>
        <p:txBody>
          <a:bodyPr wrap="square">
            <a:spAutoFit/>
          </a:bodyPr>
          <a:lstStyle/>
          <a:p>
            <a:pPr algn="ctr"/>
            <a:r>
              <a:rPr sz="1050" b="0" i="0">
                <a:solidFill>
                  <a:srgbClr val="9B72FF"/>
                </a:solidFill>
                <a:latin typeface="Segoe UI"/>
              </a:rPr>
              <a:t>5.0%</a:t>
            </a:r>
          </a:p>
        </p:txBody>
      </p:sp>
      <p:sp>
        <p:nvSpPr>
          <p:cNvPr id="50" name="Rectangle 49"/>
          <p:cNvSpPr/>
          <p:nvPr/>
        </p:nvSpPr>
        <p:spPr>
          <a:xfrm>
            <a:off x="9674352" y="2688336"/>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10928" y="2761488"/>
            <a:ext cx="932688" cy="347472"/>
          </a:xfrm>
          <a:prstGeom prst="rect">
            <a:avLst/>
          </a:prstGeom>
          <a:noFill/>
        </p:spPr>
        <p:txBody>
          <a:bodyPr wrap="square">
            <a:spAutoFit/>
          </a:bodyPr>
          <a:lstStyle/>
          <a:p>
            <a:pPr algn="ctr"/>
            <a:r>
              <a:rPr sz="1050" b="0" i="0">
                <a:solidFill>
                  <a:srgbClr val="9B72FF"/>
                </a:solidFill>
                <a:latin typeface="Segoe UI"/>
              </a:rPr>
              <a:t>3.5%</a:t>
            </a:r>
          </a:p>
        </p:txBody>
      </p:sp>
      <p:sp>
        <p:nvSpPr>
          <p:cNvPr id="52" name="Rectangle 51"/>
          <p:cNvSpPr/>
          <p:nvPr/>
        </p:nvSpPr>
        <p:spPr>
          <a:xfrm>
            <a:off x="10661904" y="2688336"/>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98480" y="2761488"/>
            <a:ext cx="932688" cy="347472"/>
          </a:xfrm>
          <a:prstGeom prst="rect">
            <a:avLst/>
          </a:prstGeom>
          <a:noFill/>
        </p:spPr>
        <p:txBody>
          <a:bodyPr wrap="square">
            <a:spAutoFit/>
          </a:bodyPr>
          <a:lstStyle/>
          <a:p>
            <a:pPr algn="ctr"/>
            <a:r>
              <a:rPr sz="1050" b="0" i="0">
                <a:solidFill>
                  <a:srgbClr val="9B72FF"/>
                </a:solidFill>
                <a:latin typeface="Segoe UI"/>
              </a:rPr>
              <a:t>2.5%</a:t>
            </a:r>
          </a:p>
        </p:txBody>
      </p:sp>
      <p:sp>
        <p:nvSpPr>
          <p:cNvPr id="54" name="Rectangle 53"/>
          <p:cNvSpPr/>
          <p:nvPr/>
        </p:nvSpPr>
        <p:spPr>
          <a:xfrm>
            <a:off x="6080760" y="3218687"/>
            <a:ext cx="2606040"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17336" y="3291839"/>
            <a:ext cx="2551176" cy="347472"/>
          </a:xfrm>
          <a:prstGeom prst="rect">
            <a:avLst/>
          </a:prstGeom>
          <a:noFill/>
        </p:spPr>
        <p:txBody>
          <a:bodyPr wrap="square">
            <a:spAutoFit/>
          </a:bodyPr>
          <a:lstStyle/>
          <a:p>
            <a:pPr algn="l"/>
            <a:r>
              <a:rPr sz="1050" b="1" i="0">
                <a:solidFill>
                  <a:srgbClr val="FFFFFF"/>
                </a:solidFill>
                <a:latin typeface="Segoe UI"/>
              </a:rPr>
              <a:t>LTV : CAC Ratio</a:t>
            </a:r>
          </a:p>
        </p:txBody>
      </p:sp>
      <p:sp>
        <p:nvSpPr>
          <p:cNvPr id="56" name="Rectangle 55"/>
          <p:cNvSpPr/>
          <p:nvPr/>
        </p:nvSpPr>
        <p:spPr>
          <a:xfrm>
            <a:off x="8686800" y="3218687"/>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23376" y="3291839"/>
            <a:ext cx="932688" cy="347472"/>
          </a:xfrm>
          <a:prstGeom prst="rect">
            <a:avLst/>
          </a:prstGeom>
          <a:noFill/>
        </p:spPr>
        <p:txBody>
          <a:bodyPr wrap="square">
            <a:spAutoFit/>
          </a:bodyPr>
          <a:lstStyle/>
          <a:p>
            <a:pPr algn="ctr"/>
            <a:r>
              <a:rPr sz="1050" b="0" i="0">
                <a:solidFill>
                  <a:srgbClr val="BBB8D4"/>
                </a:solidFill>
                <a:latin typeface="Segoe UI"/>
              </a:rPr>
              <a:t>28×</a:t>
            </a:r>
          </a:p>
        </p:txBody>
      </p:sp>
      <p:sp>
        <p:nvSpPr>
          <p:cNvPr id="58" name="Rectangle 57"/>
          <p:cNvSpPr/>
          <p:nvPr/>
        </p:nvSpPr>
        <p:spPr>
          <a:xfrm>
            <a:off x="9674352" y="3218687"/>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10928" y="3291839"/>
            <a:ext cx="932688" cy="347472"/>
          </a:xfrm>
          <a:prstGeom prst="rect">
            <a:avLst/>
          </a:prstGeom>
          <a:noFill/>
        </p:spPr>
        <p:txBody>
          <a:bodyPr wrap="square">
            <a:spAutoFit/>
          </a:bodyPr>
          <a:lstStyle/>
          <a:p>
            <a:pPr algn="ctr"/>
            <a:r>
              <a:rPr sz="1050" b="0" i="0">
                <a:solidFill>
                  <a:srgbClr val="BBB8D4"/>
                </a:solidFill>
                <a:latin typeface="Segoe UI"/>
              </a:rPr>
              <a:t>36×</a:t>
            </a:r>
          </a:p>
        </p:txBody>
      </p:sp>
      <p:sp>
        <p:nvSpPr>
          <p:cNvPr id="60" name="Rectangle 59"/>
          <p:cNvSpPr/>
          <p:nvPr/>
        </p:nvSpPr>
        <p:spPr>
          <a:xfrm>
            <a:off x="10661904" y="3218687"/>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698480" y="3291839"/>
            <a:ext cx="932688" cy="347472"/>
          </a:xfrm>
          <a:prstGeom prst="rect">
            <a:avLst/>
          </a:prstGeom>
          <a:noFill/>
        </p:spPr>
        <p:txBody>
          <a:bodyPr wrap="square">
            <a:spAutoFit/>
          </a:bodyPr>
          <a:lstStyle/>
          <a:p>
            <a:pPr algn="ctr"/>
            <a:r>
              <a:rPr sz="1050" b="0" i="0">
                <a:solidFill>
                  <a:srgbClr val="BBB8D4"/>
                </a:solidFill>
                <a:latin typeface="Segoe UI"/>
              </a:rPr>
              <a:t>46×</a:t>
            </a:r>
          </a:p>
        </p:txBody>
      </p:sp>
      <p:sp>
        <p:nvSpPr>
          <p:cNvPr id="62" name="Rectangle 61"/>
          <p:cNvSpPr/>
          <p:nvPr/>
        </p:nvSpPr>
        <p:spPr>
          <a:xfrm>
            <a:off x="6080760" y="3749039"/>
            <a:ext cx="2606040"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17336" y="3822191"/>
            <a:ext cx="2551176" cy="347472"/>
          </a:xfrm>
          <a:prstGeom prst="rect">
            <a:avLst/>
          </a:prstGeom>
          <a:noFill/>
        </p:spPr>
        <p:txBody>
          <a:bodyPr wrap="square">
            <a:spAutoFit/>
          </a:bodyPr>
          <a:lstStyle/>
          <a:p>
            <a:pPr algn="l"/>
            <a:r>
              <a:rPr sz="1050" b="1" i="0">
                <a:solidFill>
                  <a:srgbClr val="FFFFFF"/>
                </a:solidFill>
                <a:latin typeface="Segoe UI"/>
              </a:rPr>
              <a:t>Net Revenue Retention</a:t>
            </a:r>
          </a:p>
        </p:txBody>
      </p:sp>
      <p:sp>
        <p:nvSpPr>
          <p:cNvPr id="64" name="Rectangle 63"/>
          <p:cNvSpPr/>
          <p:nvPr/>
        </p:nvSpPr>
        <p:spPr>
          <a:xfrm>
            <a:off x="8686800" y="3749039"/>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723376" y="3822191"/>
            <a:ext cx="932688" cy="347472"/>
          </a:xfrm>
          <a:prstGeom prst="rect">
            <a:avLst/>
          </a:prstGeom>
          <a:noFill/>
        </p:spPr>
        <p:txBody>
          <a:bodyPr wrap="square">
            <a:spAutoFit/>
          </a:bodyPr>
          <a:lstStyle/>
          <a:p>
            <a:pPr algn="ctr"/>
            <a:r>
              <a:rPr sz="1050" b="0" i="0">
                <a:solidFill>
                  <a:srgbClr val="9B72FF"/>
                </a:solidFill>
                <a:latin typeface="Segoe UI"/>
              </a:rPr>
              <a:t>105%</a:t>
            </a:r>
          </a:p>
        </p:txBody>
      </p:sp>
      <p:sp>
        <p:nvSpPr>
          <p:cNvPr id="66" name="Rectangle 65"/>
          <p:cNvSpPr/>
          <p:nvPr/>
        </p:nvSpPr>
        <p:spPr>
          <a:xfrm>
            <a:off x="9674352" y="3749039"/>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710928" y="3822191"/>
            <a:ext cx="932688" cy="347472"/>
          </a:xfrm>
          <a:prstGeom prst="rect">
            <a:avLst/>
          </a:prstGeom>
          <a:noFill/>
        </p:spPr>
        <p:txBody>
          <a:bodyPr wrap="square">
            <a:spAutoFit/>
          </a:bodyPr>
          <a:lstStyle/>
          <a:p>
            <a:pPr algn="ctr"/>
            <a:r>
              <a:rPr sz="1050" b="0" i="0">
                <a:solidFill>
                  <a:srgbClr val="9B72FF"/>
                </a:solidFill>
                <a:latin typeface="Segoe UI"/>
              </a:rPr>
              <a:t>115%</a:t>
            </a:r>
          </a:p>
        </p:txBody>
      </p:sp>
      <p:sp>
        <p:nvSpPr>
          <p:cNvPr id="68" name="Rectangle 67"/>
          <p:cNvSpPr/>
          <p:nvPr/>
        </p:nvSpPr>
        <p:spPr>
          <a:xfrm>
            <a:off x="10661904" y="3749039"/>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698480" y="3822191"/>
            <a:ext cx="932688" cy="347472"/>
          </a:xfrm>
          <a:prstGeom prst="rect">
            <a:avLst/>
          </a:prstGeom>
          <a:noFill/>
        </p:spPr>
        <p:txBody>
          <a:bodyPr wrap="square">
            <a:spAutoFit/>
          </a:bodyPr>
          <a:lstStyle/>
          <a:p>
            <a:pPr algn="ctr"/>
            <a:r>
              <a:rPr sz="1050" b="0" i="0">
                <a:solidFill>
                  <a:srgbClr val="9B72FF"/>
                </a:solidFill>
                <a:latin typeface="Segoe UI"/>
              </a:rPr>
              <a:t>125%</a:t>
            </a:r>
          </a:p>
        </p:txBody>
      </p:sp>
      <p:sp>
        <p:nvSpPr>
          <p:cNvPr id="70" name="Rectangle 69"/>
          <p:cNvSpPr/>
          <p:nvPr/>
        </p:nvSpPr>
        <p:spPr>
          <a:xfrm>
            <a:off x="6080760" y="4279392"/>
            <a:ext cx="2606040"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17336" y="4352544"/>
            <a:ext cx="2551176" cy="347472"/>
          </a:xfrm>
          <a:prstGeom prst="rect">
            <a:avLst/>
          </a:prstGeom>
          <a:noFill/>
        </p:spPr>
        <p:txBody>
          <a:bodyPr wrap="square">
            <a:spAutoFit/>
          </a:bodyPr>
          <a:lstStyle/>
          <a:p>
            <a:pPr algn="l"/>
            <a:r>
              <a:rPr sz="1050" b="1" i="0">
                <a:solidFill>
                  <a:srgbClr val="FFFFFF"/>
                </a:solidFill>
                <a:latin typeface="Segoe UI"/>
              </a:rPr>
              <a:t>Break-even MRR</a:t>
            </a:r>
          </a:p>
        </p:txBody>
      </p:sp>
      <p:sp>
        <p:nvSpPr>
          <p:cNvPr id="72" name="Rectangle 71"/>
          <p:cNvSpPr/>
          <p:nvPr/>
        </p:nvSpPr>
        <p:spPr>
          <a:xfrm>
            <a:off x="8686800" y="4279392"/>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723376" y="4352544"/>
            <a:ext cx="932688" cy="347472"/>
          </a:xfrm>
          <a:prstGeom prst="rect">
            <a:avLst/>
          </a:prstGeom>
          <a:noFill/>
        </p:spPr>
        <p:txBody>
          <a:bodyPr wrap="square">
            <a:spAutoFit/>
          </a:bodyPr>
          <a:lstStyle/>
          <a:p>
            <a:pPr algn="ctr"/>
            <a:r>
              <a:rPr sz="1050" b="0" i="0">
                <a:solidFill>
                  <a:srgbClr val="BBB8D4"/>
                </a:solidFill>
                <a:latin typeface="Segoe UI"/>
              </a:rPr>
              <a:t>$12K</a:t>
            </a:r>
          </a:p>
        </p:txBody>
      </p:sp>
      <p:sp>
        <p:nvSpPr>
          <p:cNvPr id="74" name="Rectangle 73"/>
          <p:cNvSpPr/>
          <p:nvPr/>
        </p:nvSpPr>
        <p:spPr>
          <a:xfrm>
            <a:off x="9674352" y="4279392"/>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710928" y="4352544"/>
            <a:ext cx="932688" cy="347472"/>
          </a:xfrm>
          <a:prstGeom prst="rect">
            <a:avLst/>
          </a:prstGeom>
          <a:noFill/>
        </p:spPr>
        <p:txBody>
          <a:bodyPr wrap="square">
            <a:spAutoFit/>
          </a:bodyPr>
          <a:lstStyle/>
          <a:p>
            <a:pPr algn="ctr"/>
            <a:r>
              <a:rPr sz="1050" b="0" i="0">
                <a:solidFill>
                  <a:srgbClr val="22C55E"/>
                </a:solidFill>
                <a:latin typeface="Segoe UI"/>
              </a:rPr>
              <a:t>✅ Met</a:t>
            </a:r>
          </a:p>
        </p:txBody>
      </p:sp>
      <p:sp>
        <p:nvSpPr>
          <p:cNvPr id="76" name="Rectangle 75"/>
          <p:cNvSpPr/>
          <p:nvPr/>
        </p:nvSpPr>
        <p:spPr>
          <a:xfrm>
            <a:off x="10661904" y="4279392"/>
            <a:ext cx="987552" cy="50292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698480" y="4352544"/>
            <a:ext cx="932688" cy="347472"/>
          </a:xfrm>
          <a:prstGeom prst="rect">
            <a:avLst/>
          </a:prstGeom>
          <a:noFill/>
        </p:spPr>
        <p:txBody>
          <a:bodyPr wrap="square">
            <a:spAutoFit/>
          </a:bodyPr>
          <a:lstStyle/>
          <a:p>
            <a:pPr algn="ctr"/>
            <a:r>
              <a:rPr sz="1050" b="0" i="0">
                <a:solidFill>
                  <a:srgbClr val="22C55E"/>
                </a:solidFill>
                <a:latin typeface="Segoe UI"/>
              </a:rPr>
              <a:t>✅ Met</a:t>
            </a:r>
          </a:p>
        </p:txBody>
      </p:sp>
      <p:sp>
        <p:nvSpPr>
          <p:cNvPr id="78" name="Rectangle 77"/>
          <p:cNvSpPr/>
          <p:nvPr/>
        </p:nvSpPr>
        <p:spPr>
          <a:xfrm>
            <a:off x="6080760" y="4809744"/>
            <a:ext cx="2606040"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17336" y="4882896"/>
            <a:ext cx="2551176" cy="347472"/>
          </a:xfrm>
          <a:prstGeom prst="rect">
            <a:avLst/>
          </a:prstGeom>
          <a:noFill/>
        </p:spPr>
        <p:txBody>
          <a:bodyPr wrap="square">
            <a:spAutoFit/>
          </a:bodyPr>
          <a:lstStyle/>
          <a:p>
            <a:pPr algn="l"/>
            <a:r>
              <a:rPr sz="1050" b="1" i="0">
                <a:solidFill>
                  <a:srgbClr val="FFFFFF"/>
                </a:solidFill>
                <a:latin typeface="Segoe UI"/>
              </a:rPr>
              <a:t>ARR Growth</a:t>
            </a:r>
          </a:p>
        </p:txBody>
      </p:sp>
      <p:sp>
        <p:nvSpPr>
          <p:cNvPr id="80" name="Rectangle 79"/>
          <p:cNvSpPr/>
          <p:nvPr/>
        </p:nvSpPr>
        <p:spPr>
          <a:xfrm>
            <a:off x="8686800" y="4809744"/>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723376" y="4882896"/>
            <a:ext cx="932688" cy="347472"/>
          </a:xfrm>
          <a:prstGeom prst="rect">
            <a:avLst/>
          </a:prstGeom>
          <a:noFill/>
        </p:spPr>
        <p:txBody>
          <a:bodyPr wrap="square">
            <a:spAutoFit/>
          </a:bodyPr>
          <a:lstStyle/>
          <a:p>
            <a:pPr algn="ctr"/>
            <a:r>
              <a:rPr sz="1050" b="0" i="0">
                <a:solidFill>
                  <a:srgbClr val="BBB8D4"/>
                </a:solidFill>
                <a:latin typeface="Segoe UI"/>
              </a:rPr>
              <a:t>—</a:t>
            </a:r>
          </a:p>
        </p:txBody>
      </p:sp>
      <p:sp>
        <p:nvSpPr>
          <p:cNvPr id="82" name="Rectangle 81"/>
          <p:cNvSpPr/>
          <p:nvPr/>
        </p:nvSpPr>
        <p:spPr>
          <a:xfrm>
            <a:off x="9674352" y="4809744"/>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710928" y="4882896"/>
            <a:ext cx="932688" cy="347472"/>
          </a:xfrm>
          <a:prstGeom prst="rect">
            <a:avLst/>
          </a:prstGeom>
          <a:noFill/>
        </p:spPr>
        <p:txBody>
          <a:bodyPr wrap="square">
            <a:spAutoFit/>
          </a:bodyPr>
          <a:lstStyle/>
          <a:p>
            <a:pPr algn="ctr"/>
            <a:r>
              <a:rPr sz="1050" b="0" i="0">
                <a:solidFill>
                  <a:srgbClr val="9B72FF"/>
                </a:solidFill>
                <a:latin typeface="Segoe UI"/>
              </a:rPr>
              <a:t>+185%</a:t>
            </a:r>
          </a:p>
        </p:txBody>
      </p:sp>
      <p:sp>
        <p:nvSpPr>
          <p:cNvPr id="84" name="Rectangle 83"/>
          <p:cNvSpPr/>
          <p:nvPr/>
        </p:nvSpPr>
        <p:spPr>
          <a:xfrm>
            <a:off x="10661904" y="4809744"/>
            <a:ext cx="987552" cy="502920"/>
          </a:xfrm>
          <a:prstGeom prst="rect">
            <a:avLst/>
          </a:prstGeom>
          <a:solidFill>
            <a:srgbClr val="11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698480" y="4882896"/>
            <a:ext cx="932688" cy="347472"/>
          </a:xfrm>
          <a:prstGeom prst="rect">
            <a:avLst/>
          </a:prstGeom>
          <a:noFill/>
        </p:spPr>
        <p:txBody>
          <a:bodyPr wrap="square">
            <a:spAutoFit/>
          </a:bodyPr>
          <a:lstStyle/>
          <a:p>
            <a:pPr algn="ctr"/>
            <a:r>
              <a:rPr sz="1050" b="0" i="0">
                <a:solidFill>
                  <a:srgbClr val="9B72FF"/>
                </a:solidFill>
                <a:latin typeface="Segoe UI"/>
              </a:rPr>
              <a:t>+126%</a:t>
            </a:r>
          </a:p>
        </p:txBody>
      </p:sp>
      <p:sp>
        <p:nvSpPr>
          <p:cNvPr id="86" name="Rectangle 85"/>
          <p:cNvSpPr/>
          <p:nvPr/>
        </p:nvSpPr>
        <p:spPr>
          <a:xfrm>
            <a:off x="6080760" y="5413248"/>
            <a:ext cx="5577840" cy="100584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1E1055"/>
            </a:gs>
            <a:gs pos="100000">
              <a:srgbClr val="6E3DFF"/>
            </a:gs>
          </a:gsLst>
          <a:lin ang="0" scaled="0"/>
        </a:gradFill>
      </p:sp>
      <p:sp>
        <p:nvSpPr>
          <p:cNvPr id="87" name="TextBox 86"/>
          <p:cNvSpPr txBox="1"/>
          <p:nvPr/>
        </p:nvSpPr>
        <p:spPr>
          <a:xfrm>
            <a:off x="6263640" y="5486400"/>
            <a:ext cx="5212080" cy="274320"/>
          </a:xfrm>
          <a:prstGeom prst="rect">
            <a:avLst/>
          </a:prstGeom>
          <a:noFill/>
        </p:spPr>
        <p:txBody>
          <a:bodyPr wrap="square">
            <a:spAutoFit/>
          </a:bodyPr>
          <a:lstStyle/>
          <a:p>
            <a:pPr algn="l"/>
            <a:r>
              <a:rPr sz="1100" b="1" i="0">
                <a:solidFill>
                  <a:srgbClr val="FFFFFF"/>
                </a:solidFill>
                <a:latin typeface="Segoe UI Semibold"/>
              </a:rPr>
              <a:t>Raising Pre-Seed</a:t>
            </a:r>
          </a:p>
        </p:txBody>
      </p:sp>
      <p:sp>
        <p:nvSpPr>
          <p:cNvPr id="88" name="TextBox 87"/>
          <p:cNvSpPr txBox="1"/>
          <p:nvPr/>
        </p:nvSpPr>
        <p:spPr>
          <a:xfrm>
            <a:off x="6263640" y="5742432"/>
            <a:ext cx="5212080" cy="411480"/>
          </a:xfrm>
          <a:prstGeom prst="rect">
            <a:avLst/>
          </a:prstGeom>
          <a:noFill/>
        </p:spPr>
        <p:txBody>
          <a:bodyPr wrap="square">
            <a:spAutoFit/>
          </a:bodyPr>
          <a:lstStyle/>
          <a:p>
            <a:pPr algn="l"/>
            <a:r>
              <a:rPr sz="2200" b="1" i="0">
                <a:solidFill>
                  <a:srgbClr val="FF4FCB"/>
                </a:solidFill>
                <a:latin typeface="Segoe UI Black"/>
              </a:rPr>
              <a:t>$300K–500K</a:t>
            </a:r>
          </a:p>
        </p:txBody>
      </p:sp>
      <p:sp>
        <p:nvSpPr>
          <p:cNvPr id="89" name="TextBox 88"/>
          <p:cNvSpPr txBox="1"/>
          <p:nvPr/>
        </p:nvSpPr>
        <p:spPr>
          <a:xfrm>
            <a:off x="6263640" y="6144768"/>
            <a:ext cx="5212080" cy="256032"/>
          </a:xfrm>
          <a:prstGeom prst="rect">
            <a:avLst/>
          </a:prstGeom>
          <a:noFill/>
        </p:spPr>
        <p:txBody>
          <a:bodyPr wrap="square">
            <a:spAutoFit/>
          </a:bodyPr>
          <a:lstStyle/>
          <a:p>
            <a:pPr algn="l"/>
            <a:r>
              <a:rPr sz="1000" b="0" i="0">
                <a:solidFill>
                  <a:srgbClr val="BBB8D4"/>
                </a:solidFill>
                <a:latin typeface="Segoe UI"/>
              </a:rPr>
              <a:t>To accelerate product roadmap, first hire &amp; GTM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11</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SWOT ANALYSIS</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12</a:t>
            </a:r>
          </a:p>
        </p:txBody>
      </p:sp>
      <p:sp>
        <p:nvSpPr>
          <p:cNvPr id="7" name="Rounded Rectangle 6"/>
          <p:cNvSpPr/>
          <p:nvPr/>
        </p:nvSpPr>
        <p:spPr>
          <a:xfrm>
            <a:off x="384048" y="960120"/>
            <a:ext cx="5486400" cy="2724912"/>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960120"/>
            <a:ext cx="548640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6E3DFF"/>
            </a:gs>
          </a:gsLst>
          <a:lin ang="0" scaled="0"/>
        </a:gradFill>
      </p:sp>
      <p:sp>
        <p:nvSpPr>
          <p:cNvPr id="9" name="TextBox 8"/>
          <p:cNvSpPr txBox="1"/>
          <p:nvPr/>
        </p:nvSpPr>
        <p:spPr>
          <a:xfrm>
            <a:off x="4498848" y="1143000"/>
            <a:ext cx="1280160" cy="1280160"/>
          </a:xfrm>
          <a:prstGeom prst="rect">
            <a:avLst/>
          </a:prstGeom>
          <a:noFill/>
        </p:spPr>
        <p:txBody>
          <a:bodyPr wrap="square">
            <a:spAutoFit/>
          </a:bodyPr>
          <a:lstStyle/>
          <a:p>
            <a:pPr algn="l"/>
            <a:r>
              <a:rPr sz="7200" b="1" i="0">
                <a:solidFill>
                  <a:srgbClr val="1E00AF"/>
                </a:solidFill>
                <a:latin typeface="Segoe UI Black"/>
              </a:rPr>
              <a:t>S</a:t>
            </a:r>
          </a:p>
        </p:txBody>
      </p:sp>
      <p:sp>
        <p:nvSpPr>
          <p:cNvPr id="10" name="TextBox 9"/>
          <p:cNvSpPr txBox="1"/>
          <p:nvPr/>
        </p:nvSpPr>
        <p:spPr>
          <a:xfrm>
            <a:off x="548640" y="1088136"/>
            <a:ext cx="4114800" cy="347472"/>
          </a:xfrm>
          <a:prstGeom prst="rect">
            <a:avLst/>
          </a:prstGeom>
          <a:noFill/>
        </p:spPr>
        <p:txBody>
          <a:bodyPr wrap="square">
            <a:spAutoFit/>
          </a:bodyPr>
          <a:lstStyle/>
          <a:p>
            <a:pPr algn="l"/>
            <a:r>
              <a:rPr sz="1300" b="1" i="0">
                <a:solidFill>
                  <a:srgbClr val="6E3DFF"/>
                </a:solidFill>
                <a:latin typeface="Segoe UI Black"/>
              </a:rPr>
              <a:t>STRENGTHS</a:t>
            </a:r>
          </a:p>
        </p:txBody>
      </p:sp>
      <p:sp>
        <p:nvSpPr>
          <p:cNvPr id="11" name="TextBox 10"/>
          <p:cNvSpPr txBox="1"/>
          <p:nvPr/>
        </p:nvSpPr>
        <p:spPr>
          <a:xfrm>
            <a:off x="548640" y="1508760"/>
            <a:ext cx="5029200" cy="338328"/>
          </a:xfrm>
          <a:prstGeom prst="rect">
            <a:avLst/>
          </a:prstGeom>
          <a:noFill/>
        </p:spPr>
        <p:txBody>
          <a:bodyPr wrap="square">
            <a:spAutoFit/>
          </a:bodyPr>
          <a:lstStyle/>
          <a:p>
            <a:pPr algn="l"/>
            <a:r>
              <a:rPr sz="1050" b="0" i="0">
                <a:solidFill>
                  <a:srgbClr val="FFFFFF"/>
                </a:solidFill>
                <a:latin typeface="Segoe UI"/>
              </a:rPr>
              <a:t>·  Only intelligence-first AI ad platform</a:t>
            </a:r>
          </a:p>
        </p:txBody>
      </p:sp>
      <p:sp>
        <p:nvSpPr>
          <p:cNvPr id="12" name="TextBox 11"/>
          <p:cNvSpPr txBox="1"/>
          <p:nvPr/>
        </p:nvSpPr>
        <p:spPr>
          <a:xfrm>
            <a:off x="548640" y="1865376"/>
            <a:ext cx="5029200" cy="338328"/>
          </a:xfrm>
          <a:prstGeom prst="rect">
            <a:avLst/>
          </a:prstGeom>
          <a:noFill/>
        </p:spPr>
        <p:txBody>
          <a:bodyPr wrap="square">
            <a:spAutoFit/>
          </a:bodyPr>
          <a:lstStyle/>
          <a:p>
            <a:pPr algn="l"/>
            <a:r>
              <a:rPr sz="1050" b="0" i="0">
                <a:solidFill>
                  <a:srgbClr val="FFFFFF"/>
                </a:solidFill>
                <a:latin typeface="Segoe UI"/>
              </a:rPr>
              <a:t>·  Dual-AI (Grok + Claude) architecture</a:t>
            </a:r>
          </a:p>
        </p:txBody>
      </p:sp>
      <p:sp>
        <p:nvSpPr>
          <p:cNvPr id="13" name="TextBox 12"/>
          <p:cNvSpPr txBox="1"/>
          <p:nvPr/>
        </p:nvSpPr>
        <p:spPr>
          <a:xfrm>
            <a:off x="548640" y="2221991"/>
            <a:ext cx="5029200" cy="338328"/>
          </a:xfrm>
          <a:prstGeom prst="rect">
            <a:avLst/>
          </a:prstGeom>
          <a:noFill/>
        </p:spPr>
        <p:txBody>
          <a:bodyPr wrap="square">
            <a:spAutoFit/>
          </a:bodyPr>
          <a:lstStyle/>
          <a:p>
            <a:pPr algn="l"/>
            <a:r>
              <a:rPr sz="1050" b="0" i="0">
                <a:solidFill>
                  <a:srgbClr val="FFFFFF"/>
                </a:solidFill>
                <a:latin typeface="Segoe UI"/>
              </a:rPr>
              <a:t>·  10–100× cheaper than agencies</a:t>
            </a:r>
          </a:p>
        </p:txBody>
      </p:sp>
      <p:sp>
        <p:nvSpPr>
          <p:cNvPr id="14" name="TextBox 13"/>
          <p:cNvSpPr txBox="1"/>
          <p:nvPr/>
        </p:nvSpPr>
        <p:spPr>
          <a:xfrm>
            <a:off x="548640" y="2578608"/>
            <a:ext cx="5029200" cy="338328"/>
          </a:xfrm>
          <a:prstGeom prst="rect">
            <a:avLst/>
          </a:prstGeom>
          <a:noFill/>
        </p:spPr>
        <p:txBody>
          <a:bodyPr wrap="square">
            <a:spAutoFit/>
          </a:bodyPr>
          <a:lstStyle/>
          <a:p>
            <a:pPr algn="l"/>
            <a:r>
              <a:rPr sz="1050" b="0" i="0">
                <a:solidFill>
                  <a:srgbClr val="FFFFFF"/>
                </a:solidFill>
                <a:latin typeface="Segoe UI"/>
              </a:rPr>
              <a:t>·  Under 3 minutes from URL to full creative set</a:t>
            </a:r>
          </a:p>
        </p:txBody>
      </p:sp>
      <p:sp>
        <p:nvSpPr>
          <p:cNvPr id="15" name="TextBox 14"/>
          <p:cNvSpPr txBox="1"/>
          <p:nvPr/>
        </p:nvSpPr>
        <p:spPr>
          <a:xfrm>
            <a:off x="548640" y="2935224"/>
            <a:ext cx="5029200" cy="338328"/>
          </a:xfrm>
          <a:prstGeom prst="rect">
            <a:avLst/>
          </a:prstGeom>
          <a:noFill/>
        </p:spPr>
        <p:txBody>
          <a:bodyPr wrap="square">
            <a:spAutoFit/>
          </a:bodyPr>
          <a:lstStyle/>
          <a:p>
            <a:pPr algn="l"/>
            <a:r>
              <a:rPr sz="1050" b="0" i="0">
                <a:solidFill>
                  <a:srgbClr val="FFFFFF"/>
                </a:solidFill>
                <a:latin typeface="Segoe UI"/>
              </a:rPr>
              <a:t>·  Platform-specific optimization (Meta/Google/TikTok)</a:t>
            </a:r>
          </a:p>
        </p:txBody>
      </p:sp>
      <p:sp>
        <p:nvSpPr>
          <p:cNvPr id="16" name="TextBox 15"/>
          <p:cNvSpPr txBox="1"/>
          <p:nvPr/>
        </p:nvSpPr>
        <p:spPr>
          <a:xfrm>
            <a:off x="548640" y="3291840"/>
            <a:ext cx="5029200" cy="338328"/>
          </a:xfrm>
          <a:prstGeom prst="rect">
            <a:avLst/>
          </a:prstGeom>
          <a:noFill/>
        </p:spPr>
        <p:txBody>
          <a:bodyPr wrap="square">
            <a:spAutoFit/>
          </a:bodyPr>
          <a:lstStyle/>
          <a:p>
            <a:pPr algn="l"/>
            <a:r>
              <a:rPr sz="1050" b="0" i="0">
                <a:solidFill>
                  <a:srgbClr val="FFFFFF"/>
                </a:solidFill>
                <a:latin typeface="Segoe UI"/>
              </a:rPr>
              <a:t>·  ICP-derived image generation (not random scenes)</a:t>
            </a:r>
          </a:p>
        </p:txBody>
      </p:sp>
      <p:sp>
        <p:nvSpPr>
          <p:cNvPr id="17" name="Rounded Rectangle 16"/>
          <p:cNvSpPr/>
          <p:nvPr/>
        </p:nvSpPr>
        <p:spPr>
          <a:xfrm>
            <a:off x="6355080" y="960120"/>
            <a:ext cx="5486400" cy="2724912"/>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960120"/>
            <a:ext cx="548640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F59E0B"/>
            </a:gs>
            <a:gs pos="100000">
              <a:srgbClr val="F59E0B"/>
            </a:gs>
          </a:gsLst>
          <a:lin ang="0" scaled="0"/>
        </a:gradFill>
      </p:sp>
      <p:sp>
        <p:nvSpPr>
          <p:cNvPr id="19" name="TextBox 18"/>
          <p:cNvSpPr txBox="1"/>
          <p:nvPr/>
        </p:nvSpPr>
        <p:spPr>
          <a:xfrm>
            <a:off x="10469880" y="1143000"/>
            <a:ext cx="1280160" cy="1280160"/>
          </a:xfrm>
          <a:prstGeom prst="rect">
            <a:avLst/>
          </a:prstGeom>
          <a:noFill/>
        </p:spPr>
        <p:txBody>
          <a:bodyPr wrap="square">
            <a:spAutoFit/>
          </a:bodyPr>
          <a:lstStyle/>
          <a:p>
            <a:pPr algn="l"/>
            <a:r>
              <a:rPr sz="7200" b="1" i="0">
                <a:solidFill>
                  <a:srgbClr val="A54E00"/>
                </a:solidFill>
                <a:latin typeface="Segoe UI Black"/>
              </a:rPr>
              <a:t>W</a:t>
            </a:r>
          </a:p>
        </p:txBody>
      </p:sp>
      <p:sp>
        <p:nvSpPr>
          <p:cNvPr id="20" name="TextBox 19"/>
          <p:cNvSpPr txBox="1"/>
          <p:nvPr/>
        </p:nvSpPr>
        <p:spPr>
          <a:xfrm>
            <a:off x="6519672" y="1088136"/>
            <a:ext cx="4114800" cy="347472"/>
          </a:xfrm>
          <a:prstGeom prst="rect">
            <a:avLst/>
          </a:prstGeom>
          <a:noFill/>
        </p:spPr>
        <p:txBody>
          <a:bodyPr wrap="square">
            <a:spAutoFit/>
          </a:bodyPr>
          <a:lstStyle/>
          <a:p>
            <a:pPr algn="l"/>
            <a:r>
              <a:rPr sz="1300" b="1" i="0">
                <a:solidFill>
                  <a:srgbClr val="F59E0B"/>
                </a:solidFill>
                <a:latin typeface="Segoe UI Black"/>
              </a:rPr>
              <a:t>WEAKNESSES</a:t>
            </a:r>
          </a:p>
        </p:txBody>
      </p:sp>
      <p:sp>
        <p:nvSpPr>
          <p:cNvPr id="21" name="TextBox 20"/>
          <p:cNvSpPr txBox="1"/>
          <p:nvPr/>
        </p:nvSpPr>
        <p:spPr>
          <a:xfrm>
            <a:off x="6519672" y="1508760"/>
            <a:ext cx="5029200" cy="338328"/>
          </a:xfrm>
          <a:prstGeom prst="rect">
            <a:avLst/>
          </a:prstGeom>
          <a:noFill/>
        </p:spPr>
        <p:txBody>
          <a:bodyPr wrap="square">
            <a:spAutoFit/>
          </a:bodyPr>
          <a:lstStyle/>
          <a:p>
            <a:pPr algn="l"/>
            <a:r>
              <a:rPr sz="1050" b="0" i="0">
                <a:solidFill>
                  <a:srgbClr val="FFFFFF"/>
                </a:solidFill>
                <a:latin typeface="Segoe UI"/>
              </a:rPr>
              <a:t>·  Early-stage brand — limited public case studies</a:t>
            </a:r>
          </a:p>
        </p:txBody>
      </p:sp>
      <p:sp>
        <p:nvSpPr>
          <p:cNvPr id="22" name="TextBox 21"/>
          <p:cNvSpPr txBox="1"/>
          <p:nvPr/>
        </p:nvSpPr>
        <p:spPr>
          <a:xfrm>
            <a:off x="6519672" y="1865376"/>
            <a:ext cx="5029200" cy="338328"/>
          </a:xfrm>
          <a:prstGeom prst="rect">
            <a:avLst/>
          </a:prstGeom>
          <a:noFill/>
        </p:spPr>
        <p:txBody>
          <a:bodyPr wrap="square">
            <a:spAutoFit/>
          </a:bodyPr>
          <a:lstStyle/>
          <a:p>
            <a:pPr algn="l"/>
            <a:r>
              <a:rPr sz="1050" b="0" i="0">
                <a:solidFill>
                  <a:srgbClr val="FFFFFF"/>
                </a:solidFill>
                <a:latin typeface="Segoe UI"/>
              </a:rPr>
              <a:t>·  Dependency on 3rd-party AI APIs (xAI, Anthropic)</a:t>
            </a:r>
          </a:p>
        </p:txBody>
      </p:sp>
      <p:sp>
        <p:nvSpPr>
          <p:cNvPr id="23" name="TextBox 22"/>
          <p:cNvSpPr txBox="1"/>
          <p:nvPr/>
        </p:nvSpPr>
        <p:spPr>
          <a:xfrm>
            <a:off x="6519672" y="2221991"/>
            <a:ext cx="5029200" cy="338328"/>
          </a:xfrm>
          <a:prstGeom prst="rect">
            <a:avLst/>
          </a:prstGeom>
          <a:noFill/>
        </p:spPr>
        <p:txBody>
          <a:bodyPr wrap="square">
            <a:spAutoFit/>
          </a:bodyPr>
          <a:lstStyle/>
          <a:p>
            <a:pPr algn="l"/>
            <a:r>
              <a:rPr sz="1050" b="0" i="0">
                <a:solidFill>
                  <a:srgbClr val="FFFFFF"/>
                </a:solidFill>
                <a:latin typeface="Segoe UI"/>
              </a:rPr>
              <a:t>·  No direct ad platform integrations yet</a:t>
            </a:r>
          </a:p>
        </p:txBody>
      </p:sp>
      <p:sp>
        <p:nvSpPr>
          <p:cNvPr id="24" name="TextBox 23"/>
          <p:cNvSpPr txBox="1"/>
          <p:nvPr/>
        </p:nvSpPr>
        <p:spPr>
          <a:xfrm>
            <a:off x="6519672" y="2578608"/>
            <a:ext cx="5029200" cy="338328"/>
          </a:xfrm>
          <a:prstGeom prst="rect">
            <a:avLst/>
          </a:prstGeom>
          <a:noFill/>
        </p:spPr>
        <p:txBody>
          <a:bodyPr wrap="square">
            <a:spAutoFit/>
          </a:bodyPr>
          <a:lstStyle/>
          <a:p>
            <a:pPr algn="l"/>
            <a:r>
              <a:rPr sz="1050" b="0" i="0">
                <a:solidFill>
                  <a:srgbClr val="FFFFFF"/>
                </a:solidFill>
                <a:latin typeface="Segoe UI"/>
              </a:rPr>
              <a:t>·  Small founding team — bandwidth constraints</a:t>
            </a:r>
          </a:p>
        </p:txBody>
      </p:sp>
      <p:sp>
        <p:nvSpPr>
          <p:cNvPr id="25" name="TextBox 24"/>
          <p:cNvSpPr txBox="1"/>
          <p:nvPr/>
        </p:nvSpPr>
        <p:spPr>
          <a:xfrm>
            <a:off x="6519672" y="2935224"/>
            <a:ext cx="5029200" cy="338328"/>
          </a:xfrm>
          <a:prstGeom prst="rect">
            <a:avLst/>
          </a:prstGeom>
          <a:noFill/>
        </p:spPr>
        <p:txBody>
          <a:bodyPr wrap="square">
            <a:spAutoFit/>
          </a:bodyPr>
          <a:lstStyle/>
          <a:p>
            <a:pPr algn="l"/>
            <a:r>
              <a:rPr sz="1050" b="0" i="0">
                <a:solidFill>
                  <a:srgbClr val="FFFFFF"/>
                </a:solidFill>
                <a:latin typeface="Segoe UI"/>
              </a:rPr>
              <a:t>·  Brand Memory not yet shipped</a:t>
            </a:r>
          </a:p>
        </p:txBody>
      </p:sp>
      <p:sp>
        <p:nvSpPr>
          <p:cNvPr id="26" name="Rounded Rectangle 25"/>
          <p:cNvSpPr/>
          <p:nvPr/>
        </p:nvSpPr>
        <p:spPr>
          <a:xfrm>
            <a:off x="384048" y="3977639"/>
            <a:ext cx="5486400" cy="2724912"/>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4048" y="3977639"/>
            <a:ext cx="548640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22C55E"/>
            </a:gs>
            <a:gs pos="100000">
              <a:srgbClr val="22C55E"/>
            </a:gs>
          </a:gsLst>
          <a:lin ang="0" scaled="0"/>
        </a:gradFill>
      </p:sp>
      <p:sp>
        <p:nvSpPr>
          <p:cNvPr id="28" name="TextBox 27"/>
          <p:cNvSpPr txBox="1"/>
          <p:nvPr/>
        </p:nvSpPr>
        <p:spPr>
          <a:xfrm>
            <a:off x="4498848" y="4160520"/>
            <a:ext cx="1280160" cy="1280160"/>
          </a:xfrm>
          <a:prstGeom prst="rect">
            <a:avLst/>
          </a:prstGeom>
          <a:noFill/>
        </p:spPr>
        <p:txBody>
          <a:bodyPr wrap="square">
            <a:spAutoFit/>
          </a:bodyPr>
          <a:lstStyle/>
          <a:p>
            <a:pPr algn="l"/>
            <a:r>
              <a:rPr sz="7200" b="1" i="0">
                <a:solidFill>
                  <a:srgbClr val="00750E"/>
                </a:solidFill>
                <a:latin typeface="Segoe UI Black"/>
              </a:rPr>
              <a:t>O</a:t>
            </a:r>
          </a:p>
        </p:txBody>
      </p:sp>
      <p:sp>
        <p:nvSpPr>
          <p:cNvPr id="29" name="TextBox 28"/>
          <p:cNvSpPr txBox="1"/>
          <p:nvPr/>
        </p:nvSpPr>
        <p:spPr>
          <a:xfrm>
            <a:off x="548640" y="4105655"/>
            <a:ext cx="4114800" cy="347472"/>
          </a:xfrm>
          <a:prstGeom prst="rect">
            <a:avLst/>
          </a:prstGeom>
          <a:noFill/>
        </p:spPr>
        <p:txBody>
          <a:bodyPr wrap="square">
            <a:spAutoFit/>
          </a:bodyPr>
          <a:lstStyle/>
          <a:p>
            <a:pPr algn="l"/>
            <a:r>
              <a:rPr sz="1300" b="1" i="0">
                <a:solidFill>
                  <a:srgbClr val="22C55E"/>
                </a:solidFill>
                <a:latin typeface="Segoe UI Black"/>
              </a:rPr>
              <a:t>OPPORTUNITIES</a:t>
            </a:r>
          </a:p>
        </p:txBody>
      </p:sp>
      <p:sp>
        <p:nvSpPr>
          <p:cNvPr id="30" name="TextBox 29"/>
          <p:cNvSpPr txBox="1"/>
          <p:nvPr/>
        </p:nvSpPr>
        <p:spPr>
          <a:xfrm>
            <a:off x="548640" y="4526279"/>
            <a:ext cx="5029200" cy="338328"/>
          </a:xfrm>
          <a:prstGeom prst="rect">
            <a:avLst/>
          </a:prstGeom>
          <a:noFill/>
        </p:spPr>
        <p:txBody>
          <a:bodyPr wrap="square">
            <a:spAutoFit/>
          </a:bodyPr>
          <a:lstStyle/>
          <a:p>
            <a:pPr algn="l"/>
            <a:r>
              <a:rPr sz="1050" b="0" i="0">
                <a:solidFill>
                  <a:srgbClr val="FFFFFF"/>
                </a:solidFill>
                <a:latin typeface="Segoe UI"/>
              </a:rPr>
              <a:t>·  $107B AI in marketing market growing 26% CAGR</a:t>
            </a:r>
          </a:p>
        </p:txBody>
      </p:sp>
      <p:sp>
        <p:nvSpPr>
          <p:cNvPr id="31" name="TextBox 30"/>
          <p:cNvSpPr txBox="1"/>
          <p:nvPr/>
        </p:nvSpPr>
        <p:spPr>
          <a:xfrm>
            <a:off x="548640" y="4882895"/>
            <a:ext cx="5029200" cy="338328"/>
          </a:xfrm>
          <a:prstGeom prst="rect">
            <a:avLst/>
          </a:prstGeom>
          <a:noFill/>
        </p:spPr>
        <p:txBody>
          <a:bodyPr wrap="square">
            <a:spAutoFit/>
          </a:bodyPr>
          <a:lstStyle/>
          <a:p>
            <a:pPr algn="l"/>
            <a:r>
              <a:rPr sz="1050" b="0" i="0">
                <a:solidFill>
                  <a:srgbClr val="FFFFFF"/>
                </a:solidFill>
                <a:latin typeface="Segoe UI"/>
              </a:rPr>
              <a:t>·  Agency channel — 1 partner = 10–50 client brands</a:t>
            </a:r>
          </a:p>
        </p:txBody>
      </p:sp>
      <p:sp>
        <p:nvSpPr>
          <p:cNvPr id="32" name="TextBox 31"/>
          <p:cNvSpPr txBox="1"/>
          <p:nvPr/>
        </p:nvSpPr>
        <p:spPr>
          <a:xfrm>
            <a:off x="548640" y="5239512"/>
            <a:ext cx="5029200" cy="338328"/>
          </a:xfrm>
          <a:prstGeom prst="rect">
            <a:avLst/>
          </a:prstGeom>
          <a:noFill/>
        </p:spPr>
        <p:txBody>
          <a:bodyPr wrap="square">
            <a:spAutoFit/>
          </a:bodyPr>
          <a:lstStyle/>
          <a:p>
            <a:pPr algn="l"/>
            <a:r>
              <a:rPr sz="1050" b="0" i="0">
                <a:solidFill>
                  <a:srgbClr val="FFFFFF"/>
                </a:solidFill>
                <a:latin typeface="Segoe UI"/>
              </a:rPr>
              <a:t>·  AdCreative.ai users actively seeking alternatives</a:t>
            </a:r>
          </a:p>
        </p:txBody>
      </p:sp>
      <p:sp>
        <p:nvSpPr>
          <p:cNvPr id="33" name="TextBox 32"/>
          <p:cNvSpPr txBox="1"/>
          <p:nvPr/>
        </p:nvSpPr>
        <p:spPr>
          <a:xfrm>
            <a:off x="548640" y="5596127"/>
            <a:ext cx="5029200" cy="338328"/>
          </a:xfrm>
          <a:prstGeom prst="rect">
            <a:avLst/>
          </a:prstGeom>
          <a:noFill/>
        </p:spPr>
        <p:txBody>
          <a:bodyPr wrap="square">
            <a:spAutoFit/>
          </a:bodyPr>
          <a:lstStyle/>
          <a:p>
            <a:pPr algn="l"/>
            <a:r>
              <a:rPr sz="1050" b="0" i="0">
                <a:solidFill>
                  <a:srgbClr val="FFFFFF"/>
                </a:solidFill>
                <a:latin typeface="Segoe UI"/>
              </a:rPr>
              <a:t>·  International markets virtually untapped</a:t>
            </a:r>
          </a:p>
        </p:txBody>
      </p:sp>
      <p:sp>
        <p:nvSpPr>
          <p:cNvPr id="34" name="TextBox 33"/>
          <p:cNvSpPr txBox="1"/>
          <p:nvPr/>
        </p:nvSpPr>
        <p:spPr>
          <a:xfrm>
            <a:off x="548640" y="5952744"/>
            <a:ext cx="5029200" cy="338328"/>
          </a:xfrm>
          <a:prstGeom prst="rect">
            <a:avLst/>
          </a:prstGeom>
          <a:noFill/>
        </p:spPr>
        <p:txBody>
          <a:bodyPr wrap="square">
            <a:spAutoFit/>
          </a:bodyPr>
          <a:lstStyle/>
          <a:p>
            <a:pPr algn="l"/>
            <a:r>
              <a:rPr sz="1050" b="0" i="0">
                <a:solidFill>
                  <a:srgbClr val="FFFFFF"/>
                </a:solidFill>
                <a:latin typeface="Segoe UI"/>
              </a:rPr>
              <a:t>·  Platform integrations create deep switching cost moat</a:t>
            </a:r>
          </a:p>
        </p:txBody>
      </p:sp>
      <p:sp>
        <p:nvSpPr>
          <p:cNvPr id="35" name="Rounded Rectangle 34"/>
          <p:cNvSpPr/>
          <p:nvPr/>
        </p:nvSpPr>
        <p:spPr>
          <a:xfrm>
            <a:off x="6355080" y="3977639"/>
            <a:ext cx="5486400" cy="2724912"/>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55080" y="3977639"/>
            <a:ext cx="548640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EF4444"/>
            </a:gs>
            <a:gs pos="100000">
              <a:srgbClr val="EF4444"/>
            </a:gs>
          </a:gsLst>
          <a:lin ang="0" scaled="0"/>
        </a:gradFill>
      </p:sp>
      <p:sp>
        <p:nvSpPr>
          <p:cNvPr id="37" name="TextBox 36"/>
          <p:cNvSpPr txBox="1"/>
          <p:nvPr/>
        </p:nvSpPr>
        <p:spPr>
          <a:xfrm>
            <a:off x="10469880" y="4160520"/>
            <a:ext cx="1280160" cy="1280160"/>
          </a:xfrm>
          <a:prstGeom prst="rect">
            <a:avLst/>
          </a:prstGeom>
          <a:noFill/>
        </p:spPr>
        <p:txBody>
          <a:bodyPr wrap="square">
            <a:spAutoFit/>
          </a:bodyPr>
          <a:lstStyle/>
          <a:p>
            <a:pPr algn="l"/>
            <a:r>
              <a:rPr sz="7200" b="1" i="0">
                <a:solidFill>
                  <a:srgbClr val="9F0000"/>
                </a:solidFill>
                <a:latin typeface="Segoe UI Black"/>
              </a:rPr>
              <a:t>T</a:t>
            </a:r>
          </a:p>
        </p:txBody>
      </p:sp>
      <p:sp>
        <p:nvSpPr>
          <p:cNvPr id="38" name="TextBox 37"/>
          <p:cNvSpPr txBox="1"/>
          <p:nvPr/>
        </p:nvSpPr>
        <p:spPr>
          <a:xfrm>
            <a:off x="6519672" y="4105655"/>
            <a:ext cx="4114800" cy="347472"/>
          </a:xfrm>
          <a:prstGeom prst="rect">
            <a:avLst/>
          </a:prstGeom>
          <a:noFill/>
        </p:spPr>
        <p:txBody>
          <a:bodyPr wrap="square">
            <a:spAutoFit/>
          </a:bodyPr>
          <a:lstStyle/>
          <a:p>
            <a:pPr algn="l"/>
            <a:r>
              <a:rPr sz="1300" b="1" i="0">
                <a:solidFill>
                  <a:srgbClr val="EF4444"/>
                </a:solidFill>
                <a:latin typeface="Segoe UI Black"/>
              </a:rPr>
              <a:t>THREATS</a:t>
            </a:r>
          </a:p>
        </p:txBody>
      </p:sp>
      <p:sp>
        <p:nvSpPr>
          <p:cNvPr id="39" name="TextBox 38"/>
          <p:cNvSpPr txBox="1"/>
          <p:nvPr/>
        </p:nvSpPr>
        <p:spPr>
          <a:xfrm>
            <a:off x="6519672" y="4526279"/>
            <a:ext cx="5029200" cy="338328"/>
          </a:xfrm>
          <a:prstGeom prst="rect">
            <a:avLst/>
          </a:prstGeom>
          <a:noFill/>
        </p:spPr>
        <p:txBody>
          <a:bodyPr wrap="square">
            <a:spAutoFit/>
          </a:bodyPr>
          <a:lstStyle/>
          <a:p>
            <a:pPr algn="l"/>
            <a:r>
              <a:rPr sz="1050" b="0" i="0">
                <a:solidFill>
                  <a:srgbClr val="FFFFFF"/>
                </a:solidFill>
                <a:latin typeface="Segoe UI"/>
              </a:rPr>
              <a:t>·  Meta/Google building native AI creative tools</a:t>
            </a:r>
          </a:p>
        </p:txBody>
      </p:sp>
      <p:sp>
        <p:nvSpPr>
          <p:cNvPr id="40" name="TextBox 39"/>
          <p:cNvSpPr txBox="1"/>
          <p:nvPr/>
        </p:nvSpPr>
        <p:spPr>
          <a:xfrm>
            <a:off x="6519672" y="4882895"/>
            <a:ext cx="5029200" cy="338328"/>
          </a:xfrm>
          <a:prstGeom prst="rect">
            <a:avLst/>
          </a:prstGeom>
          <a:noFill/>
        </p:spPr>
        <p:txBody>
          <a:bodyPr wrap="square">
            <a:spAutoFit/>
          </a:bodyPr>
          <a:lstStyle/>
          <a:p>
            <a:pPr algn="l"/>
            <a:r>
              <a:rPr sz="1050" b="0" i="0">
                <a:solidFill>
                  <a:srgbClr val="FFFFFF"/>
                </a:solidFill>
                <a:latin typeface="Segoe UI"/>
              </a:rPr>
              <a:t>·  AI API cost increases reducing margin</a:t>
            </a:r>
          </a:p>
        </p:txBody>
      </p:sp>
      <p:sp>
        <p:nvSpPr>
          <p:cNvPr id="41" name="TextBox 40"/>
          <p:cNvSpPr txBox="1"/>
          <p:nvPr/>
        </p:nvSpPr>
        <p:spPr>
          <a:xfrm>
            <a:off x="6519672" y="5239512"/>
            <a:ext cx="5029200" cy="338328"/>
          </a:xfrm>
          <a:prstGeom prst="rect">
            <a:avLst/>
          </a:prstGeom>
          <a:noFill/>
        </p:spPr>
        <p:txBody>
          <a:bodyPr wrap="square">
            <a:spAutoFit/>
          </a:bodyPr>
          <a:lstStyle/>
          <a:p>
            <a:pPr algn="l"/>
            <a:r>
              <a:rPr sz="1050" b="0" i="0">
                <a:solidFill>
                  <a:srgbClr val="FFFFFF"/>
                </a:solidFill>
                <a:latin typeface="Segoe UI"/>
              </a:rPr>
              <a:t>·  Well-funded competitors adding intelligence layers</a:t>
            </a:r>
          </a:p>
        </p:txBody>
      </p:sp>
      <p:sp>
        <p:nvSpPr>
          <p:cNvPr id="42" name="TextBox 41"/>
          <p:cNvSpPr txBox="1"/>
          <p:nvPr/>
        </p:nvSpPr>
        <p:spPr>
          <a:xfrm>
            <a:off x="6519672" y="5596127"/>
            <a:ext cx="5029200" cy="338328"/>
          </a:xfrm>
          <a:prstGeom prst="rect">
            <a:avLst/>
          </a:prstGeom>
          <a:noFill/>
        </p:spPr>
        <p:txBody>
          <a:bodyPr wrap="square">
            <a:spAutoFit/>
          </a:bodyPr>
          <a:lstStyle/>
          <a:p>
            <a:pPr algn="l"/>
            <a:r>
              <a:rPr sz="1050" b="0" i="0">
                <a:solidFill>
                  <a:srgbClr val="FFFFFF"/>
                </a:solidFill>
                <a:latin typeface="Segoe UI"/>
              </a:rPr>
              <a:t>·  Regulatory changes for AI-generated ads</a:t>
            </a:r>
          </a:p>
        </p:txBody>
      </p:sp>
      <p:sp>
        <p:nvSpPr>
          <p:cNvPr id="43" name="TextBox 42"/>
          <p:cNvSpPr txBox="1"/>
          <p:nvPr/>
        </p:nvSpPr>
        <p:spPr>
          <a:xfrm>
            <a:off x="6519672" y="5952744"/>
            <a:ext cx="5029200" cy="338328"/>
          </a:xfrm>
          <a:prstGeom prst="rect">
            <a:avLst/>
          </a:prstGeom>
          <a:noFill/>
        </p:spPr>
        <p:txBody>
          <a:bodyPr wrap="square">
            <a:spAutoFit/>
          </a:bodyPr>
          <a:lstStyle/>
          <a:p>
            <a:pPr algn="l"/>
            <a:r>
              <a:rPr sz="1050" b="0" i="0">
                <a:solidFill>
                  <a:srgbClr val="FFFFFF"/>
                </a:solidFill>
                <a:latin typeface="Segoe UI"/>
              </a:rPr>
              <a:t>·  Brand skepticism about AI creative quality</a:t>
            </a:r>
          </a:p>
        </p:txBody>
      </p:sp>
      <p:sp>
        <p:nvSpPr>
          <p:cNvPr id="44" name="Rectangle 43"/>
          <p:cNvSpPr/>
          <p:nvPr/>
        </p:nvSpPr>
        <p:spPr>
          <a:xfrm>
            <a:off x="5925312" y="960120"/>
            <a:ext cx="36576" cy="5742432"/>
          </a:xfrm>
          <a:prstGeom prst="rect">
            <a:avLst/>
          </a:prstGeom>
          <a:solidFill>
            <a:srgbClr val="2A1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84048" y="3657600"/>
            <a:ext cx="11439144" cy="36576"/>
          </a:xfrm>
          <a:prstGeom prst="rect">
            <a:avLst/>
          </a:prstGeom>
          <a:solidFill>
            <a:srgbClr val="2A1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12</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ROADMAP &amp; MILESTONES</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13</a:t>
            </a:r>
          </a:p>
        </p:txBody>
      </p:sp>
      <p:sp>
        <p:nvSpPr>
          <p:cNvPr id="7" name="TextBox 6"/>
          <p:cNvSpPr txBox="1"/>
          <p:nvPr/>
        </p:nvSpPr>
        <p:spPr>
          <a:xfrm>
            <a:off x="502920" y="804672"/>
            <a:ext cx="11155680" cy="347472"/>
          </a:xfrm>
          <a:prstGeom prst="rect">
            <a:avLst/>
          </a:prstGeom>
          <a:noFill/>
        </p:spPr>
        <p:txBody>
          <a:bodyPr wrap="square">
            <a:spAutoFit/>
          </a:bodyPr>
          <a:lstStyle/>
          <a:p>
            <a:pPr algn="ctr"/>
            <a:r>
              <a:rPr sz="1500" b="0" i="0">
                <a:solidFill>
                  <a:srgbClr val="BBB8D4"/>
                </a:solidFill>
                <a:latin typeface="Segoe UI"/>
              </a:rPr>
              <a:t>12 months to platform dominance in AI marketing intelligence.</a:t>
            </a:r>
          </a:p>
        </p:txBody>
      </p:sp>
      <p:sp>
        <p:nvSpPr>
          <p:cNvPr id="8" name="Rectangle 7"/>
          <p:cNvSpPr/>
          <p:nvPr/>
        </p:nvSpPr>
        <p:spPr>
          <a:xfrm>
            <a:off x="502920" y="3657600"/>
            <a:ext cx="1115568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9" name="Rounded Rectangle 8"/>
          <p:cNvSpPr/>
          <p:nvPr/>
        </p:nvSpPr>
        <p:spPr>
          <a:xfrm>
            <a:off x="502920" y="1024128"/>
            <a:ext cx="2103120" cy="2505456"/>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024128"/>
            <a:ext cx="2103120" cy="5486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6072" y="1115568"/>
            <a:ext cx="1280160" cy="256032"/>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Q2 2026</a:t>
            </a:r>
          </a:p>
        </p:txBody>
      </p:sp>
      <p:sp>
        <p:nvSpPr>
          <p:cNvPr id="12" name="TextBox 11"/>
          <p:cNvSpPr txBox="1"/>
          <p:nvPr/>
        </p:nvSpPr>
        <p:spPr>
          <a:xfrm>
            <a:off x="612648" y="1463040"/>
            <a:ext cx="1874519" cy="347472"/>
          </a:xfrm>
          <a:prstGeom prst="rect">
            <a:avLst/>
          </a:prstGeom>
          <a:noFill/>
        </p:spPr>
        <p:txBody>
          <a:bodyPr wrap="square">
            <a:spAutoFit/>
          </a:bodyPr>
          <a:lstStyle/>
          <a:p>
            <a:pPr algn="l"/>
            <a:r>
              <a:rPr sz="1400" b="1" i="0">
                <a:solidFill>
                  <a:srgbClr val="FFFFFF"/>
                </a:solidFill>
                <a:latin typeface="Segoe UI Black"/>
              </a:rPr>
              <a:t>Launch</a:t>
            </a:r>
          </a:p>
        </p:txBody>
      </p:sp>
      <p:sp>
        <p:nvSpPr>
          <p:cNvPr id="13" name="TextBox 12"/>
          <p:cNvSpPr txBox="1"/>
          <p:nvPr/>
        </p:nvSpPr>
        <p:spPr>
          <a:xfrm>
            <a:off x="612648" y="1901952"/>
            <a:ext cx="1874519" cy="438912"/>
          </a:xfrm>
          <a:prstGeom prst="rect">
            <a:avLst/>
          </a:prstGeom>
          <a:noFill/>
        </p:spPr>
        <p:txBody>
          <a:bodyPr wrap="square">
            <a:spAutoFit/>
          </a:bodyPr>
          <a:lstStyle/>
          <a:p>
            <a:pPr algn="l"/>
            <a:r>
              <a:rPr sz="1000" b="0" i="0">
                <a:solidFill>
                  <a:srgbClr val="BBB8D4"/>
                </a:solidFill>
                <a:latin typeface="Segoe UI"/>
              </a:rPr>
              <a:t>→ Marketing Brain™ live</a:t>
            </a:r>
          </a:p>
        </p:txBody>
      </p:sp>
      <p:sp>
        <p:nvSpPr>
          <p:cNvPr id="14" name="TextBox 13"/>
          <p:cNvSpPr txBox="1"/>
          <p:nvPr/>
        </p:nvSpPr>
        <p:spPr>
          <a:xfrm>
            <a:off x="612648" y="2404872"/>
            <a:ext cx="1874519" cy="438912"/>
          </a:xfrm>
          <a:prstGeom prst="rect">
            <a:avLst/>
          </a:prstGeom>
          <a:noFill/>
        </p:spPr>
        <p:txBody>
          <a:bodyPr wrap="square">
            <a:spAutoFit/>
          </a:bodyPr>
          <a:lstStyle/>
          <a:p>
            <a:pPr algn="l"/>
            <a:r>
              <a:rPr sz="1000" b="0" i="0">
                <a:solidFill>
                  <a:srgbClr val="BBB8D4"/>
                </a:solidFill>
                <a:latin typeface="Segoe UI"/>
              </a:rPr>
              <a:t>→ Creative Studio™ live</a:t>
            </a:r>
          </a:p>
        </p:txBody>
      </p:sp>
      <p:sp>
        <p:nvSpPr>
          <p:cNvPr id="15" name="TextBox 14"/>
          <p:cNvSpPr txBox="1"/>
          <p:nvPr/>
        </p:nvSpPr>
        <p:spPr>
          <a:xfrm>
            <a:off x="612648" y="2907792"/>
            <a:ext cx="1874519" cy="438912"/>
          </a:xfrm>
          <a:prstGeom prst="rect">
            <a:avLst/>
          </a:prstGeom>
          <a:noFill/>
        </p:spPr>
        <p:txBody>
          <a:bodyPr wrap="square">
            <a:spAutoFit/>
          </a:bodyPr>
          <a:lstStyle/>
          <a:p>
            <a:pPr algn="l"/>
            <a:r>
              <a:rPr sz="1000" b="0" i="0">
                <a:solidFill>
                  <a:srgbClr val="BBB8D4"/>
                </a:solidFill>
                <a:latin typeface="Segoe UI"/>
              </a:rPr>
              <a:t>→ 50 beta users onboarded</a:t>
            </a:r>
          </a:p>
        </p:txBody>
      </p:sp>
      <p:sp>
        <p:nvSpPr>
          <p:cNvPr id="16" name="Oval 15"/>
          <p:cNvSpPr/>
          <p:nvPr/>
        </p:nvSpPr>
        <p:spPr>
          <a:xfrm>
            <a:off x="1188720" y="3419856"/>
            <a:ext cx="502920" cy="502920"/>
          </a:xfrm>
          <a:prstGeom prst="ellipse">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419856"/>
            <a:ext cx="502920" cy="502920"/>
          </a:xfrm>
          <a:prstGeom prst="rect">
            <a:avLst/>
          </a:prstGeom>
          <a:noFill/>
        </p:spPr>
        <p:txBody>
          <a:bodyPr wrap="square">
            <a:spAutoFit/>
          </a:bodyPr>
          <a:lstStyle/>
          <a:p>
            <a:pPr algn="ctr"/>
            <a:r>
              <a:rPr sz="1400" b="1" i="0">
                <a:solidFill>
                  <a:srgbClr val="FFFFFF"/>
                </a:solidFill>
                <a:latin typeface="Segoe UI"/>
              </a:rPr>
              <a:t>1</a:t>
            </a:r>
          </a:p>
        </p:txBody>
      </p:sp>
      <p:sp>
        <p:nvSpPr>
          <p:cNvPr id="18" name="Rectangle 17"/>
          <p:cNvSpPr/>
          <p:nvPr/>
        </p:nvSpPr>
        <p:spPr>
          <a:xfrm>
            <a:off x="502920" y="4069080"/>
            <a:ext cx="2103120" cy="45720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114800"/>
            <a:ext cx="1920240" cy="347472"/>
          </a:xfrm>
          <a:prstGeom prst="rect">
            <a:avLst/>
          </a:prstGeom>
          <a:noFill/>
        </p:spPr>
        <p:txBody>
          <a:bodyPr wrap="square">
            <a:spAutoFit/>
          </a:bodyPr>
          <a:lstStyle/>
          <a:p>
            <a:pPr algn="ctr"/>
            <a:r>
              <a:rPr sz="1200" b="1" i="0">
                <a:solidFill>
                  <a:srgbClr val="6E3DFF"/>
                </a:solidFill>
                <a:latin typeface="Segoe UI Black"/>
              </a:rPr>
              <a:t>50 users</a:t>
            </a:r>
          </a:p>
        </p:txBody>
      </p:sp>
      <p:sp>
        <p:nvSpPr>
          <p:cNvPr id="20" name="Rounded Rectangle 19"/>
          <p:cNvSpPr/>
          <p:nvPr/>
        </p:nvSpPr>
        <p:spPr>
          <a:xfrm>
            <a:off x="2752344" y="1024128"/>
            <a:ext cx="2103120" cy="2505456"/>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52344" y="1024128"/>
            <a:ext cx="2103120" cy="54864"/>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25496" y="1115568"/>
            <a:ext cx="1280160" cy="256032"/>
          </a:xfrm>
          <a:prstGeom prst="round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Q3 2026</a:t>
            </a:r>
          </a:p>
        </p:txBody>
      </p:sp>
      <p:sp>
        <p:nvSpPr>
          <p:cNvPr id="23" name="TextBox 22"/>
          <p:cNvSpPr txBox="1"/>
          <p:nvPr/>
        </p:nvSpPr>
        <p:spPr>
          <a:xfrm>
            <a:off x="2862072" y="1463040"/>
            <a:ext cx="1874519" cy="347472"/>
          </a:xfrm>
          <a:prstGeom prst="rect">
            <a:avLst/>
          </a:prstGeom>
          <a:noFill/>
        </p:spPr>
        <p:txBody>
          <a:bodyPr wrap="square">
            <a:spAutoFit/>
          </a:bodyPr>
          <a:lstStyle/>
          <a:p>
            <a:pPr algn="l"/>
            <a:r>
              <a:rPr sz="1400" b="1" i="0">
                <a:solidFill>
                  <a:srgbClr val="FFFFFF"/>
                </a:solidFill>
                <a:latin typeface="Segoe UI Black"/>
              </a:rPr>
              <a:t>Traction</a:t>
            </a:r>
          </a:p>
        </p:txBody>
      </p:sp>
      <p:sp>
        <p:nvSpPr>
          <p:cNvPr id="24" name="TextBox 23"/>
          <p:cNvSpPr txBox="1"/>
          <p:nvPr/>
        </p:nvSpPr>
        <p:spPr>
          <a:xfrm>
            <a:off x="2862072" y="1901952"/>
            <a:ext cx="1874519" cy="438912"/>
          </a:xfrm>
          <a:prstGeom prst="rect">
            <a:avLst/>
          </a:prstGeom>
          <a:noFill/>
        </p:spPr>
        <p:txBody>
          <a:bodyPr wrap="square">
            <a:spAutoFit/>
          </a:bodyPr>
          <a:lstStyle/>
          <a:p>
            <a:pPr algn="l"/>
            <a:r>
              <a:rPr sz="1000" b="0" i="0">
                <a:solidFill>
                  <a:srgbClr val="BBB8D4"/>
                </a:solidFill>
                <a:latin typeface="Segoe UI"/>
              </a:rPr>
              <a:t>→ First 100 paying customers</a:t>
            </a:r>
          </a:p>
        </p:txBody>
      </p:sp>
      <p:sp>
        <p:nvSpPr>
          <p:cNvPr id="25" name="TextBox 24"/>
          <p:cNvSpPr txBox="1"/>
          <p:nvPr/>
        </p:nvSpPr>
        <p:spPr>
          <a:xfrm>
            <a:off x="2862072" y="2404872"/>
            <a:ext cx="1874519" cy="438912"/>
          </a:xfrm>
          <a:prstGeom prst="rect">
            <a:avLst/>
          </a:prstGeom>
          <a:noFill/>
        </p:spPr>
        <p:txBody>
          <a:bodyPr wrap="square">
            <a:spAutoFit/>
          </a:bodyPr>
          <a:lstStyle/>
          <a:p>
            <a:pPr algn="l"/>
            <a:r>
              <a:rPr sz="1000" b="0" i="0">
                <a:solidFill>
                  <a:srgbClr val="BBB8D4"/>
                </a:solidFill>
                <a:latin typeface="Segoe UI"/>
              </a:rPr>
              <a:t>→ $10K MRR milestone</a:t>
            </a:r>
          </a:p>
        </p:txBody>
      </p:sp>
      <p:sp>
        <p:nvSpPr>
          <p:cNvPr id="26" name="TextBox 25"/>
          <p:cNvSpPr txBox="1"/>
          <p:nvPr/>
        </p:nvSpPr>
        <p:spPr>
          <a:xfrm>
            <a:off x="2862072" y="2907792"/>
            <a:ext cx="1874519" cy="438912"/>
          </a:xfrm>
          <a:prstGeom prst="rect">
            <a:avLst/>
          </a:prstGeom>
          <a:noFill/>
        </p:spPr>
        <p:txBody>
          <a:bodyPr wrap="square">
            <a:spAutoFit/>
          </a:bodyPr>
          <a:lstStyle/>
          <a:p>
            <a:pPr algn="l"/>
            <a:r>
              <a:rPr sz="1000" b="0" i="0">
                <a:solidFill>
                  <a:srgbClr val="BBB8D4"/>
                </a:solidFill>
                <a:latin typeface="Segoe UI"/>
              </a:rPr>
              <a:t>→ Campaign Builder ships</a:t>
            </a:r>
          </a:p>
        </p:txBody>
      </p:sp>
      <p:sp>
        <p:nvSpPr>
          <p:cNvPr id="27" name="Oval 26"/>
          <p:cNvSpPr/>
          <p:nvPr/>
        </p:nvSpPr>
        <p:spPr>
          <a:xfrm>
            <a:off x="3438144" y="3419856"/>
            <a:ext cx="502920" cy="502920"/>
          </a:xfrm>
          <a:prstGeom prst="ellipse">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8144" y="3419856"/>
            <a:ext cx="502920" cy="502920"/>
          </a:xfrm>
          <a:prstGeom prst="rect">
            <a:avLst/>
          </a:prstGeom>
          <a:noFill/>
        </p:spPr>
        <p:txBody>
          <a:bodyPr wrap="square">
            <a:spAutoFit/>
          </a:bodyPr>
          <a:lstStyle/>
          <a:p>
            <a:pPr algn="ctr"/>
            <a:r>
              <a:rPr sz="1400" b="1" i="0">
                <a:solidFill>
                  <a:srgbClr val="FFFFFF"/>
                </a:solidFill>
                <a:latin typeface="Segoe UI"/>
              </a:rPr>
              <a:t>2</a:t>
            </a:r>
          </a:p>
        </p:txBody>
      </p:sp>
      <p:sp>
        <p:nvSpPr>
          <p:cNvPr id="29" name="Rectangle 28"/>
          <p:cNvSpPr/>
          <p:nvPr/>
        </p:nvSpPr>
        <p:spPr>
          <a:xfrm>
            <a:off x="2752344" y="4069080"/>
            <a:ext cx="2103120" cy="45720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43784" y="4114800"/>
            <a:ext cx="1920240" cy="347472"/>
          </a:xfrm>
          <a:prstGeom prst="rect">
            <a:avLst/>
          </a:prstGeom>
          <a:noFill/>
        </p:spPr>
        <p:txBody>
          <a:bodyPr wrap="square">
            <a:spAutoFit/>
          </a:bodyPr>
          <a:lstStyle/>
          <a:p>
            <a:pPr algn="ctr"/>
            <a:r>
              <a:rPr sz="1200" b="1" i="0">
                <a:solidFill>
                  <a:srgbClr val="FF4FCB"/>
                </a:solidFill>
                <a:latin typeface="Segoe UI Black"/>
              </a:rPr>
              <a:t>100 cust.</a:t>
            </a:r>
          </a:p>
        </p:txBody>
      </p:sp>
      <p:sp>
        <p:nvSpPr>
          <p:cNvPr id="31" name="Rounded Rectangle 30"/>
          <p:cNvSpPr/>
          <p:nvPr/>
        </p:nvSpPr>
        <p:spPr>
          <a:xfrm>
            <a:off x="5001768" y="1024128"/>
            <a:ext cx="2103120" cy="2505456"/>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01768" y="1024128"/>
            <a:ext cx="21031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74920" y="1115568"/>
            <a:ext cx="128016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Q4 2026</a:t>
            </a:r>
          </a:p>
        </p:txBody>
      </p:sp>
      <p:sp>
        <p:nvSpPr>
          <p:cNvPr id="34" name="TextBox 33"/>
          <p:cNvSpPr txBox="1"/>
          <p:nvPr/>
        </p:nvSpPr>
        <p:spPr>
          <a:xfrm>
            <a:off x="5111496" y="1463040"/>
            <a:ext cx="1874519" cy="347472"/>
          </a:xfrm>
          <a:prstGeom prst="rect">
            <a:avLst/>
          </a:prstGeom>
          <a:noFill/>
        </p:spPr>
        <p:txBody>
          <a:bodyPr wrap="square">
            <a:spAutoFit/>
          </a:bodyPr>
          <a:lstStyle/>
          <a:p>
            <a:pPr algn="l"/>
            <a:r>
              <a:rPr sz="1400" b="1" i="0">
                <a:solidFill>
                  <a:srgbClr val="FFFFFF"/>
                </a:solidFill>
                <a:latin typeface="Segoe UI Black"/>
              </a:rPr>
              <a:t>Growth</a:t>
            </a:r>
          </a:p>
        </p:txBody>
      </p:sp>
      <p:sp>
        <p:nvSpPr>
          <p:cNvPr id="35" name="TextBox 34"/>
          <p:cNvSpPr txBox="1"/>
          <p:nvPr/>
        </p:nvSpPr>
        <p:spPr>
          <a:xfrm>
            <a:off x="5111496" y="1901952"/>
            <a:ext cx="1874519" cy="438912"/>
          </a:xfrm>
          <a:prstGeom prst="rect">
            <a:avLst/>
          </a:prstGeom>
          <a:noFill/>
        </p:spPr>
        <p:txBody>
          <a:bodyPr wrap="square">
            <a:spAutoFit/>
          </a:bodyPr>
          <a:lstStyle/>
          <a:p>
            <a:pPr algn="l"/>
            <a:r>
              <a:rPr sz="1000" b="0" i="0">
                <a:solidFill>
                  <a:srgbClr val="BBB8D4"/>
                </a:solidFill>
                <a:latin typeface="Segoe UI"/>
              </a:rPr>
              <a:t>→ Brand Memory (Supabase)</a:t>
            </a:r>
          </a:p>
        </p:txBody>
      </p:sp>
      <p:sp>
        <p:nvSpPr>
          <p:cNvPr id="36" name="TextBox 35"/>
          <p:cNvSpPr txBox="1"/>
          <p:nvPr/>
        </p:nvSpPr>
        <p:spPr>
          <a:xfrm>
            <a:off x="5111496" y="2404872"/>
            <a:ext cx="1874519" cy="438912"/>
          </a:xfrm>
          <a:prstGeom prst="rect">
            <a:avLst/>
          </a:prstGeom>
          <a:noFill/>
        </p:spPr>
        <p:txBody>
          <a:bodyPr wrap="square">
            <a:spAutoFit/>
          </a:bodyPr>
          <a:lstStyle/>
          <a:p>
            <a:pPr algn="l"/>
            <a:r>
              <a:rPr sz="1000" b="0" i="0">
                <a:solidFill>
                  <a:srgbClr val="BBB8D4"/>
                </a:solidFill>
                <a:latin typeface="Segoe UI"/>
              </a:rPr>
              <a:t>→ 20 Agency partners</a:t>
            </a:r>
          </a:p>
        </p:txBody>
      </p:sp>
      <p:sp>
        <p:nvSpPr>
          <p:cNvPr id="37" name="TextBox 36"/>
          <p:cNvSpPr txBox="1"/>
          <p:nvPr/>
        </p:nvSpPr>
        <p:spPr>
          <a:xfrm>
            <a:off x="5111496" y="2907792"/>
            <a:ext cx="1874519" cy="438912"/>
          </a:xfrm>
          <a:prstGeom prst="rect">
            <a:avLst/>
          </a:prstGeom>
          <a:noFill/>
        </p:spPr>
        <p:txBody>
          <a:bodyPr wrap="square">
            <a:spAutoFit/>
          </a:bodyPr>
          <a:lstStyle/>
          <a:p>
            <a:pPr algn="l"/>
            <a:r>
              <a:rPr sz="1000" b="0" i="0">
                <a:solidFill>
                  <a:srgbClr val="BBB8D4"/>
                </a:solidFill>
                <a:latin typeface="Segoe UI"/>
              </a:rPr>
              <a:t>→ $500K ARR target</a:t>
            </a:r>
          </a:p>
        </p:txBody>
      </p:sp>
      <p:sp>
        <p:nvSpPr>
          <p:cNvPr id="38" name="Oval 37"/>
          <p:cNvSpPr/>
          <p:nvPr/>
        </p:nvSpPr>
        <p:spPr>
          <a:xfrm>
            <a:off x="5687568" y="3419856"/>
            <a:ext cx="502920" cy="5029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87568" y="3419856"/>
            <a:ext cx="502920" cy="502920"/>
          </a:xfrm>
          <a:prstGeom prst="rect">
            <a:avLst/>
          </a:prstGeom>
          <a:noFill/>
        </p:spPr>
        <p:txBody>
          <a:bodyPr wrap="square">
            <a:spAutoFit/>
          </a:bodyPr>
          <a:lstStyle/>
          <a:p>
            <a:pPr algn="ctr"/>
            <a:r>
              <a:rPr sz="1400" b="1" i="0">
                <a:solidFill>
                  <a:srgbClr val="FFFFFF"/>
                </a:solidFill>
                <a:latin typeface="Segoe UI"/>
              </a:rPr>
              <a:t>3</a:t>
            </a:r>
          </a:p>
        </p:txBody>
      </p:sp>
      <p:sp>
        <p:nvSpPr>
          <p:cNvPr id="40" name="Rectangle 39"/>
          <p:cNvSpPr/>
          <p:nvPr/>
        </p:nvSpPr>
        <p:spPr>
          <a:xfrm>
            <a:off x="5001768" y="4069080"/>
            <a:ext cx="2103120" cy="45720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93207" y="4114800"/>
            <a:ext cx="1920240" cy="347472"/>
          </a:xfrm>
          <a:prstGeom prst="rect">
            <a:avLst/>
          </a:prstGeom>
          <a:noFill/>
        </p:spPr>
        <p:txBody>
          <a:bodyPr wrap="square">
            <a:spAutoFit/>
          </a:bodyPr>
          <a:lstStyle/>
          <a:p>
            <a:pPr algn="ctr"/>
            <a:r>
              <a:rPr sz="1200" b="1" i="0">
                <a:solidFill>
                  <a:srgbClr val="F59E0B"/>
                </a:solidFill>
                <a:latin typeface="Segoe UI Black"/>
              </a:rPr>
              <a:t>500K ARR</a:t>
            </a:r>
          </a:p>
        </p:txBody>
      </p:sp>
      <p:sp>
        <p:nvSpPr>
          <p:cNvPr id="42" name="Rounded Rectangle 41"/>
          <p:cNvSpPr/>
          <p:nvPr/>
        </p:nvSpPr>
        <p:spPr>
          <a:xfrm>
            <a:off x="7251192" y="1024128"/>
            <a:ext cx="2103120" cy="2505456"/>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251192" y="1024128"/>
            <a:ext cx="21031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324344" y="1115568"/>
            <a:ext cx="1280160" cy="256032"/>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Q1 2027</a:t>
            </a:r>
          </a:p>
        </p:txBody>
      </p:sp>
      <p:sp>
        <p:nvSpPr>
          <p:cNvPr id="45" name="TextBox 44"/>
          <p:cNvSpPr txBox="1"/>
          <p:nvPr/>
        </p:nvSpPr>
        <p:spPr>
          <a:xfrm>
            <a:off x="7360919" y="1463040"/>
            <a:ext cx="1874519" cy="347472"/>
          </a:xfrm>
          <a:prstGeom prst="rect">
            <a:avLst/>
          </a:prstGeom>
          <a:noFill/>
        </p:spPr>
        <p:txBody>
          <a:bodyPr wrap="square">
            <a:spAutoFit/>
          </a:bodyPr>
          <a:lstStyle/>
          <a:p>
            <a:pPr algn="l"/>
            <a:r>
              <a:rPr sz="1400" b="1" i="0">
                <a:solidFill>
                  <a:srgbClr val="FFFFFF"/>
                </a:solidFill>
                <a:latin typeface="Segoe UI Black"/>
              </a:rPr>
              <a:t>Scale</a:t>
            </a:r>
          </a:p>
        </p:txBody>
      </p:sp>
      <p:sp>
        <p:nvSpPr>
          <p:cNvPr id="46" name="TextBox 45"/>
          <p:cNvSpPr txBox="1"/>
          <p:nvPr/>
        </p:nvSpPr>
        <p:spPr>
          <a:xfrm>
            <a:off x="7360919" y="1901952"/>
            <a:ext cx="1874519" cy="438912"/>
          </a:xfrm>
          <a:prstGeom prst="rect">
            <a:avLst/>
          </a:prstGeom>
          <a:noFill/>
        </p:spPr>
        <p:txBody>
          <a:bodyPr wrap="square">
            <a:spAutoFit/>
          </a:bodyPr>
          <a:lstStyle/>
          <a:p>
            <a:pPr algn="l"/>
            <a:r>
              <a:rPr sz="1000" b="0" i="0">
                <a:solidFill>
                  <a:srgbClr val="BBB8D4"/>
                </a:solidFill>
                <a:latin typeface="Segoe UI"/>
              </a:rPr>
              <a:t>→ Meta Ads integration</a:t>
            </a:r>
          </a:p>
        </p:txBody>
      </p:sp>
      <p:sp>
        <p:nvSpPr>
          <p:cNvPr id="47" name="TextBox 46"/>
          <p:cNvSpPr txBox="1"/>
          <p:nvPr/>
        </p:nvSpPr>
        <p:spPr>
          <a:xfrm>
            <a:off x="7360919" y="2404872"/>
            <a:ext cx="1874519" cy="438912"/>
          </a:xfrm>
          <a:prstGeom prst="rect">
            <a:avLst/>
          </a:prstGeom>
          <a:noFill/>
        </p:spPr>
        <p:txBody>
          <a:bodyPr wrap="square">
            <a:spAutoFit/>
          </a:bodyPr>
          <a:lstStyle/>
          <a:p>
            <a:pPr algn="l"/>
            <a:r>
              <a:rPr sz="1000" b="0" i="0">
                <a:solidFill>
                  <a:srgbClr val="BBB8D4"/>
                </a:solidFill>
                <a:latin typeface="Segoe UI"/>
              </a:rPr>
              <a:t>→ Seed round closes</a:t>
            </a:r>
          </a:p>
        </p:txBody>
      </p:sp>
      <p:sp>
        <p:nvSpPr>
          <p:cNvPr id="48" name="TextBox 47"/>
          <p:cNvSpPr txBox="1"/>
          <p:nvPr/>
        </p:nvSpPr>
        <p:spPr>
          <a:xfrm>
            <a:off x="7360919" y="2907792"/>
            <a:ext cx="1874519" cy="438912"/>
          </a:xfrm>
          <a:prstGeom prst="rect">
            <a:avLst/>
          </a:prstGeom>
          <a:noFill/>
        </p:spPr>
        <p:txBody>
          <a:bodyPr wrap="square">
            <a:spAutoFit/>
          </a:bodyPr>
          <a:lstStyle/>
          <a:p>
            <a:pPr algn="l"/>
            <a:r>
              <a:rPr sz="1000" b="0" i="0">
                <a:solidFill>
                  <a:srgbClr val="BBB8D4"/>
                </a:solidFill>
                <a:latin typeface="Segoe UI"/>
              </a:rPr>
              <a:t>→ Head of Growth hired</a:t>
            </a:r>
          </a:p>
        </p:txBody>
      </p:sp>
      <p:sp>
        <p:nvSpPr>
          <p:cNvPr id="49" name="Oval 48"/>
          <p:cNvSpPr/>
          <p:nvPr/>
        </p:nvSpPr>
        <p:spPr>
          <a:xfrm>
            <a:off x="7936992" y="3419856"/>
            <a:ext cx="502920" cy="5029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36992" y="3419856"/>
            <a:ext cx="502920" cy="502920"/>
          </a:xfrm>
          <a:prstGeom prst="rect">
            <a:avLst/>
          </a:prstGeom>
          <a:noFill/>
        </p:spPr>
        <p:txBody>
          <a:bodyPr wrap="square">
            <a:spAutoFit/>
          </a:bodyPr>
          <a:lstStyle/>
          <a:p>
            <a:pPr algn="ctr"/>
            <a:r>
              <a:rPr sz="1400" b="1" i="0">
                <a:solidFill>
                  <a:srgbClr val="FFFFFF"/>
                </a:solidFill>
                <a:latin typeface="Segoe UI"/>
              </a:rPr>
              <a:t>4</a:t>
            </a:r>
          </a:p>
        </p:txBody>
      </p:sp>
      <p:sp>
        <p:nvSpPr>
          <p:cNvPr id="51" name="Rectangle 50"/>
          <p:cNvSpPr/>
          <p:nvPr/>
        </p:nvSpPr>
        <p:spPr>
          <a:xfrm>
            <a:off x="7251192" y="4069080"/>
            <a:ext cx="2103120" cy="45720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42631" y="4114800"/>
            <a:ext cx="1920240" cy="347472"/>
          </a:xfrm>
          <a:prstGeom prst="rect">
            <a:avLst/>
          </a:prstGeom>
          <a:noFill/>
        </p:spPr>
        <p:txBody>
          <a:bodyPr wrap="square">
            <a:spAutoFit/>
          </a:bodyPr>
          <a:lstStyle/>
          <a:p>
            <a:pPr algn="ctr"/>
            <a:r>
              <a:rPr sz="1200" b="1" i="0">
                <a:solidFill>
                  <a:srgbClr val="22C55E"/>
                </a:solidFill>
                <a:latin typeface="Segoe UI Black"/>
              </a:rPr>
              <a:t>Seed ✓</a:t>
            </a:r>
          </a:p>
        </p:txBody>
      </p:sp>
      <p:sp>
        <p:nvSpPr>
          <p:cNvPr id="53" name="Rounded Rectangle 52"/>
          <p:cNvSpPr/>
          <p:nvPr/>
        </p:nvSpPr>
        <p:spPr>
          <a:xfrm>
            <a:off x="9500616" y="1024128"/>
            <a:ext cx="2103120" cy="2505456"/>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00616" y="1024128"/>
            <a:ext cx="210312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9573768" y="1115568"/>
            <a:ext cx="1280160"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Segoe UI"/>
              </a:rPr>
              <a:t>Q4 2027</a:t>
            </a:r>
          </a:p>
        </p:txBody>
      </p:sp>
      <p:sp>
        <p:nvSpPr>
          <p:cNvPr id="56" name="TextBox 55"/>
          <p:cNvSpPr txBox="1"/>
          <p:nvPr/>
        </p:nvSpPr>
        <p:spPr>
          <a:xfrm>
            <a:off x="9610344" y="1463040"/>
            <a:ext cx="1874519" cy="347472"/>
          </a:xfrm>
          <a:prstGeom prst="rect">
            <a:avLst/>
          </a:prstGeom>
          <a:noFill/>
        </p:spPr>
        <p:txBody>
          <a:bodyPr wrap="square">
            <a:spAutoFit/>
          </a:bodyPr>
          <a:lstStyle/>
          <a:p>
            <a:pPr algn="l"/>
            <a:r>
              <a:rPr sz="1400" b="1" i="0">
                <a:solidFill>
                  <a:srgbClr val="FFFFFF"/>
                </a:solidFill>
                <a:latin typeface="Segoe UI Black"/>
              </a:rPr>
              <a:t>Expand</a:t>
            </a:r>
          </a:p>
        </p:txBody>
      </p:sp>
      <p:sp>
        <p:nvSpPr>
          <p:cNvPr id="57" name="TextBox 56"/>
          <p:cNvSpPr txBox="1"/>
          <p:nvPr/>
        </p:nvSpPr>
        <p:spPr>
          <a:xfrm>
            <a:off x="9610344" y="1901952"/>
            <a:ext cx="1874519" cy="438912"/>
          </a:xfrm>
          <a:prstGeom prst="rect">
            <a:avLst/>
          </a:prstGeom>
          <a:noFill/>
        </p:spPr>
        <p:txBody>
          <a:bodyPr wrap="square">
            <a:spAutoFit/>
          </a:bodyPr>
          <a:lstStyle/>
          <a:p>
            <a:pPr algn="l"/>
            <a:r>
              <a:rPr sz="1000" b="0" i="0">
                <a:solidFill>
                  <a:srgbClr val="BBB8D4"/>
                </a:solidFill>
                <a:latin typeface="Segoe UI"/>
              </a:rPr>
              <a:t>→ $2M ARR milestone</a:t>
            </a:r>
          </a:p>
        </p:txBody>
      </p:sp>
      <p:sp>
        <p:nvSpPr>
          <p:cNvPr id="58" name="TextBox 57"/>
          <p:cNvSpPr txBox="1"/>
          <p:nvPr/>
        </p:nvSpPr>
        <p:spPr>
          <a:xfrm>
            <a:off x="9610344" y="2404872"/>
            <a:ext cx="1874519" cy="438912"/>
          </a:xfrm>
          <a:prstGeom prst="rect">
            <a:avLst/>
          </a:prstGeom>
          <a:noFill/>
        </p:spPr>
        <p:txBody>
          <a:bodyPr wrap="square">
            <a:spAutoFit/>
          </a:bodyPr>
          <a:lstStyle/>
          <a:p>
            <a:pPr algn="l"/>
            <a:r>
              <a:rPr sz="1000" b="0" i="0">
                <a:solidFill>
                  <a:srgbClr val="BBB8D4"/>
                </a:solidFill>
                <a:latin typeface="Segoe UI"/>
              </a:rPr>
              <a:t>→ Google Ads integration</a:t>
            </a:r>
          </a:p>
        </p:txBody>
      </p:sp>
      <p:sp>
        <p:nvSpPr>
          <p:cNvPr id="59" name="TextBox 58"/>
          <p:cNvSpPr txBox="1"/>
          <p:nvPr/>
        </p:nvSpPr>
        <p:spPr>
          <a:xfrm>
            <a:off x="9610344" y="2907792"/>
            <a:ext cx="1874519" cy="438912"/>
          </a:xfrm>
          <a:prstGeom prst="rect">
            <a:avLst/>
          </a:prstGeom>
          <a:noFill/>
        </p:spPr>
        <p:txBody>
          <a:bodyPr wrap="square">
            <a:spAutoFit/>
          </a:bodyPr>
          <a:lstStyle/>
          <a:p>
            <a:pPr algn="l"/>
            <a:r>
              <a:rPr sz="1000" b="0" i="0">
                <a:solidFill>
                  <a:srgbClr val="BBB8D4"/>
                </a:solidFill>
                <a:latin typeface="Segoe UI"/>
              </a:rPr>
              <a:t>→ Series A preparation</a:t>
            </a:r>
          </a:p>
        </p:txBody>
      </p:sp>
      <p:sp>
        <p:nvSpPr>
          <p:cNvPr id="60" name="Oval 59"/>
          <p:cNvSpPr/>
          <p:nvPr/>
        </p:nvSpPr>
        <p:spPr>
          <a:xfrm>
            <a:off x="10186416" y="3419856"/>
            <a:ext cx="502920" cy="50292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86416" y="3419856"/>
            <a:ext cx="502920" cy="502920"/>
          </a:xfrm>
          <a:prstGeom prst="rect">
            <a:avLst/>
          </a:prstGeom>
          <a:noFill/>
        </p:spPr>
        <p:txBody>
          <a:bodyPr wrap="square">
            <a:spAutoFit/>
          </a:bodyPr>
          <a:lstStyle/>
          <a:p>
            <a:pPr algn="ctr"/>
            <a:r>
              <a:rPr sz="1400" b="1" i="0">
                <a:solidFill>
                  <a:srgbClr val="FFFFFF"/>
                </a:solidFill>
                <a:latin typeface="Segoe UI"/>
              </a:rPr>
              <a:t>5</a:t>
            </a:r>
          </a:p>
        </p:txBody>
      </p:sp>
      <p:sp>
        <p:nvSpPr>
          <p:cNvPr id="62" name="Rectangle 61"/>
          <p:cNvSpPr/>
          <p:nvPr/>
        </p:nvSpPr>
        <p:spPr>
          <a:xfrm>
            <a:off x="9500616" y="4069080"/>
            <a:ext cx="2103120" cy="457200"/>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592056" y="4114800"/>
            <a:ext cx="1920240" cy="347472"/>
          </a:xfrm>
          <a:prstGeom prst="rect">
            <a:avLst/>
          </a:prstGeom>
          <a:noFill/>
        </p:spPr>
        <p:txBody>
          <a:bodyPr wrap="square">
            <a:spAutoFit/>
          </a:bodyPr>
          <a:lstStyle/>
          <a:p>
            <a:pPr algn="ctr"/>
            <a:r>
              <a:rPr sz="1200" b="1" i="0">
                <a:solidFill>
                  <a:srgbClr val="22D3EE"/>
                </a:solidFill>
                <a:latin typeface="Segoe UI Black"/>
              </a:rPr>
              <a:t>2M ARR</a:t>
            </a:r>
          </a:p>
        </p:txBody>
      </p:sp>
      <p:sp>
        <p:nvSpPr>
          <p:cNvPr id="64" name="TextBox 63"/>
          <p:cNvSpPr txBox="1"/>
          <p:nvPr/>
        </p:nvSpPr>
        <p:spPr>
          <a:xfrm>
            <a:off x="502920" y="4663440"/>
            <a:ext cx="11155680" cy="320040"/>
          </a:xfrm>
          <a:prstGeom prst="rect">
            <a:avLst/>
          </a:prstGeom>
          <a:noFill/>
        </p:spPr>
        <p:txBody>
          <a:bodyPr wrap="square">
            <a:spAutoFit/>
          </a:bodyPr>
          <a:lstStyle/>
          <a:p>
            <a:pPr algn="ctr"/>
            <a:r>
              <a:rPr sz="1050" b="0" i="1">
                <a:solidFill>
                  <a:srgbClr val="777397"/>
                </a:solidFill>
                <a:latin typeface="Segoe UI"/>
              </a:rPr>
              <a:t>Series A target: Q2 2028 · $8–12M · $40–60M valuation  ·  Exit horizon: acquisition or IPO at $20M+ ARR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13</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GO-TO-MARKET STRATEGY</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14</a:t>
            </a:r>
          </a:p>
        </p:txBody>
      </p:sp>
      <p:sp>
        <p:nvSpPr>
          <p:cNvPr id="7" name="TextBox 6"/>
          <p:cNvSpPr txBox="1"/>
          <p:nvPr/>
        </p:nvSpPr>
        <p:spPr>
          <a:xfrm>
            <a:off x="502920" y="804672"/>
            <a:ext cx="11155680" cy="347472"/>
          </a:xfrm>
          <a:prstGeom prst="rect">
            <a:avLst/>
          </a:prstGeom>
          <a:noFill/>
        </p:spPr>
        <p:txBody>
          <a:bodyPr wrap="square">
            <a:spAutoFit/>
          </a:bodyPr>
          <a:lstStyle/>
          <a:p>
            <a:pPr algn="ctr"/>
            <a:r>
              <a:rPr sz="1500" b="0" i="0">
                <a:solidFill>
                  <a:srgbClr val="BBB8D4"/>
                </a:solidFill>
                <a:latin typeface="Segoe UI"/>
              </a:rPr>
              <a:t>Product-led growth with community amplification — let the output sell itself.</a:t>
            </a:r>
          </a:p>
        </p:txBody>
      </p:sp>
      <p:sp>
        <p:nvSpPr>
          <p:cNvPr id="8" name="Oval 7"/>
          <p:cNvSpPr/>
          <p:nvPr/>
        </p:nvSpPr>
        <p:spPr>
          <a:xfrm>
            <a:off x="777240" y="1234440"/>
            <a:ext cx="3154680" cy="3154680"/>
          </a:xfrm>
          <a:prstGeom prst="ellipse">
            <a:avLst/>
          </a:prstGeom>
          <a:solidFill>
            <a:srgbClr val="000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463040"/>
            <a:ext cx="2697480" cy="2697480"/>
          </a:xfrm>
          <a:prstGeom prst="ellipse">
            <a:avLst/>
          </a:prstGeom>
          <a:solidFill>
            <a:srgbClr val="3201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3154680" cy="457200"/>
          </a:xfrm>
          <a:prstGeom prst="rect">
            <a:avLst/>
          </a:prstGeom>
          <a:noFill/>
        </p:spPr>
        <p:txBody>
          <a:bodyPr wrap="square">
            <a:spAutoFit/>
          </a:bodyPr>
          <a:lstStyle/>
          <a:p>
            <a:pPr algn="ctr"/>
            <a:r>
              <a:rPr sz="1800" b="1" i="0">
                <a:solidFill>
                  <a:srgbClr val="6E3DFF"/>
                </a:solidFill>
                <a:latin typeface="Segoe UI Black"/>
              </a:rPr>
              <a:t>ACQUIRE</a:t>
            </a:r>
          </a:p>
        </p:txBody>
      </p:sp>
      <p:sp>
        <p:nvSpPr>
          <p:cNvPr id="11" name="TextBox 10"/>
          <p:cNvSpPr txBox="1"/>
          <p:nvPr/>
        </p:nvSpPr>
        <p:spPr>
          <a:xfrm>
            <a:off x="777240" y="2395728"/>
            <a:ext cx="3154680" cy="1463040"/>
          </a:xfrm>
          <a:prstGeom prst="rect">
            <a:avLst/>
          </a:prstGeom>
          <a:noFill/>
        </p:spPr>
        <p:txBody>
          <a:bodyPr wrap="square">
            <a:spAutoFit/>
          </a:bodyPr>
          <a:lstStyle/>
          <a:p>
            <a:pPr algn="ctr"/>
            <a:r>
              <a:rPr sz="1050" b="0" i="0">
                <a:solidFill>
                  <a:srgbClr val="FFFFFF"/>
                </a:solidFill>
                <a:latin typeface="Segoe UI"/>
              </a:rPr>
              <a:t>Free trial: 3 Marketing Brains + 5 creatives
No credit card. Instant value delivery.
Organic SEO + community presence</a:t>
            </a:r>
          </a:p>
        </p:txBody>
      </p:sp>
      <p:sp>
        <p:nvSpPr>
          <p:cNvPr id="12" name="TextBox 11"/>
          <p:cNvSpPr txBox="1"/>
          <p:nvPr/>
        </p:nvSpPr>
        <p:spPr>
          <a:xfrm>
            <a:off x="4114800" y="2606040"/>
            <a:ext cx="502920" cy="502920"/>
          </a:xfrm>
          <a:prstGeom prst="rect">
            <a:avLst/>
          </a:prstGeom>
          <a:noFill/>
        </p:spPr>
        <p:txBody>
          <a:bodyPr wrap="square">
            <a:spAutoFit/>
          </a:bodyPr>
          <a:lstStyle/>
          <a:p>
            <a:pPr algn="l"/>
            <a:r>
              <a:rPr sz="2200" b="1" i="0">
                <a:solidFill>
                  <a:srgbClr val="777397"/>
                </a:solidFill>
                <a:latin typeface="Segoe UI"/>
              </a:rPr>
              <a:t>⟶</a:t>
            </a:r>
          </a:p>
        </p:txBody>
      </p:sp>
      <p:sp>
        <p:nvSpPr>
          <p:cNvPr id="13" name="Oval 12"/>
          <p:cNvSpPr/>
          <p:nvPr/>
        </p:nvSpPr>
        <p:spPr>
          <a:xfrm>
            <a:off x="4672583" y="1234440"/>
            <a:ext cx="3154680" cy="3154680"/>
          </a:xfrm>
          <a:prstGeom prst="ellipse">
            <a:avLst/>
          </a:prstGeom>
          <a:solidFill>
            <a:srgbClr val="870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01183" y="1463040"/>
            <a:ext cx="2697480" cy="2697480"/>
          </a:xfrm>
          <a:prstGeom prst="ellipse">
            <a:avLst/>
          </a:prstGeom>
          <a:solidFill>
            <a:srgbClr val="C31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3" y="1874519"/>
            <a:ext cx="3154680" cy="457200"/>
          </a:xfrm>
          <a:prstGeom prst="rect">
            <a:avLst/>
          </a:prstGeom>
          <a:noFill/>
        </p:spPr>
        <p:txBody>
          <a:bodyPr wrap="square">
            <a:spAutoFit/>
          </a:bodyPr>
          <a:lstStyle/>
          <a:p>
            <a:pPr algn="ctr"/>
            <a:r>
              <a:rPr sz="1800" b="1" i="0">
                <a:solidFill>
                  <a:srgbClr val="FF4FCB"/>
                </a:solidFill>
                <a:latin typeface="Segoe UI Black"/>
              </a:rPr>
              <a:t>ACTIVATE</a:t>
            </a:r>
          </a:p>
        </p:txBody>
      </p:sp>
      <p:sp>
        <p:nvSpPr>
          <p:cNvPr id="16" name="TextBox 15"/>
          <p:cNvSpPr txBox="1"/>
          <p:nvPr/>
        </p:nvSpPr>
        <p:spPr>
          <a:xfrm>
            <a:off x="4672583" y="2395728"/>
            <a:ext cx="3154680" cy="1463040"/>
          </a:xfrm>
          <a:prstGeom prst="rect">
            <a:avLst/>
          </a:prstGeom>
          <a:noFill/>
        </p:spPr>
        <p:txBody>
          <a:bodyPr wrap="square">
            <a:spAutoFit/>
          </a:bodyPr>
          <a:lstStyle/>
          <a:p>
            <a:pPr algn="ctr"/>
            <a:r>
              <a:rPr sz="1050" b="0" i="0">
                <a:solidFill>
                  <a:srgbClr val="FFFFFF"/>
                </a:solidFill>
                <a:latin typeface="Segoe UI"/>
              </a:rPr>
              <a:t>User runs first Marketing Brain analysis
Sees their ICP + pain points + hooks
Aha moment: 'This is exactly right'</a:t>
            </a:r>
          </a:p>
        </p:txBody>
      </p:sp>
      <p:sp>
        <p:nvSpPr>
          <p:cNvPr id="17" name="TextBox 16"/>
          <p:cNvSpPr txBox="1"/>
          <p:nvPr/>
        </p:nvSpPr>
        <p:spPr>
          <a:xfrm>
            <a:off x="8010144" y="2606040"/>
            <a:ext cx="502920" cy="502920"/>
          </a:xfrm>
          <a:prstGeom prst="rect">
            <a:avLst/>
          </a:prstGeom>
          <a:noFill/>
        </p:spPr>
        <p:txBody>
          <a:bodyPr wrap="square">
            <a:spAutoFit/>
          </a:bodyPr>
          <a:lstStyle/>
          <a:p>
            <a:pPr algn="l"/>
            <a:r>
              <a:rPr sz="2200" b="1" i="0">
                <a:solidFill>
                  <a:srgbClr val="777397"/>
                </a:solidFill>
                <a:latin typeface="Segoe UI"/>
              </a:rPr>
              <a:t>⟶</a:t>
            </a:r>
          </a:p>
        </p:txBody>
      </p:sp>
      <p:sp>
        <p:nvSpPr>
          <p:cNvPr id="18" name="Oval 17"/>
          <p:cNvSpPr/>
          <p:nvPr/>
        </p:nvSpPr>
        <p:spPr>
          <a:xfrm>
            <a:off x="8567928" y="1234440"/>
            <a:ext cx="3154680" cy="3154680"/>
          </a:xfrm>
          <a:prstGeom prst="ellipse">
            <a:avLst/>
          </a:prstGeom>
          <a:solidFill>
            <a:srgbClr val="00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796528" y="1463040"/>
            <a:ext cx="2697480" cy="2697480"/>
          </a:xfrm>
          <a:prstGeom prst="ellipse">
            <a:avLst/>
          </a:prstGeom>
          <a:solidFill>
            <a:srgbClr val="008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67928" y="1874519"/>
            <a:ext cx="3154680" cy="457200"/>
          </a:xfrm>
          <a:prstGeom prst="rect">
            <a:avLst/>
          </a:prstGeom>
          <a:noFill/>
        </p:spPr>
        <p:txBody>
          <a:bodyPr wrap="square">
            <a:spAutoFit/>
          </a:bodyPr>
          <a:lstStyle/>
          <a:p>
            <a:pPr algn="ctr"/>
            <a:r>
              <a:rPr sz="1800" b="1" i="0">
                <a:solidFill>
                  <a:srgbClr val="22C55E"/>
                </a:solidFill>
                <a:latin typeface="Segoe UI Black"/>
              </a:rPr>
              <a:t>EXPAND</a:t>
            </a:r>
          </a:p>
        </p:txBody>
      </p:sp>
      <p:sp>
        <p:nvSpPr>
          <p:cNvPr id="21" name="TextBox 20"/>
          <p:cNvSpPr txBox="1"/>
          <p:nvPr/>
        </p:nvSpPr>
        <p:spPr>
          <a:xfrm>
            <a:off x="8567928" y="2395728"/>
            <a:ext cx="3154680" cy="1463040"/>
          </a:xfrm>
          <a:prstGeom prst="rect">
            <a:avLst/>
          </a:prstGeom>
          <a:noFill/>
        </p:spPr>
        <p:txBody>
          <a:bodyPr wrap="square">
            <a:spAutoFit/>
          </a:bodyPr>
          <a:lstStyle/>
          <a:p>
            <a:pPr algn="ctr"/>
            <a:r>
              <a:rPr sz="1050" b="0" i="0">
                <a:solidFill>
                  <a:srgbClr val="FFFFFF"/>
                </a:solidFill>
                <a:latin typeface="Segoe UI"/>
              </a:rPr>
              <a:t>Upgrades to paid plan
Refers colleagues + agencies
Case study → social proof → more acquires</a:t>
            </a:r>
          </a:p>
        </p:txBody>
      </p:sp>
      <p:sp>
        <p:nvSpPr>
          <p:cNvPr id="22" name="Rounded Rectangle 21"/>
          <p:cNvSpPr/>
          <p:nvPr/>
        </p:nvSpPr>
        <p:spPr>
          <a:xfrm>
            <a:off x="502920" y="4572000"/>
            <a:ext cx="5486400" cy="9601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45152"/>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24" name="TextBox 23"/>
          <p:cNvSpPr txBox="1"/>
          <p:nvPr/>
        </p:nvSpPr>
        <p:spPr>
          <a:xfrm>
            <a:off x="1188720" y="4645152"/>
            <a:ext cx="2286000" cy="292608"/>
          </a:xfrm>
          <a:prstGeom prst="rect">
            <a:avLst/>
          </a:prstGeom>
          <a:noFill/>
        </p:spPr>
        <p:txBody>
          <a:bodyPr wrap="square">
            <a:spAutoFit/>
          </a:bodyPr>
          <a:lstStyle/>
          <a:p>
            <a:pPr algn="l"/>
            <a:r>
              <a:rPr sz="1200" b="1" i="0">
                <a:solidFill>
                  <a:srgbClr val="FFFFFF"/>
                </a:solidFill>
                <a:latin typeface="Segoe UI Semibold"/>
              </a:rPr>
              <a:t>Content SEO</a:t>
            </a:r>
          </a:p>
        </p:txBody>
      </p:sp>
      <p:sp>
        <p:nvSpPr>
          <p:cNvPr id="25" name="TextBox 24"/>
          <p:cNvSpPr txBox="1"/>
          <p:nvPr/>
        </p:nvSpPr>
        <p:spPr>
          <a:xfrm>
            <a:off x="1188720" y="4956048"/>
            <a:ext cx="4663440" cy="502920"/>
          </a:xfrm>
          <a:prstGeom prst="rect">
            <a:avLst/>
          </a:prstGeom>
          <a:noFill/>
        </p:spPr>
        <p:txBody>
          <a:bodyPr wrap="square">
            <a:spAutoFit/>
          </a:bodyPr>
          <a:lstStyle/>
          <a:p>
            <a:pPr algn="l"/>
            <a:r>
              <a:rPr sz="950" b="0" i="0">
                <a:solidFill>
                  <a:srgbClr val="BBB8D4"/>
                </a:solidFill>
                <a:latin typeface="Segoe UI"/>
              </a:rPr>
              <a:t>High-intent blog content targeting performance marketers. Ranks for 'AI ad creative generator', 'marketing intelligence platform'.</a:t>
            </a:r>
          </a:p>
        </p:txBody>
      </p:sp>
      <p:sp>
        <p:nvSpPr>
          <p:cNvPr id="26" name="Rounded Rectangle 25"/>
          <p:cNvSpPr/>
          <p:nvPr/>
        </p:nvSpPr>
        <p:spPr>
          <a:xfrm>
            <a:off x="6172200" y="4572000"/>
            <a:ext cx="5486400" cy="9601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4645152"/>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28" name="TextBox 27"/>
          <p:cNvSpPr txBox="1"/>
          <p:nvPr/>
        </p:nvSpPr>
        <p:spPr>
          <a:xfrm>
            <a:off x="6858000" y="4645152"/>
            <a:ext cx="2286000" cy="292608"/>
          </a:xfrm>
          <a:prstGeom prst="rect">
            <a:avLst/>
          </a:prstGeom>
          <a:noFill/>
        </p:spPr>
        <p:txBody>
          <a:bodyPr wrap="square">
            <a:spAutoFit/>
          </a:bodyPr>
          <a:lstStyle/>
          <a:p>
            <a:pPr algn="l"/>
            <a:r>
              <a:rPr sz="1200" b="1" i="0">
                <a:solidFill>
                  <a:srgbClr val="FFFFFF"/>
                </a:solidFill>
                <a:latin typeface="Segoe UI Semibold"/>
              </a:rPr>
              <a:t>Twitter / LinkedIn</a:t>
            </a:r>
          </a:p>
        </p:txBody>
      </p:sp>
      <p:sp>
        <p:nvSpPr>
          <p:cNvPr id="29" name="TextBox 28"/>
          <p:cNvSpPr txBox="1"/>
          <p:nvPr/>
        </p:nvSpPr>
        <p:spPr>
          <a:xfrm>
            <a:off x="6858000" y="4956048"/>
            <a:ext cx="4663440" cy="502920"/>
          </a:xfrm>
          <a:prstGeom prst="rect">
            <a:avLst/>
          </a:prstGeom>
          <a:noFill/>
        </p:spPr>
        <p:txBody>
          <a:bodyPr wrap="square">
            <a:spAutoFit/>
          </a:bodyPr>
          <a:lstStyle/>
          <a:p>
            <a:pPr algn="l"/>
            <a:r>
              <a:rPr sz="950" b="0" i="0">
                <a:solidFill>
                  <a:srgbClr val="BBB8D4"/>
                </a:solidFill>
                <a:latin typeface="Segoe UI"/>
              </a:rPr>
              <a:t>Founder-led distribution. Daily marketing intelligence teardowns, product demos, behind-the-scenes AI building journey.</a:t>
            </a:r>
          </a:p>
        </p:txBody>
      </p:sp>
      <p:sp>
        <p:nvSpPr>
          <p:cNvPr id="30" name="Rounded Rectangle 29"/>
          <p:cNvSpPr/>
          <p:nvPr/>
        </p:nvSpPr>
        <p:spPr>
          <a:xfrm>
            <a:off x="502920" y="5623560"/>
            <a:ext cx="5486400" cy="9601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696712"/>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32" name="TextBox 31"/>
          <p:cNvSpPr txBox="1"/>
          <p:nvPr/>
        </p:nvSpPr>
        <p:spPr>
          <a:xfrm>
            <a:off x="1188720" y="5696712"/>
            <a:ext cx="2286000" cy="292608"/>
          </a:xfrm>
          <a:prstGeom prst="rect">
            <a:avLst/>
          </a:prstGeom>
          <a:noFill/>
        </p:spPr>
        <p:txBody>
          <a:bodyPr wrap="square">
            <a:spAutoFit/>
          </a:bodyPr>
          <a:lstStyle/>
          <a:p>
            <a:pPr algn="l"/>
            <a:r>
              <a:rPr sz="1200" b="1" i="0">
                <a:solidFill>
                  <a:srgbClr val="FFFFFF"/>
                </a:solidFill>
                <a:latin typeface="Segoe UI Semibold"/>
              </a:rPr>
              <a:t>Agency Partnerships</a:t>
            </a:r>
          </a:p>
        </p:txBody>
      </p:sp>
      <p:sp>
        <p:nvSpPr>
          <p:cNvPr id="33" name="TextBox 32"/>
          <p:cNvSpPr txBox="1"/>
          <p:nvPr/>
        </p:nvSpPr>
        <p:spPr>
          <a:xfrm>
            <a:off x="1188720" y="6007608"/>
            <a:ext cx="4663440" cy="502920"/>
          </a:xfrm>
          <a:prstGeom prst="rect">
            <a:avLst/>
          </a:prstGeom>
          <a:noFill/>
        </p:spPr>
        <p:txBody>
          <a:bodyPr wrap="square">
            <a:spAutoFit/>
          </a:bodyPr>
          <a:lstStyle/>
          <a:p>
            <a:pPr algn="l"/>
            <a:r>
              <a:rPr sz="950" b="0" i="0">
                <a:solidFill>
                  <a:srgbClr val="BBB8D4"/>
                </a:solidFill>
                <a:latin typeface="Segoe UI"/>
              </a:rPr>
              <a:t>20 agency partners in Year 1. Each agency = 10–50 client brands at Agency tier pricing.</a:t>
            </a:r>
          </a:p>
        </p:txBody>
      </p:sp>
      <p:sp>
        <p:nvSpPr>
          <p:cNvPr id="34" name="Rounded Rectangle 33"/>
          <p:cNvSpPr/>
          <p:nvPr/>
        </p:nvSpPr>
        <p:spPr>
          <a:xfrm>
            <a:off x="6172200" y="5623560"/>
            <a:ext cx="5486400" cy="96012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5696712"/>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36" name="TextBox 35"/>
          <p:cNvSpPr txBox="1"/>
          <p:nvPr/>
        </p:nvSpPr>
        <p:spPr>
          <a:xfrm>
            <a:off x="6858000" y="5696712"/>
            <a:ext cx="2286000" cy="292608"/>
          </a:xfrm>
          <a:prstGeom prst="rect">
            <a:avLst/>
          </a:prstGeom>
          <a:noFill/>
        </p:spPr>
        <p:txBody>
          <a:bodyPr wrap="square">
            <a:spAutoFit/>
          </a:bodyPr>
          <a:lstStyle/>
          <a:p>
            <a:pPr algn="l"/>
            <a:r>
              <a:rPr sz="1200" b="1" i="0">
                <a:solidFill>
                  <a:srgbClr val="FFFFFF"/>
                </a:solidFill>
                <a:latin typeface="Segoe UI Semibold"/>
              </a:rPr>
              <a:t>Free Audit Funnel</a:t>
            </a:r>
          </a:p>
        </p:txBody>
      </p:sp>
      <p:sp>
        <p:nvSpPr>
          <p:cNvPr id="37" name="TextBox 36"/>
          <p:cNvSpPr txBox="1"/>
          <p:nvPr/>
        </p:nvSpPr>
        <p:spPr>
          <a:xfrm>
            <a:off x="6858000" y="6007608"/>
            <a:ext cx="4663440" cy="502920"/>
          </a:xfrm>
          <a:prstGeom prst="rect">
            <a:avLst/>
          </a:prstGeom>
          <a:noFill/>
        </p:spPr>
        <p:txBody>
          <a:bodyPr wrap="square">
            <a:spAutoFit/>
          </a:bodyPr>
          <a:lstStyle/>
          <a:p>
            <a:pPr algn="l"/>
            <a:r>
              <a:rPr sz="950" b="0" i="0">
                <a:solidFill>
                  <a:srgbClr val="BBB8D4"/>
                </a:solidFill>
                <a:latin typeface="Segoe UI"/>
              </a:rPr>
              <a:t>Any business gets partial Marketing Brain free — ICP + top 3 pain points — generating product-qualified leads.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14</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THE TEAM</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15</a:t>
            </a:r>
          </a:p>
        </p:txBody>
      </p:sp>
      <p:sp>
        <p:nvSpPr>
          <p:cNvPr id="7" name="Rectangle 6"/>
          <p:cNvSpPr/>
          <p:nvPr/>
        </p:nvSpPr>
        <p:spPr>
          <a:xfrm>
            <a:off x="6858000" y="777240"/>
            <a:ext cx="5029200" cy="59436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09071C"/>
            </a:gs>
          </a:gsLst>
          <a:lin ang="10800000" scaled="0"/>
        </a:gradFill>
      </p:sp>
      <p:sp>
        <p:nvSpPr>
          <p:cNvPr id="8" name="Rounded Rectangle 7"/>
          <p:cNvSpPr/>
          <p:nvPr/>
        </p:nvSpPr>
        <p:spPr>
          <a:xfrm>
            <a:off x="502920" y="960120"/>
            <a:ext cx="6126480" cy="38404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960120"/>
            <a:ext cx="6126480"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10" name="Oval 9"/>
          <p:cNvSpPr/>
          <p:nvPr/>
        </p:nvSpPr>
        <p:spPr>
          <a:xfrm>
            <a:off x="713232" y="1170432"/>
            <a:ext cx="1234440" cy="1234440"/>
          </a:xfrm>
          <a:prstGeom prst="ellipse">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170432"/>
            <a:ext cx="1234440" cy="1234440"/>
          </a:xfrm>
          <a:prstGeom prst="rect">
            <a:avLst/>
          </a:prstGeom>
          <a:noFill/>
        </p:spPr>
        <p:txBody>
          <a:bodyPr wrap="square">
            <a:spAutoFit/>
          </a:bodyPr>
          <a:lstStyle/>
          <a:p>
            <a:pPr algn="ctr"/>
            <a:r>
              <a:rPr sz="3200" b="1" i="0">
                <a:solidFill>
                  <a:srgbClr val="FFFFFF"/>
                </a:solidFill>
                <a:latin typeface="Segoe UI Black"/>
              </a:rPr>
              <a:t>FA</a:t>
            </a:r>
          </a:p>
        </p:txBody>
      </p:sp>
      <p:sp>
        <p:nvSpPr>
          <p:cNvPr id="12" name="TextBox 11"/>
          <p:cNvSpPr txBox="1"/>
          <p:nvPr/>
        </p:nvSpPr>
        <p:spPr>
          <a:xfrm>
            <a:off x="2148840" y="1188720"/>
            <a:ext cx="4206240" cy="457200"/>
          </a:xfrm>
          <a:prstGeom prst="rect">
            <a:avLst/>
          </a:prstGeom>
          <a:noFill/>
        </p:spPr>
        <p:txBody>
          <a:bodyPr wrap="square">
            <a:spAutoFit/>
          </a:bodyPr>
          <a:lstStyle/>
          <a:p>
            <a:pPr algn="l"/>
            <a:r>
              <a:rPr sz="2200" b="1" i="0">
                <a:solidFill>
                  <a:srgbClr val="FFFFFF"/>
                </a:solidFill>
                <a:latin typeface="Segoe UI Black"/>
              </a:rPr>
              <a:t>Fawad Ansari</a:t>
            </a:r>
          </a:p>
        </p:txBody>
      </p:sp>
      <p:sp>
        <p:nvSpPr>
          <p:cNvPr id="13" name="TextBox 12"/>
          <p:cNvSpPr txBox="1"/>
          <p:nvPr/>
        </p:nvSpPr>
        <p:spPr>
          <a:xfrm>
            <a:off x="2148840" y="1645920"/>
            <a:ext cx="4206240" cy="320040"/>
          </a:xfrm>
          <a:prstGeom prst="rect">
            <a:avLst/>
          </a:prstGeom>
          <a:noFill/>
        </p:spPr>
        <p:txBody>
          <a:bodyPr wrap="square">
            <a:spAutoFit/>
          </a:bodyPr>
          <a:lstStyle/>
          <a:p>
            <a:pPr algn="l"/>
            <a:r>
              <a:rPr sz="1200" b="0" i="0">
                <a:solidFill>
                  <a:srgbClr val="FF4FCB"/>
                </a:solidFill>
                <a:latin typeface="Segoe UI"/>
              </a:rPr>
              <a:t>Founder &amp; CEO · Chief Product Officer</a:t>
            </a:r>
          </a:p>
        </p:txBody>
      </p:sp>
      <p:sp>
        <p:nvSpPr>
          <p:cNvPr id="14" name="TextBox 13"/>
          <p:cNvSpPr txBox="1"/>
          <p:nvPr/>
        </p:nvSpPr>
        <p:spPr>
          <a:xfrm>
            <a:off x="2148840" y="1965960"/>
            <a:ext cx="4206240" cy="274320"/>
          </a:xfrm>
          <a:prstGeom prst="rect">
            <a:avLst/>
          </a:prstGeom>
          <a:noFill/>
        </p:spPr>
        <p:txBody>
          <a:bodyPr wrap="square">
            <a:spAutoFit/>
          </a:bodyPr>
          <a:lstStyle/>
          <a:p>
            <a:pPr algn="l"/>
            <a:r>
              <a:rPr sz="1100" b="0" i="0">
                <a:solidFill>
                  <a:srgbClr val="777397"/>
                </a:solidFill>
                <a:latin typeface="Segoe UI"/>
              </a:rPr>
              <a:t>crelix.ai</a:t>
            </a:r>
          </a:p>
        </p:txBody>
      </p:sp>
      <p:sp>
        <p:nvSpPr>
          <p:cNvPr id="15" name="Rectangle 14"/>
          <p:cNvSpPr/>
          <p:nvPr/>
        </p:nvSpPr>
        <p:spPr>
          <a:xfrm>
            <a:off x="713232" y="2340864"/>
            <a:ext cx="5742432" cy="27432"/>
          </a:xfrm>
          <a:prstGeom prst="rect">
            <a:avLst/>
          </a:prstGeom>
          <a:solidFill>
            <a:srgbClr val="2A1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87168"/>
            <a:ext cx="274320" cy="347472"/>
          </a:xfrm>
          <a:prstGeom prst="rect">
            <a:avLst/>
          </a:prstGeom>
          <a:noFill/>
        </p:spPr>
        <p:txBody>
          <a:bodyPr wrap="square">
            <a:spAutoFit/>
          </a:bodyPr>
          <a:lstStyle/>
          <a:p>
            <a:pPr algn="l"/>
            <a:r>
              <a:rPr sz="1000" b="1" i="0">
                <a:solidFill>
                  <a:srgbClr val="9B72FF"/>
                </a:solidFill>
                <a:latin typeface="Segoe UI"/>
              </a:rPr>
              <a:t>◆</a:t>
            </a:r>
          </a:p>
        </p:txBody>
      </p:sp>
      <p:sp>
        <p:nvSpPr>
          <p:cNvPr id="17" name="TextBox 16"/>
          <p:cNvSpPr txBox="1"/>
          <p:nvPr/>
        </p:nvSpPr>
        <p:spPr>
          <a:xfrm>
            <a:off x="1005840" y="2487168"/>
            <a:ext cx="5413248" cy="347472"/>
          </a:xfrm>
          <a:prstGeom prst="rect">
            <a:avLst/>
          </a:prstGeom>
          <a:noFill/>
        </p:spPr>
        <p:txBody>
          <a:bodyPr wrap="square">
            <a:spAutoFit/>
          </a:bodyPr>
          <a:lstStyle/>
          <a:p>
            <a:pPr algn="l"/>
            <a:r>
              <a:rPr sz="1150" b="0" i="0">
                <a:solidFill>
                  <a:srgbClr val="FFFFFF"/>
                </a:solidFill>
                <a:latin typeface="Segoe UI"/>
              </a:rPr>
              <a:t>Built the complete dual-AI Marketing Brain pipeline from concept to production</a:t>
            </a:r>
          </a:p>
        </p:txBody>
      </p:sp>
      <p:sp>
        <p:nvSpPr>
          <p:cNvPr id="18" name="TextBox 17"/>
          <p:cNvSpPr txBox="1"/>
          <p:nvPr/>
        </p:nvSpPr>
        <p:spPr>
          <a:xfrm>
            <a:off x="713232" y="2889504"/>
            <a:ext cx="274320" cy="347472"/>
          </a:xfrm>
          <a:prstGeom prst="rect">
            <a:avLst/>
          </a:prstGeom>
          <a:noFill/>
        </p:spPr>
        <p:txBody>
          <a:bodyPr wrap="square">
            <a:spAutoFit/>
          </a:bodyPr>
          <a:lstStyle/>
          <a:p>
            <a:pPr algn="l"/>
            <a:r>
              <a:rPr sz="1000" b="1" i="0">
                <a:solidFill>
                  <a:srgbClr val="9B72FF"/>
                </a:solidFill>
                <a:latin typeface="Segoe UI"/>
              </a:rPr>
              <a:t>◆</a:t>
            </a:r>
          </a:p>
        </p:txBody>
      </p:sp>
      <p:sp>
        <p:nvSpPr>
          <p:cNvPr id="19" name="TextBox 18"/>
          <p:cNvSpPr txBox="1"/>
          <p:nvPr/>
        </p:nvSpPr>
        <p:spPr>
          <a:xfrm>
            <a:off x="1005840" y="2889504"/>
            <a:ext cx="5413248" cy="347472"/>
          </a:xfrm>
          <a:prstGeom prst="rect">
            <a:avLst/>
          </a:prstGeom>
          <a:noFill/>
        </p:spPr>
        <p:txBody>
          <a:bodyPr wrap="square">
            <a:spAutoFit/>
          </a:bodyPr>
          <a:lstStyle/>
          <a:p>
            <a:pPr algn="l"/>
            <a:r>
              <a:rPr sz="1150" b="0" i="0">
                <a:solidFill>
                  <a:srgbClr val="FFFFFF"/>
                </a:solidFill>
                <a:latin typeface="Segoe UI"/>
              </a:rPr>
              <a:t>Designed the Creative Studio™ with ICP-derived image generation architecture</a:t>
            </a:r>
          </a:p>
        </p:txBody>
      </p:sp>
      <p:sp>
        <p:nvSpPr>
          <p:cNvPr id="20" name="TextBox 19"/>
          <p:cNvSpPr txBox="1"/>
          <p:nvPr/>
        </p:nvSpPr>
        <p:spPr>
          <a:xfrm>
            <a:off x="713232" y="3291840"/>
            <a:ext cx="274320" cy="347472"/>
          </a:xfrm>
          <a:prstGeom prst="rect">
            <a:avLst/>
          </a:prstGeom>
          <a:noFill/>
        </p:spPr>
        <p:txBody>
          <a:bodyPr wrap="square">
            <a:spAutoFit/>
          </a:bodyPr>
          <a:lstStyle/>
          <a:p>
            <a:pPr algn="l"/>
            <a:r>
              <a:rPr sz="1000" b="1" i="0">
                <a:solidFill>
                  <a:srgbClr val="9B72FF"/>
                </a:solidFill>
                <a:latin typeface="Segoe UI"/>
              </a:rPr>
              <a:t>◆</a:t>
            </a:r>
          </a:p>
        </p:txBody>
      </p:sp>
      <p:sp>
        <p:nvSpPr>
          <p:cNvPr id="21" name="TextBox 20"/>
          <p:cNvSpPr txBox="1"/>
          <p:nvPr/>
        </p:nvSpPr>
        <p:spPr>
          <a:xfrm>
            <a:off x="1005840" y="3291840"/>
            <a:ext cx="5413248" cy="347472"/>
          </a:xfrm>
          <a:prstGeom prst="rect">
            <a:avLst/>
          </a:prstGeom>
          <a:noFill/>
        </p:spPr>
        <p:txBody>
          <a:bodyPr wrap="square">
            <a:spAutoFit/>
          </a:bodyPr>
          <a:lstStyle/>
          <a:p>
            <a:pPr algn="l"/>
            <a:r>
              <a:rPr sz="1150" b="0" i="0">
                <a:solidFill>
                  <a:srgbClr val="FFFFFF"/>
                </a:solidFill>
                <a:latin typeface="Segoe UI"/>
              </a:rPr>
              <a:t>Full-stack engineering across Next.js 16, React 19, xAI Grok, Anthropic Claude</a:t>
            </a:r>
          </a:p>
        </p:txBody>
      </p:sp>
      <p:sp>
        <p:nvSpPr>
          <p:cNvPr id="22" name="TextBox 21"/>
          <p:cNvSpPr txBox="1"/>
          <p:nvPr/>
        </p:nvSpPr>
        <p:spPr>
          <a:xfrm>
            <a:off x="713232" y="3694176"/>
            <a:ext cx="274320" cy="347472"/>
          </a:xfrm>
          <a:prstGeom prst="rect">
            <a:avLst/>
          </a:prstGeom>
          <a:noFill/>
        </p:spPr>
        <p:txBody>
          <a:bodyPr wrap="square">
            <a:spAutoFit/>
          </a:bodyPr>
          <a:lstStyle/>
          <a:p>
            <a:pPr algn="l"/>
            <a:r>
              <a:rPr sz="1000" b="1" i="0">
                <a:solidFill>
                  <a:srgbClr val="9B72FF"/>
                </a:solidFill>
                <a:latin typeface="Segoe UI"/>
              </a:rPr>
              <a:t>◆</a:t>
            </a:r>
          </a:p>
        </p:txBody>
      </p:sp>
      <p:sp>
        <p:nvSpPr>
          <p:cNvPr id="23" name="TextBox 22"/>
          <p:cNvSpPr txBox="1"/>
          <p:nvPr/>
        </p:nvSpPr>
        <p:spPr>
          <a:xfrm>
            <a:off x="1005840" y="3694176"/>
            <a:ext cx="5413248" cy="347472"/>
          </a:xfrm>
          <a:prstGeom prst="rect">
            <a:avLst/>
          </a:prstGeom>
          <a:noFill/>
        </p:spPr>
        <p:txBody>
          <a:bodyPr wrap="square">
            <a:spAutoFit/>
          </a:bodyPr>
          <a:lstStyle/>
          <a:p>
            <a:pPr algn="l"/>
            <a:r>
              <a:rPr sz="1150" b="0" i="0">
                <a:solidFill>
                  <a:srgbClr val="FFFFFF"/>
                </a:solidFill>
                <a:latin typeface="Segoe UI"/>
              </a:rPr>
              <a:t>Deep expertise in digital marketing, AI systems, and SaaS product development</a:t>
            </a:r>
          </a:p>
        </p:txBody>
      </p:sp>
      <p:sp>
        <p:nvSpPr>
          <p:cNvPr id="24" name="TextBox 23"/>
          <p:cNvSpPr txBox="1"/>
          <p:nvPr/>
        </p:nvSpPr>
        <p:spPr>
          <a:xfrm>
            <a:off x="713232" y="4096512"/>
            <a:ext cx="274320" cy="347472"/>
          </a:xfrm>
          <a:prstGeom prst="rect">
            <a:avLst/>
          </a:prstGeom>
          <a:noFill/>
        </p:spPr>
        <p:txBody>
          <a:bodyPr wrap="square">
            <a:spAutoFit/>
          </a:bodyPr>
          <a:lstStyle/>
          <a:p>
            <a:pPr algn="l"/>
            <a:r>
              <a:rPr sz="1000" b="1" i="0">
                <a:solidFill>
                  <a:srgbClr val="9B72FF"/>
                </a:solidFill>
                <a:latin typeface="Segoe UI"/>
              </a:rPr>
              <a:t>◆</a:t>
            </a:r>
          </a:p>
        </p:txBody>
      </p:sp>
      <p:sp>
        <p:nvSpPr>
          <p:cNvPr id="25" name="TextBox 24"/>
          <p:cNvSpPr txBox="1"/>
          <p:nvPr/>
        </p:nvSpPr>
        <p:spPr>
          <a:xfrm>
            <a:off x="1005840" y="4096512"/>
            <a:ext cx="5413248" cy="347472"/>
          </a:xfrm>
          <a:prstGeom prst="rect">
            <a:avLst/>
          </a:prstGeom>
          <a:noFill/>
        </p:spPr>
        <p:txBody>
          <a:bodyPr wrap="square">
            <a:spAutoFit/>
          </a:bodyPr>
          <a:lstStyle/>
          <a:p>
            <a:pPr algn="l"/>
            <a:r>
              <a:rPr sz="1150" b="0" i="0">
                <a:solidFill>
                  <a:srgbClr val="FFFFFF"/>
                </a:solidFill>
                <a:latin typeface="Segoe UI"/>
              </a:rPr>
              <a:t>Platform built and validated with real users — live, functional, shipping features</a:t>
            </a:r>
          </a:p>
        </p:txBody>
      </p:sp>
      <p:sp>
        <p:nvSpPr>
          <p:cNvPr id="26" name="Rounded Rectangle 25"/>
          <p:cNvSpPr/>
          <p:nvPr/>
        </p:nvSpPr>
        <p:spPr>
          <a:xfrm>
            <a:off x="502920" y="4919472"/>
            <a:ext cx="6126480" cy="157276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992624"/>
            <a:ext cx="5486400" cy="292608"/>
          </a:xfrm>
          <a:prstGeom prst="rect">
            <a:avLst/>
          </a:prstGeom>
          <a:noFill/>
        </p:spPr>
        <p:txBody>
          <a:bodyPr wrap="square">
            <a:spAutoFit/>
          </a:bodyPr>
          <a:lstStyle/>
          <a:p>
            <a:pPr algn="l"/>
            <a:r>
              <a:rPr sz="1000" b="1" i="0">
                <a:solidFill>
                  <a:srgbClr val="9B72FF"/>
                </a:solidFill>
                <a:latin typeface="Segoe UI"/>
              </a:rPr>
              <a:t>IMMEDIATE HIRING PLAN</a:t>
            </a:r>
          </a:p>
        </p:txBody>
      </p:sp>
      <p:sp>
        <p:nvSpPr>
          <p:cNvPr id="28" name="Rectangle 27"/>
          <p:cNvSpPr/>
          <p:nvPr/>
        </p:nvSpPr>
        <p:spPr>
          <a:xfrm>
            <a:off x="685800" y="5321808"/>
            <a:ext cx="54864" cy="402336"/>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5321808"/>
            <a:ext cx="2743200" cy="219456"/>
          </a:xfrm>
          <a:prstGeom prst="rect">
            <a:avLst/>
          </a:prstGeom>
          <a:noFill/>
        </p:spPr>
        <p:txBody>
          <a:bodyPr wrap="square">
            <a:spAutoFit/>
          </a:bodyPr>
          <a:lstStyle/>
          <a:p>
            <a:pPr algn="l"/>
            <a:r>
              <a:rPr sz="1100" b="1" i="0">
                <a:solidFill>
                  <a:srgbClr val="FFFFFF"/>
                </a:solidFill>
                <a:latin typeface="Segoe UI Semibold"/>
              </a:rPr>
              <a:t>Hire #1 — Head of Growth</a:t>
            </a:r>
          </a:p>
        </p:txBody>
      </p:sp>
      <p:sp>
        <p:nvSpPr>
          <p:cNvPr id="30" name="TextBox 29"/>
          <p:cNvSpPr txBox="1"/>
          <p:nvPr/>
        </p:nvSpPr>
        <p:spPr>
          <a:xfrm>
            <a:off x="804672" y="5541264"/>
            <a:ext cx="5486400" cy="219456"/>
          </a:xfrm>
          <a:prstGeom prst="rect">
            <a:avLst/>
          </a:prstGeom>
          <a:noFill/>
        </p:spPr>
        <p:txBody>
          <a:bodyPr wrap="square">
            <a:spAutoFit/>
          </a:bodyPr>
          <a:lstStyle/>
          <a:p>
            <a:pPr algn="l"/>
            <a:r>
              <a:rPr sz="1000" b="0" i="0">
                <a:solidFill>
                  <a:srgbClr val="BBB8D4"/>
                </a:solidFill>
                <a:latin typeface="Segoe UI"/>
              </a:rPr>
              <a:t>PLG SaaS acquisition, content marketing, agency partnerships (Q3 2026)</a:t>
            </a:r>
          </a:p>
        </p:txBody>
      </p:sp>
      <p:sp>
        <p:nvSpPr>
          <p:cNvPr id="31" name="Rectangle 30"/>
          <p:cNvSpPr/>
          <p:nvPr/>
        </p:nvSpPr>
        <p:spPr>
          <a:xfrm>
            <a:off x="685800" y="5870448"/>
            <a:ext cx="54864" cy="40233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5870448"/>
            <a:ext cx="2743200" cy="219456"/>
          </a:xfrm>
          <a:prstGeom prst="rect">
            <a:avLst/>
          </a:prstGeom>
          <a:noFill/>
        </p:spPr>
        <p:txBody>
          <a:bodyPr wrap="square">
            <a:spAutoFit/>
          </a:bodyPr>
          <a:lstStyle/>
          <a:p>
            <a:pPr algn="l"/>
            <a:r>
              <a:rPr sz="1100" b="1" i="0">
                <a:solidFill>
                  <a:srgbClr val="FFFFFF"/>
                </a:solidFill>
                <a:latin typeface="Segoe UI Semibold"/>
              </a:rPr>
              <a:t>Hire #2 — AI Engineer</a:t>
            </a:r>
          </a:p>
        </p:txBody>
      </p:sp>
      <p:sp>
        <p:nvSpPr>
          <p:cNvPr id="33" name="TextBox 32"/>
          <p:cNvSpPr txBox="1"/>
          <p:nvPr/>
        </p:nvSpPr>
        <p:spPr>
          <a:xfrm>
            <a:off x="804672" y="6089903"/>
            <a:ext cx="5486400" cy="219456"/>
          </a:xfrm>
          <a:prstGeom prst="rect">
            <a:avLst/>
          </a:prstGeom>
          <a:noFill/>
        </p:spPr>
        <p:txBody>
          <a:bodyPr wrap="square">
            <a:spAutoFit/>
          </a:bodyPr>
          <a:lstStyle/>
          <a:p>
            <a:pPr algn="l"/>
            <a:r>
              <a:rPr sz="1000" b="0" i="0">
                <a:solidFill>
                  <a:srgbClr val="BBB8D4"/>
                </a:solidFill>
                <a:latin typeface="Segoe UI"/>
              </a:rPr>
              <a:t>Pipeline optimization, roadmap acceleration, inference scaling (Q4 2026)</a:t>
            </a:r>
          </a:p>
        </p:txBody>
      </p:sp>
      <p:sp>
        <p:nvSpPr>
          <p:cNvPr id="34" name="TextBox 33"/>
          <p:cNvSpPr txBox="1"/>
          <p:nvPr/>
        </p:nvSpPr>
        <p:spPr>
          <a:xfrm>
            <a:off x="7315200" y="1097280"/>
            <a:ext cx="4206240" cy="822960"/>
          </a:xfrm>
          <a:prstGeom prst="rect">
            <a:avLst/>
          </a:prstGeom>
          <a:noFill/>
        </p:spPr>
        <p:txBody>
          <a:bodyPr wrap="square">
            <a:spAutoFit/>
          </a:bodyPr>
          <a:lstStyle/>
          <a:p>
            <a:pPr algn="l"/>
            <a:r>
              <a:rPr sz="2800" b="1" i="0">
                <a:solidFill>
                  <a:srgbClr val="FFFFFF"/>
                </a:solidFill>
                <a:latin typeface="Segoe UI Black"/>
              </a:rPr>
              <a:t>Why This Team
Wins</a:t>
            </a:r>
          </a:p>
        </p:txBody>
      </p:sp>
      <p:sp>
        <p:nvSpPr>
          <p:cNvPr id="35" name="Rectangle 34"/>
          <p:cNvSpPr/>
          <p:nvPr/>
        </p:nvSpPr>
        <p:spPr>
          <a:xfrm>
            <a:off x="7178040" y="2084831"/>
            <a:ext cx="4480560" cy="98755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96912" y="2176272"/>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37" name="TextBox 36"/>
          <p:cNvSpPr txBox="1"/>
          <p:nvPr/>
        </p:nvSpPr>
        <p:spPr>
          <a:xfrm>
            <a:off x="7818120" y="2176272"/>
            <a:ext cx="3749039" cy="274320"/>
          </a:xfrm>
          <a:prstGeom prst="rect">
            <a:avLst/>
          </a:prstGeom>
          <a:noFill/>
        </p:spPr>
        <p:txBody>
          <a:bodyPr wrap="square">
            <a:spAutoFit/>
          </a:bodyPr>
          <a:lstStyle/>
          <a:p>
            <a:pPr algn="l"/>
            <a:r>
              <a:rPr sz="1200" b="1" i="0">
                <a:solidFill>
                  <a:srgbClr val="FFFFFF"/>
                </a:solidFill>
                <a:latin typeface="Segoe UI Semibold"/>
              </a:rPr>
              <a:t>Built-in domain expertise</a:t>
            </a:r>
          </a:p>
        </p:txBody>
      </p:sp>
      <p:sp>
        <p:nvSpPr>
          <p:cNvPr id="38" name="TextBox 37"/>
          <p:cNvSpPr txBox="1"/>
          <p:nvPr/>
        </p:nvSpPr>
        <p:spPr>
          <a:xfrm>
            <a:off x="7818120" y="2487168"/>
            <a:ext cx="3749039" cy="502920"/>
          </a:xfrm>
          <a:prstGeom prst="rect">
            <a:avLst/>
          </a:prstGeom>
          <a:noFill/>
        </p:spPr>
        <p:txBody>
          <a:bodyPr wrap="square">
            <a:spAutoFit/>
          </a:bodyPr>
          <a:lstStyle/>
          <a:p>
            <a:pPr algn="l"/>
            <a:r>
              <a:rPr sz="1000" b="0" i="0">
                <a:solidFill>
                  <a:srgbClr val="BBB8D4"/>
                </a:solidFill>
                <a:latin typeface="Segoe UI"/>
              </a:rPr>
              <a:t>Founder has lived the problem — wasted budget on generic ads with no strategic foundation.</a:t>
            </a:r>
          </a:p>
        </p:txBody>
      </p:sp>
      <p:sp>
        <p:nvSpPr>
          <p:cNvPr id="39" name="Rectangle 38"/>
          <p:cNvSpPr/>
          <p:nvPr/>
        </p:nvSpPr>
        <p:spPr>
          <a:xfrm>
            <a:off x="7178040" y="3200400"/>
            <a:ext cx="4480560" cy="98755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96912" y="3291840"/>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41" name="TextBox 40"/>
          <p:cNvSpPr txBox="1"/>
          <p:nvPr/>
        </p:nvSpPr>
        <p:spPr>
          <a:xfrm>
            <a:off x="7818120" y="3291840"/>
            <a:ext cx="3749039" cy="274320"/>
          </a:xfrm>
          <a:prstGeom prst="rect">
            <a:avLst/>
          </a:prstGeom>
          <a:noFill/>
        </p:spPr>
        <p:txBody>
          <a:bodyPr wrap="square">
            <a:spAutoFit/>
          </a:bodyPr>
          <a:lstStyle/>
          <a:p>
            <a:pPr algn="l"/>
            <a:r>
              <a:rPr sz="1200" b="1" i="0">
                <a:solidFill>
                  <a:srgbClr val="FFFFFF"/>
                </a:solidFill>
                <a:latin typeface="Segoe UI Semibold"/>
              </a:rPr>
              <a:t>Technical speed advantage</a:t>
            </a:r>
          </a:p>
        </p:txBody>
      </p:sp>
      <p:sp>
        <p:nvSpPr>
          <p:cNvPr id="42" name="TextBox 41"/>
          <p:cNvSpPr txBox="1"/>
          <p:nvPr/>
        </p:nvSpPr>
        <p:spPr>
          <a:xfrm>
            <a:off x="7818120" y="3602736"/>
            <a:ext cx="3749039" cy="502920"/>
          </a:xfrm>
          <a:prstGeom prst="rect">
            <a:avLst/>
          </a:prstGeom>
          <a:noFill/>
        </p:spPr>
        <p:txBody>
          <a:bodyPr wrap="square">
            <a:spAutoFit/>
          </a:bodyPr>
          <a:lstStyle/>
          <a:p>
            <a:pPr algn="l"/>
            <a:r>
              <a:rPr sz="1000" b="0" i="0">
                <a:solidFill>
                  <a:srgbClr val="BBB8D4"/>
                </a:solidFill>
                <a:latin typeface="Segoe UI"/>
              </a:rPr>
              <a:t>Sole technical founder means zero coordination lag. Architecture decisions happen in minutes, not meetings.</a:t>
            </a:r>
          </a:p>
        </p:txBody>
      </p:sp>
      <p:sp>
        <p:nvSpPr>
          <p:cNvPr id="43" name="Rectangle 42"/>
          <p:cNvSpPr/>
          <p:nvPr/>
        </p:nvSpPr>
        <p:spPr>
          <a:xfrm>
            <a:off x="7178040" y="4315968"/>
            <a:ext cx="4480560" cy="98755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96912" y="4407407"/>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45" name="TextBox 44"/>
          <p:cNvSpPr txBox="1"/>
          <p:nvPr/>
        </p:nvSpPr>
        <p:spPr>
          <a:xfrm>
            <a:off x="7818120" y="4407407"/>
            <a:ext cx="3749039" cy="274320"/>
          </a:xfrm>
          <a:prstGeom prst="rect">
            <a:avLst/>
          </a:prstGeom>
          <a:noFill/>
        </p:spPr>
        <p:txBody>
          <a:bodyPr wrap="square">
            <a:spAutoFit/>
          </a:bodyPr>
          <a:lstStyle/>
          <a:p>
            <a:pPr algn="l"/>
            <a:r>
              <a:rPr sz="1200" b="1" i="0">
                <a:solidFill>
                  <a:srgbClr val="FFFFFF"/>
                </a:solidFill>
                <a:latin typeface="Segoe UI Semibold"/>
              </a:rPr>
              <a:t>Product-market intuition</a:t>
            </a:r>
          </a:p>
        </p:txBody>
      </p:sp>
      <p:sp>
        <p:nvSpPr>
          <p:cNvPr id="46" name="TextBox 45"/>
          <p:cNvSpPr txBox="1"/>
          <p:nvPr/>
        </p:nvSpPr>
        <p:spPr>
          <a:xfrm>
            <a:off x="7818120" y="4718304"/>
            <a:ext cx="3749039" cy="502920"/>
          </a:xfrm>
          <a:prstGeom prst="rect">
            <a:avLst/>
          </a:prstGeom>
          <a:noFill/>
        </p:spPr>
        <p:txBody>
          <a:bodyPr wrap="square">
            <a:spAutoFit/>
          </a:bodyPr>
          <a:lstStyle/>
          <a:p>
            <a:pPr algn="l"/>
            <a:r>
              <a:rPr sz="1000" b="0" i="0">
                <a:solidFill>
                  <a:srgbClr val="BBB8D4"/>
                </a:solidFill>
                <a:latin typeface="Segoe UI"/>
              </a:rPr>
              <a:t>Every feature exists because a real customer need existed first — no padding, no bloat.</a:t>
            </a:r>
          </a:p>
        </p:txBody>
      </p:sp>
      <p:sp>
        <p:nvSpPr>
          <p:cNvPr id="47" name="Rectangle 46"/>
          <p:cNvSpPr/>
          <p:nvPr/>
        </p:nvSpPr>
        <p:spPr>
          <a:xfrm>
            <a:off x="7178040" y="5431536"/>
            <a:ext cx="4480560" cy="987552"/>
          </a:xfrm>
          <a:prstGeom prst="rect">
            <a:avLst/>
          </a:prstGeom>
          <a:solidFill>
            <a:srgbClr val="140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96912" y="5522975"/>
            <a:ext cx="502920" cy="685800"/>
          </a:xfrm>
          <a:prstGeom prst="rect">
            <a:avLst/>
          </a:prstGeom>
          <a:noFill/>
        </p:spPr>
        <p:txBody>
          <a:bodyPr wrap="square">
            <a:spAutoFit/>
          </a:bodyPr>
          <a:lstStyle/>
          <a:p>
            <a:pPr algn="l"/>
            <a:r>
              <a:rPr sz="2200" b="0" i="0">
                <a:solidFill>
                  <a:srgbClr val="FFFFFF"/>
                </a:solidFill>
                <a:latin typeface="Segoe UI"/>
              </a:rPr>
              <a:t>🌐</a:t>
            </a:r>
          </a:p>
        </p:txBody>
      </p:sp>
      <p:sp>
        <p:nvSpPr>
          <p:cNvPr id="49" name="TextBox 48"/>
          <p:cNvSpPr txBox="1"/>
          <p:nvPr/>
        </p:nvSpPr>
        <p:spPr>
          <a:xfrm>
            <a:off x="7818120" y="5522975"/>
            <a:ext cx="3749039" cy="274320"/>
          </a:xfrm>
          <a:prstGeom prst="rect">
            <a:avLst/>
          </a:prstGeom>
          <a:noFill/>
        </p:spPr>
        <p:txBody>
          <a:bodyPr wrap="square">
            <a:spAutoFit/>
          </a:bodyPr>
          <a:lstStyle/>
          <a:p>
            <a:pPr algn="l"/>
            <a:r>
              <a:rPr sz="1200" b="1" i="0">
                <a:solidFill>
                  <a:srgbClr val="FFFFFF"/>
                </a:solidFill>
                <a:latin typeface="Segoe UI Semibold"/>
              </a:rPr>
              <a:t>Network &amp; visibility</a:t>
            </a:r>
          </a:p>
        </p:txBody>
      </p:sp>
      <p:sp>
        <p:nvSpPr>
          <p:cNvPr id="50" name="TextBox 49"/>
          <p:cNvSpPr txBox="1"/>
          <p:nvPr/>
        </p:nvSpPr>
        <p:spPr>
          <a:xfrm>
            <a:off x="7818120" y="5833872"/>
            <a:ext cx="3749039" cy="502920"/>
          </a:xfrm>
          <a:prstGeom prst="rect">
            <a:avLst/>
          </a:prstGeom>
          <a:noFill/>
        </p:spPr>
        <p:txBody>
          <a:bodyPr wrap="square">
            <a:spAutoFit/>
          </a:bodyPr>
          <a:lstStyle/>
          <a:p>
            <a:pPr algn="l"/>
            <a:r>
              <a:rPr sz="1000" b="0" i="0">
                <a:solidFill>
                  <a:srgbClr val="BBB8D4"/>
                </a:solidFill>
                <a:latin typeface="Segoe UI"/>
              </a:rPr>
              <a:t>Active in performance marketing communities with growing audience of target customers.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502920" cy="292608"/>
          </a:xfrm>
          <a:prstGeom prst="round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Segoe UI"/>
              </a:rPr>
              <a:t>15</a:t>
            </a:r>
          </a:p>
        </p:txBody>
      </p:sp>
      <p:sp>
        <p:nvSpPr>
          <p:cNvPr id="4" name="TextBox 3"/>
          <p:cNvSpPr txBox="1"/>
          <p:nvPr/>
        </p:nvSpPr>
        <p:spPr>
          <a:xfrm>
            <a:off x="1143000" y="256032"/>
            <a:ext cx="7315200" cy="457200"/>
          </a:xfrm>
          <a:prstGeom prst="rect">
            <a:avLst/>
          </a:prstGeom>
          <a:noFill/>
        </p:spPr>
        <p:txBody>
          <a:bodyPr wrap="square">
            <a:spAutoFit/>
          </a:bodyPr>
          <a:lstStyle/>
          <a:p>
            <a:pPr algn="l"/>
            <a:r>
              <a:rPr sz="2200" b="1" i="0">
                <a:solidFill>
                  <a:srgbClr val="FFFFFF"/>
                </a:solidFill>
                <a:latin typeface="Segoe UI Semibold"/>
              </a:rPr>
              <a:t>WHY NOW</a:t>
            </a:r>
          </a:p>
        </p:txBody>
      </p:sp>
      <p:sp>
        <p:nvSpPr>
          <p:cNvPr id="5" name="Rectangle 4"/>
          <p:cNvSpPr/>
          <p:nvPr/>
        </p:nvSpPr>
        <p:spPr>
          <a:xfrm>
            <a:off x="502920" y="694944"/>
            <a:ext cx="11183112" cy="32004"/>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00800"/>
            <a:ext cx="731520" cy="320040"/>
          </a:xfrm>
          <a:prstGeom prst="rect">
            <a:avLst/>
          </a:prstGeom>
          <a:noFill/>
        </p:spPr>
        <p:txBody>
          <a:bodyPr wrap="square">
            <a:spAutoFit/>
          </a:bodyPr>
          <a:lstStyle/>
          <a:p>
            <a:pPr algn="r"/>
            <a:r>
              <a:rPr sz="1100" b="0" i="0">
                <a:solidFill>
                  <a:srgbClr val="777397"/>
                </a:solidFill>
                <a:latin typeface="Segoe UI"/>
              </a:rPr>
              <a:t>16</a:t>
            </a:r>
          </a:p>
        </p:txBody>
      </p:sp>
      <p:sp>
        <p:nvSpPr>
          <p:cNvPr id="7" name="TextBox 6"/>
          <p:cNvSpPr txBox="1"/>
          <p:nvPr/>
        </p:nvSpPr>
        <p:spPr>
          <a:xfrm>
            <a:off x="502920" y="804672"/>
            <a:ext cx="11155680" cy="685800"/>
          </a:xfrm>
          <a:prstGeom prst="rect">
            <a:avLst/>
          </a:prstGeom>
          <a:noFill/>
        </p:spPr>
        <p:txBody>
          <a:bodyPr wrap="square">
            <a:spAutoFit/>
          </a:bodyPr>
          <a:lstStyle/>
          <a:p>
            <a:pPr algn="ctr"/>
            <a:r>
              <a:rPr sz="2000" b="1" i="0">
                <a:solidFill>
                  <a:srgbClr val="FFFFFF"/>
                </a:solidFill>
                <a:latin typeface="Segoe UI Black"/>
              </a:rPr>
              <a:t>Three converging forces have created a narrow window
to define this category — and Crelix is moving first.</a:t>
            </a:r>
          </a:p>
        </p:txBody>
      </p:sp>
      <p:sp>
        <p:nvSpPr>
          <p:cNvPr id="8" name="Rounded Rectangle 7"/>
          <p:cNvSpPr/>
          <p:nvPr/>
        </p:nvSpPr>
        <p:spPr>
          <a:xfrm>
            <a:off x="384048" y="1664208"/>
            <a:ext cx="3703320" cy="477316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664208"/>
            <a:ext cx="3703320" cy="73152"/>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6E3DFF"/>
            </a:gs>
          </a:gsLst>
          <a:lin ang="0" scaled="0"/>
        </a:gradFill>
      </p:sp>
      <p:sp>
        <p:nvSpPr>
          <p:cNvPr id="10" name="TextBox 9"/>
          <p:cNvSpPr txBox="1"/>
          <p:nvPr/>
        </p:nvSpPr>
        <p:spPr>
          <a:xfrm>
            <a:off x="548640" y="1828800"/>
            <a:ext cx="594360" cy="502920"/>
          </a:xfrm>
          <a:prstGeom prst="rect">
            <a:avLst/>
          </a:prstGeom>
          <a:noFill/>
        </p:spPr>
        <p:txBody>
          <a:bodyPr wrap="square">
            <a:spAutoFit/>
          </a:bodyPr>
          <a:lstStyle/>
          <a:p>
            <a:pPr algn="l"/>
            <a:r>
              <a:rPr sz="2800" b="1" i="0">
                <a:solidFill>
                  <a:srgbClr val="3201C3"/>
                </a:solidFill>
                <a:latin typeface="Segoe UI Black"/>
              </a:rPr>
              <a:t>01</a:t>
            </a:r>
          </a:p>
        </p:txBody>
      </p:sp>
      <p:sp>
        <p:nvSpPr>
          <p:cNvPr id="11" name="TextBox 10"/>
          <p:cNvSpPr txBox="1"/>
          <p:nvPr/>
        </p:nvSpPr>
        <p:spPr>
          <a:xfrm>
            <a:off x="548640" y="2395728"/>
            <a:ext cx="3383280" cy="594360"/>
          </a:xfrm>
          <a:prstGeom prst="rect">
            <a:avLst/>
          </a:prstGeom>
          <a:noFill/>
        </p:spPr>
        <p:txBody>
          <a:bodyPr wrap="square">
            <a:spAutoFit/>
          </a:bodyPr>
          <a:lstStyle/>
          <a:p>
            <a:pPr algn="l"/>
            <a:r>
              <a:rPr sz="1500" b="1" i="0">
                <a:solidFill>
                  <a:srgbClr val="FFFFFF"/>
                </a:solidFill>
                <a:latin typeface="Segoe UI Black"/>
              </a:rPr>
              <a:t>AI Models Reached
Production Quality</a:t>
            </a:r>
          </a:p>
        </p:txBody>
      </p:sp>
      <p:sp>
        <p:nvSpPr>
          <p:cNvPr id="12" name="TextBox 11"/>
          <p:cNvSpPr txBox="1"/>
          <p:nvPr/>
        </p:nvSpPr>
        <p:spPr>
          <a:xfrm>
            <a:off x="548640" y="3063240"/>
            <a:ext cx="3383280" cy="1417320"/>
          </a:xfrm>
          <a:prstGeom prst="rect">
            <a:avLst/>
          </a:prstGeom>
          <a:noFill/>
        </p:spPr>
        <p:txBody>
          <a:bodyPr wrap="square">
            <a:spAutoFit/>
          </a:bodyPr>
          <a:lstStyle/>
          <a:p>
            <a:pPr algn="l"/>
            <a:r>
              <a:rPr sz="1050" b="0" i="0">
                <a:solidFill>
                  <a:srgbClr val="BBB8D4"/>
                </a:solidFill>
                <a:latin typeface="Segoe UI"/>
              </a:rPr>
              <a:t>In 2023, AI-generated images were novelties. In 2026, they are indistinguishable from photography. Grok Aurora and Claude operate at a level where AI output is not a compromise — it's the preferred format for speed-to-market brands.</a:t>
            </a:r>
          </a:p>
        </p:txBody>
      </p:sp>
      <p:sp>
        <p:nvSpPr>
          <p:cNvPr id="13" name="TextBox 12"/>
          <p:cNvSpPr txBox="1"/>
          <p:nvPr/>
        </p:nvSpPr>
        <p:spPr>
          <a:xfrm>
            <a:off x="548640" y="4572000"/>
            <a:ext cx="3383280" cy="292608"/>
          </a:xfrm>
          <a:prstGeom prst="rect">
            <a:avLst/>
          </a:prstGeom>
          <a:noFill/>
        </p:spPr>
        <p:txBody>
          <a:bodyPr wrap="square">
            <a:spAutoFit/>
          </a:bodyPr>
          <a:lstStyle/>
          <a:p>
            <a:pPr algn="l"/>
            <a:r>
              <a:rPr sz="1000" b="0" i="0">
                <a:solidFill>
                  <a:srgbClr val="6E3DFF"/>
                </a:solidFill>
                <a:latin typeface="Segoe UI"/>
              </a:rPr>
              <a:t>✦ Grok Aurora: photorealistic ad images</a:t>
            </a:r>
          </a:p>
        </p:txBody>
      </p:sp>
      <p:sp>
        <p:nvSpPr>
          <p:cNvPr id="14" name="TextBox 13"/>
          <p:cNvSpPr txBox="1"/>
          <p:nvPr/>
        </p:nvSpPr>
        <p:spPr>
          <a:xfrm>
            <a:off x="548640" y="4882896"/>
            <a:ext cx="3383280" cy="292608"/>
          </a:xfrm>
          <a:prstGeom prst="rect">
            <a:avLst/>
          </a:prstGeom>
          <a:noFill/>
        </p:spPr>
        <p:txBody>
          <a:bodyPr wrap="square">
            <a:spAutoFit/>
          </a:bodyPr>
          <a:lstStyle/>
          <a:p>
            <a:pPr algn="l"/>
            <a:r>
              <a:rPr sz="1000" b="0" i="0">
                <a:solidFill>
                  <a:srgbClr val="6E3DFF"/>
                </a:solidFill>
                <a:latin typeface="Segoe UI"/>
              </a:rPr>
              <a:t>✦ Claude: strategist-quality synthesis</a:t>
            </a:r>
          </a:p>
        </p:txBody>
      </p:sp>
      <p:sp>
        <p:nvSpPr>
          <p:cNvPr id="15" name="TextBox 14"/>
          <p:cNvSpPr txBox="1"/>
          <p:nvPr/>
        </p:nvSpPr>
        <p:spPr>
          <a:xfrm>
            <a:off x="548640" y="5193792"/>
            <a:ext cx="3383280" cy="292608"/>
          </a:xfrm>
          <a:prstGeom prst="rect">
            <a:avLst/>
          </a:prstGeom>
          <a:noFill/>
        </p:spPr>
        <p:txBody>
          <a:bodyPr wrap="square">
            <a:spAutoFit/>
          </a:bodyPr>
          <a:lstStyle/>
          <a:p>
            <a:pPr algn="l"/>
            <a:r>
              <a:rPr sz="1000" b="0" i="0">
                <a:solidFill>
                  <a:srgbClr val="6E3DFF"/>
                </a:solidFill>
                <a:latin typeface="Segoe UI"/>
              </a:rPr>
              <a:t>✦ Inference costs fell 90% in 18 months</a:t>
            </a:r>
          </a:p>
        </p:txBody>
      </p:sp>
      <p:sp>
        <p:nvSpPr>
          <p:cNvPr id="16" name="Rounded Rectangle 15"/>
          <p:cNvSpPr/>
          <p:nvPr/>
        </p:nvSpPr>
        <p:spPr>
          <a:xfrm>
            <a:off x="4315968" y="1664208"/>
            <a:ext cx="3703320" cy="477316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15968" y="1664208"/>
            <a:ext cx="3703320" cy="73152"/>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FF4FCB"/>
            </a:gs>
            <a:gs pos="100000">
              <a:srgbClr val="FF4FCB"/>
            </a:gs>
          </a:gsLst>
          <a:lin ang="0" scaled="0"/>
        </a:gradFill>
      </p:sp>
      <p:sp>
        <p:nvSpPr>
          <p:cNvPr id="18" name="TextBox 17"/>
          <p:cNvSpPr txBox="1"/>
          <p:nvPr/>
        </p:nvSpPr>
        <p:spPr>
          <a:xfrm>
            <a:off x="4480559" y="1828800"/>
            <a:ext cx="594360" cy="502920"/>
          </a:xfrm>
          <a:prstGeom prst="rect">
            <a:avLst/>
          </a:prstGeom>
          <a:noFill/>
        </p:spPr>
        <p:txBody>
          <a:bodyPr wrap="square">
            <a:spAutoFit/>
          </a:bodyPr>
          <a:lstStyle/>
          <a:p>
            <a:pPr algn="l"/>
            <a:r>
              <a:rPr sz="2800" b="1" i="0">
                <a:solidFill>
                  <a:srgbClr val="C3138F"/>
                </a:solidFill>
                <a:latin typeface="Segoe UI Black"/>
              </a:rPr>
              <a:t>02</a:t>
            </a:r>
          </a:p>
        </p:txBody>
      </p:sp>
      <p:sp>
        <p:nvSpPr>
          <p:cNvPr id="19" name="TextBox 18"/>
          <p:cNvSpPr txBox="1"/>
          <p:nvPr/>
        </p:nvSpPr>
        <p:spPr>
          <a:xfrm>
            <a:off x="4480559" y="2395728"/>
            <a:ext cx="3383280" cy="594360"/>
          </a:xfrm>
          <a:prstGeom prst="rect">
            <a:avLst/>
          </a:prstGeom>
          <a:noFill/>
        </p:spPr>
        <p:txBody>
          <a:bodyPr wrap="square">
            <a:spAutoFit/>
          </a:bodyPr>
          <a:lstStyle/>
          <a:p>
            <a:pPr algn="l"/>
            <a:r>
              <a:rPr sz="1500" b="1" i="0">
                <a:solidFill>
                  <a:srgbClr val="FFFFFF"/>
                </a:solidFill>
                <a:latin typeface="Segoe UI Black"/>
              </a:rPr>
              <a:t>The 'Intelligence Gap'
Is Now Visible</a:t>
            </a:r>
          </a:p>
        </p:txBody>
      </p:sp>
      <p:sp>
        <p:nvSpPr>
          <p:cNvPr id="20" name="TextBox 19"/>
          <p:cNvSpPr txBox="1"/>
          <p:nvPr/>
        </p:nvSpPr>
        <p:spPr>
          <a:xfrm>
            <a:off x="4480559" y="3063240"/>
            <a:ext cx="3383280" cy="1417320"/>
          </a:xfrm>
          <a:prstGeom prst="rect">
            <a:avLst/>
          </a:prstGeom>
          <a:noFill/>
        </p:spPr>
        <p:txBody>
          <a:bodyPr wrap="square">
            <a:spAutoFit/>
          </a:bodyPr>
          <a:lstStyle/>
          <a:p>
            <a:pPr algn="l"/>
            <a:r>
              <a:rPr sz="1050" b="0" i="0">
                <a:solidFill>
                  <a:srgbClr val="BBB8D4"/>
                </a:solidFill>
                <a:latin typeface="Segoe UI"/>
              </a:rPr>
              <a:t>Advertisers who adopted first-gen AI tools (Jasper, AdCreative) are now reporting performance plateaus. They got the execution but not the strategy. The market has learned it needs both — and is actively searching for a solution.</a:t>
            </a:r>
          </a:p>
        </p:txBody>
      </p:sp>
      <p:sp>
        <p:nvSpPr>
          <p:cNvPr id="21" name="TextBox 20"/>
          <p:cNvSpPr txBox="1"/>
          <p:nvPr/>
        </p:nvSpPr>
        <p:spPr>
          <a:xfrm>
            <a:off x="4480559" y="4572000"/>
            <a:ext cx="3383280" cy="292608"/>
          </a:xfrm>
          <a:prstGeom prst="rect">
            <a:avLst/>
          </a:prstGeom>
          <a:noFill/>
        </p:spPr>
        <p:txBody>
          <a:bodyPr wrap="square">
            <a:spAutoFit/>
          </a:bodyPr>
          <a:lstStyle/>
          <a:p>
            <a:pPr algn="l"/>
            <a:r>
              <a:rPr sz="1000" b="0" i="0">
                <a:solidFill>
                  <a:srgbClr val="FF4FCB"/>
                </a:solidFill>
                <a:latin typeface="Segoe UI"/>
              </a:rPr>
              <a:t>✦ AdCreative.ai users report 'generic feel'</a:t>
            </a:r>
          </a:p>
        </p:txBody>
      </p:sp>
      <p:sp>
        <p:nvSpPr>
          <p:cNvPr id="22" name="TextBox 21"/>
          <p:cNvSpPr txBox="1"/>
          <p:nvPr/>
        </p:nvSpPr>
        <p:spPr>
          <a:xfrm>
            <a:off x="4480559" y="4882896"/>
            <a:ext cx="3383280" cy="292608"/>
          </a:xfrm>
          <a:prstGeom prst="rect">
            <a:avLst/>
          </a:prstGeom>
          <a:noFill/>
        </p:spPr>
        <p:txBody>
          <a:bodyPr wrap="square">
            <a:spAutoFit/>
          </a:bodyPr>
          <a:lstStyle/>
          <a:p>
            <a:pPr algn="l"/>
            <a:r>
              <a:rPr sz="1000" b="0" i="0">
                <a:solidFill>
                  <a:srgbClr val="FF4FCB"/>
                </a:solidFill>
                <a:latin typeface="Segoe UI"/>
              </a:rPr>
              <a:t>✦ Marketers understand ICP matters for AI</a:t>
            </a:r>
          </a:p>
        </p:txBody>
      </p:sp>
      <p:sp>
        <p:nvSpPr>
          <p:cNvPr id="23" name="TextBox 22"/>
          <p:cNvSpPr txBox="1"/>
          <p:nvPr/>
        </p:nvSpPr>
        <p:spPr>
          <a:xfrm>
            <a:off x="4480559" y="5193792"/>
            <a:ext cx="3383280" cy="292608"/>
          </a:xfrm>
          <a:prstGeom prst="rect">
            <a:avLst/>
          </a:prstGeom>
          <a:noFill/>
        </p:spPr>
        <p:txBody>
          <a:bodyPr wrap="square">
            <a:spAutoFit/>
          </a:bodyPr>
          <a:lstStyle/>
          <a:p>
            <a:pPr algn="l"/>
            <a:r>
              <a:rPr sz="1000" b="0" i="0">
                <a:solidFill>
                  <a:srgbClr val="FF4FCB"/>
                </a:solidFill>
                <a:latin typeface="Segoe UI"/>
              </a:rPr>
              <a:t>✦ Demand for 'smarter' AI tools is explicit</a:t>
            </a:r>
          </a:p>
        </p:txBody>
      </p:sp>
      <p:sp>
        <p:nvSpPr>
          <p:cNvPr id="24" name="Rounded Rectangle 23"/>
          <p:cNvSpPr/>
          <p:nvPr/>
        </p:nvSpPr>
        <p:spPr>
          <a:xfrm>
            <a:off x="8247888" y="1664208"/>
            <a:ext cx="3703320" cy="4773168"/>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47888" y="1664208"/>
            <a:ext cx="3703320" cy="73152"/>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22C55E"/>
            </a:gs>
            <a:gs pos="100000">
              <a:srgbClr val="22C55E"/>
            </a:gs>
          </a:gsLst>
          <a:lin ang="0" scaled="0"/>
        </a:gradFill>
      </p:sp>
      <p:sp>
        <p:nvSpPr>
          <p:cNvPr id="26" name="TextBox 25"/>
          <p:cNvSpPr txBox="1"/>
          <p:nvPr/>
        </p:nvSpPr>
        <p:spPr>
          <a:xfrm>
            <a:off x="8412480" y="1828800"/>
            <a:ext cx="594360" cy="502920"/>
          </a:xfrm>
          <a:prstGeom prst="rect">
            <a:avLst/>
          </a:prstGeom>
          <a:noFill/>
        </p:spPr>
        <p:txBody>
          <a:bodyPr wrap="square">
            <a:spAutoFit/>
          </a:bodyPr>
          <a:lstStyle/>
          <a:p>
            <a:pPr algn="l"/>
            <a:r>
              <a:rPr sz="2800" b="1" i="0">
                <a:solidFill>
                  <a:srgbClr val="008922"/>
                </a:solidFill>
                <a:latin typeface="Segoe UI Black"/>
              </a:rPr>
              <a:t>03</a:t>
            </a:r>
          </a:p>
        </p:txBody>
      </p:sp>
      <p:sp>
        <p:nvSpPr>
          <p:cNvPr id="27" name="TextBox 26"/>
          <p:cNvSpPr txBox="1"/>
          <p:nvPr/>
        </p:nvSpPr>
        <p:spPr>
          <a:xfrm>
            <a:off x="8412480" y="2395728"/>
            <a:ext cx="3383280" cy="594360"/>
          </a:xfrm>
          <a:prstGeom prst="rect">
            <a:avLst/>
          </a:prstGeom>
          <a:noFill/>
        </p:spPr>
        <p:txBody>
          <a:bodyPr wrap="square">
            <a:spAutoFit/>
          </a:bodyPr>
          <a:lstStyle/>
          <a:p>
            <a:pPr algn="l"/>
            <a:r>
              <a:rPr sz="1500" b="1" i="0">
                <a:solidFill>
                  <a:srgbClr val="FFFFFF"/>
                </a:solidFill>
                <a:latin typeface="Segoe UI Black"/>
              </a:rPr>
              <a:t>Digital Ad Spend
Is at an Inflection</a:t>
            </a:r>
          </a:p>
        </p:txBody>
      </p:sp>
      <p:sp>
        <p:nvSpPr>
          <p:cNvPr id="28" name="TextBox 27"/>
          <p:cNvSpPr txBox="1"/>
          <p:nvPr/>
        </p:nvSpPr>
        <p:spPr>
          <a:xfrm>
            <a:off x="8412480" y="3063240"/>
            <a:ext cx="3383280" cy="1417320"/>
          </a:xfrm>
          <a:prstGeom prst="rect">
            <a:avLst/>
          </a:prstGeom>
          <a:noFill/>
        </p:spPr>
        <p:txBody>
          <a:bodyPr wrap="square">
            <a:spAutoFit/>
          </a:bodyPr>
          <a:lstStyle/>
          <a:p>
            <a:pPr algn="l"/>
            <a:r>
              <a:rPr sz="1050" b="0" i="0">
                <a:solidFill>
                  <a:srgbClr val="BBB8D4"/>
                </a:solidFill>
                <a:latin typeface="Segoe UI"/>
              </a:rPr>
              <a:t>With third-party cookies gone, first-party data scarce, and CPMs rising, creative quality is now the primary variable in ad performance. The businesses that win will be those with the most strategic, most tested, most targeted creative — which is exactly what Crelix delivers.</a:t>
            </a:r>
          </a:p>
        </p:txBody>
      </p:sp>
      <p:sp>
        <p:nvSpPr>
          <p:cNvPr id="29" name="TextBox 28"/>
          <p:cNvSpPr txBox="1"/>
          <p:nvPr/>
        </p:nvSpPr>
        <p:spPr>
          <a:xfrm>
            <a:off x="8412480" y="4572000"/>
            <a:ext cx="3383280" cy="292608"/>
          </a:xfrm>
          <a:prstGeom prst="rect">
            <a:avLst/>
          </a:prstGeom>
          <a:noFill/>
        </p:spPr>
        <p:txBody>
          <a:bodyPr wrap="square">
            <a:spAutoFit/>
          </a:bodyPr>
          <a:lstStyle/>
          <a:p>
            <a:pPr algn="l"/>
            <a:r>
              <a:rPr sz="1000" b="0" i="0">
                <a:solidFill>
                  <a:srgbClr val="22C55E"/>
                </a:solidFill>
                <a:latin typeface="Segoe UI"/>
              </a:rPr>
              <a:t>✦ Creative is the new targeting</a:t>
            </a:r>
          </a:p>
        </p:txBody>
      </p:sp>
      <p:sp>
        <p:nvSpPr>
          <p:cNvPr id="30" name="TextBox 29"/>
          <p:cNvSpPr txBox="1"/>
          <p:nvPr/>
        </p:nvSpPr>
        <p:spPr>
          <a:xfrm>
            <a:off x="8412480" y="4882896"/>
            <a:ext cx="3383280" cy="292608"/>
          </a:xfrm>
          <a:prstGeom prst="rect">
            <a:avLst/>
          </a:prstGeom>
          <a:noFill/>
        </p:spPr>
        <p:txBody>
          <a:bodyPr wrap="square">
            <a:spAutoFit/>
          </a:bodyPr>
          <a:lstStyle/>
          <a:p>
            <a:pPr algn="l"/>
            <a:r>
              <a:rPr sz="1000" b="0" i="0">
                <a:solidFill>
                  <a:srgbClr val="22C55E"/>
                </a:solidFill>
                <a:latin typeface="Segoe UI"/>
              </a:rPr>
              <a:t>✦ Ad testing volume = performance edge</a:t>
            </a:r>
          </a:p>
        </p:txBody>
      </p:sp>
      <p:sp>
        <p:nvSpPr>
          <p:cNvPr id="31" name="TextBox 30"/>
          <p:cNvSpPr txBox="1"/>
          <p:nvPr/>
        </p:nvSpPr>
        <p:spPr>
          <a:xfrm>
            <a:off x="8412480" y="5193792"/>
            <a:ext cx="3383280" cy="292608"/>
          </a:xfrm>
          <a:prstGeom prst="rect">
            <a:avLst/>
          </a:prstGeom>
          <a:noFill/>
        </p:spPr>
        <p:txBody>
          <a:bodyPr wrap="square">
            <a:spAutoFit/>
          </a:bodyPr>
          <a:lstStyle/>
          <a:p>
            <a:pPr algn="l"/>
            <a:r>
              <a:rPr sz="1000" b="0" i="0">
                <a:solidFill>
                  <a:srgbClr val="22C55E"/>
                </a:solidFill>
                <a:latin typeface="Segoe UI"/>
              </a:rPr>
              <a:t>✦ SMBs need agency-quality at SMB prices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0" y="-457200"/>
            <a:ext cx="9144000" cy="54864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2700000" scaled="0"/>
        </a:gradFill>
      </p:sp>
      <p:sp>
        <p:nvSpPr>
          <p:cNvPr id="4" name="Rectangle 3"/>
          <p:cNvSpPr/>
          <p:nvPr/>
        </p:nvSpPr>
        <p:spPr>
          <a:xfrm>
            <a:off x="0" y="0"/>
            <a:ext cx="12188952" cy="6858000"/>
          </a:xfrm>
          <a:prstGeom prst="rect">
            <a:avLst/>
          </a:prstGeom>
          <a:solidFill>
            <a:srgbClr val="090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8992"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83664"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88336"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493008"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97680"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102352"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907024"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1696"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516368"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25712"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930384"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735056"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539728" y="2743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74320"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8992"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83664"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88336"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93008"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297680"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102352"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07024"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11696"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16368"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21040"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125712"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30384"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735056"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539728" y="10972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74320"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78992"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883664"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688336"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93008"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297680"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102352"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07024"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711696"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516368"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321040"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125712"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930384"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735056"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539728" y="19202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74320"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78992"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883664"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688336"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493008"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297680"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102352"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907024"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711696"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516368"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321040"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125712"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930384"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735056"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1539728" y="274320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74320"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78992"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883664"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688336"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493008"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297680"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5102352"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907024"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711696"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7516368"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321040"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9125712"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930384"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735056"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1539728" y="356616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74320"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78992"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83664"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688336"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493008"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297680"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102352"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907024"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6711696"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516368"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321040"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125712"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930384"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0735056"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1539728" y="438912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74320"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78992"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883664"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688336"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493008"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4297680"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5102352"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5907024"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6711696"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7516368"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321040"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125712"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930384"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0735056"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11539728" y="521208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74320"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078992"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883664"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688336"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493008"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297680"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5102352"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5907024"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6711696"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516368"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8321040"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125712"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930384"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0735056"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1539728" y="6035040"/>
            <a:ext cx="50292" cy="50292"/>
          </a:xfrm>
          <a:prstGeom prst="ellipse">
            <a:avLst/>
          </a:prstGeom>
          <a:solidFill>
            <a:srgbClr val="2A1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371600" y="1097280"/>
            <a:ext cx="9445752" cy="1371600"/>
          </a:xfrm>
          <a:prstGeom prst="rect">
            <a:avLst/>
          </a:prstGeom>
          <a:noFill/>
        </p:spPr>
        <p:txBody>
          <a:bodyPr wrap="square">
            <a:spAutoFit/>
          </a:bodyPr>
          <a:lstStyle/>
          <a:p>
            <a:pPr algn="ctr"/>
            <a:r>
              <a:rPr sz="7800" b="1" i="0">
                <a:solidFill>
                  <a:srgbClr val="FFFFFF"/>
                </a:solidFill>
                <a:latin typeface="Segoe UI Black"/>
              </a:rPr>
              <a:t>Thank You</a:t>
            </a:r>
          </a:p>
        </p:txBody>
      </p:sp>
      <p:sp>
        <p:nvSpPr>
          <p:cNvPr id="126" name="Rectangle 125"/>
          <p:cNvSpPr/>
          <p:nvPr/>
        </p:nvSpPr>
        <p:spPr>
          <a:xfrm>
            <a:off x="3840480" y="2606040"/>
            <a:ext cx="4507992" cy="6400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a:gradFill>
          <a:gsLst>
            <a:gs pos="0">
              <a:srgbClr val="6E3DFF"/>
            </a:gs>
            <a:gs pos="100000">
              <a:srgbClr val="FF4FCB"/>
            </a:gs>
          </a:gsLst>
          <a:lin ang="0" scaled="0"/>
        </a:gradFill>
      </p:sp>
      <p:sp>
        <p:nvSpPr>
          <p:cNvPr id="127" name="TextBox 126"/>
          <p:cNvSpPr txBox="1"/>
          <p:nvPr/>
        </p:nvSpPr>
        <p:spPr>
          <a:xfrm>
            <a:off x="1371600" y="2788920"/>
            <a:ext cx="9445752" cy="457200"/>
          </a:xfrm>
          <a:prstGeom prst="rect">
            <a:avLst/>
          </a:prstGeom>
          <a:noFill/>
        </p:spPr>
        <p:txBody>
          <a:bodyPr wrap="square">
            <a:spAutoFit/>
          </a:bodyPr>
          <a:lstStyle/>
          <a:p>
            <a:pPr algn="ctr"/>
            <a:r>
              <a:rPr sz="1800" b="0" i="0">
                <a:solidFill>
                  <a:srgbClr val="BBB8D4"/>
                </a:solidFill>
                <a:latin typeface="Segoe UI"/>
              </a:rPr>
              <a:t>Let's build the future of AI marketing together.</a:t>
            </a:r>
          </a:p>
        </p:txBody>
      </p:sp>
      <p:sp>
        <p:nvSpPr>
          <p:cNvPr id="128" name="Rounded Rectangle 127"/>
          <p:cNvSpPr/>
          <p:nvPr/>
        </p:nvSpPr>
        <p:spPr>
          <a:xfrm>
            <a:off x="1417320" y="3456432"/>
            <a:ext cx="2971800" cy="10972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417320" y="3456432"/>
            <a:ext cx="2971800" cy="50292"/>
          </a:xfrm>
          <a:prstGeom prst="rect">
            <a:avLst/>
          </a:prstGeom>
          <a:solidFill>
            <a:srgbClr val="6E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554480" y="3566160"/>
            <a:ext cx="2697480" cy="384048"/>
          </a:xfrm>
          <a:prstGeom prst="rect">
            <a:avLst/>
          </a:prstGeom>
          <a:noFill/>
        </p:spPr>
        <p:txBody>
          <a:bodyPr wrap="square">
            <a:spAutoFit/>
          </a:bodyPr>
          <a:lstStyle/>
          <a:p>
            <a:pPr algn="l"/>
            <a:r>
              <a:rPr sz="1300" b="1" i="0">
                <a:solidFill>
                  <a:srgbClr val="FFFFFF"/>
                </a:solidFill>
                <a:latin typeface="Segoe UI Semibold"/>
              </a:rPr>
              <a:t>🌐  crelix.ai</a:t>
            </a:r>
          </a:p>
        </p:txBody>
      </p:sp>
      <p:sp>
        <p:nvSpPr>
          <p:cNvPr id="131" name="TextBox 130"/>
          <p:cNvSpPr txBox="1"/>
          <p:nvPr/>
        </p:nvSpPr>
        <p:spPr>
          <a:xfrm>
            <a:off x="1554480" y="3950208"/>
            <a:ext cx="2697480" cy="256032"/>
          </a:xfrm>
          <a:prstGeom prst="rect">
            <a:avLst/>
          </a:prstGeom>
          <a:noFill/>
        </p:spPr>
        <p:txBody>
          <a:bodyPr wrap="square">
            <a:spAutoFit/>
          </a:bodyPr>
          <a:lstStyle/>
          <a:p>
            <a:pPr algn="l"/>
            <a:r>
              <a:rPr sz="1000" b="0" i="0">
                <a:solidFill>
                  <a:srgbClr val="777397"/>
                </a:solidFill>
                <a:latin typeface="Segoe UI"/>
              </a:rPr>
              <a:t>Live Platform</a:t>
            </a:r>
          </a:p>
        </p:txBody>
      </p:sp>
      <p:sp>
        <p:nvSpPr>
          <p:cNvPr id="132" name="Rounded Rectangle 131"/>
          <p:cNvSpPr/>
          <p:nvPr/>
        </p:nvSpPr>
        <p:spPr>
          <a:xfrm>
            <a:off x="4617720" y="3456432"/>
            <a:ext cx="2971800" cy="10972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4617720" y="3456432"/>
            <a:ext cx="2971800" cy="50292"/>
          </a:xfrm>
          <a:prstGeom prst="rect">
            <a:avLst/>
          </a:prstGeom>
          <a:solidFill>
            <a:srgbClr val="FF4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754880" y="3566160"/>
            <a:ext cx="2697480" cy="384048"/>
          </a:xfrm>
          <a:prstGeom prst="rect">
            <a:avLst/>
          </a:prstGeom>
          <a:noFill/>
        </p:spPr>
        <p:txBody>
          <a:bodyPr wrap="square">
            <a:spAutoFit/>
          </a:bodyPr>
          <a:lstStyle/>
          <a:p>
            <a:pPr algn="l"/>
            <a:r>
              <a:rPr sz="1300" b="1" i="0">
                <a:solidFill>
                  <a:srgbClr val="FFFFFF"/>
                </a:solidFill>
                <a:latin typeface="Segoe UI Semibold"/>
              </a:rPr>
              <a:t>📧  fawadanxari31@gmail.com</a:t>
            </a:r>
          </a:p>
        </p:txBody>
      </p:sp>
      <p:sp>
        <p:nvSpPr>
          <p:cNvPr id="135" name="TextBox 134"/>
          <p:cNvSpPr txBox="1"/>
          <p:nvPr/>
        </p:nvSpPr>
        <p:spPr>
          <a:xfrm>
            <a:off x="4754880" y="3950208"/>
            <a:ext cx="2697480" cy="256032"/>
          </a:xfrm>
          <a:prstGeom prst="rect">
            <a:avLst/>
          </a:prstGeom>
          <a:noFill/>
        </p:spPr>
        <p:txBody>
          <a:bodyPr wrap="square">
            <a:spAutoFit/>
          </a:bodyPr>
          <a:lstStyle/>
          <a:p>
            <a:pPr algn="l"/>
            <a:r>
              <a:rPr sz="1000" b="0" i="0">
                <a:solidFill>
                  <a:srgbClr val="777397"/>
                </a:solidFill>
                <a:latin typeface="Segoe UI"/>
              </a:rPr>
              <a:t>Get in Touch</a:t>
            </a:r>
          </a:p>
        </p:txBody>
      </p:sp>
      <p:sp>
        <p:nvSpPr>
          <p:cNvPr id="136" name="Rounded Rectangle 135"/>
          <p:cNvSpPr/>
          <p:nvPr/>
        </p:nvSpPr>
        <p:spPr>
          <a:xfrm>
            <a:off x="7818120" y="3456432"/>
            <a:ext cx="2971800" cy="1097280"/>
          </a:xfrm>
          <a:prstGeom prst="roundRect">
            <a:avLst/>
          </a:prstGeom>
          <a:solidFill>
            <a:srgbClr val="140F35"/>
          </a:solidFill>
          <a:ln w="12700">
            <a:solidFill>
              <a:srgbClr val="2A1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7818120" y="3456432"/>
            <a:ext cx="2971800" cy="502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955280" y="3566160"/>
            <a:ext cx="2697480" cy="384048"/>
          </a:xfrm>
          <a:prstGeom prst="rect">
            <a:avLst/>
          </a:prstGeom>
          <a:noFill/>
        </p:spPr>
        <p:txBody>
          <a:bodyPr wrap="square">
            <a:spAutoFit/>
          </a:bodyPr>
          <a:lstStyle/>
          <a:p>
            <a:pPr algn="l"/>
            <a:r>
              <a:rPr sz="1300" b="1" i="0">
                <a:solidFill>
                  <a:srgbClr val="FFFFFF"/>
                </a:solidFill>
                <a:latin typeface="Segoe UI Semibold"/>
              </a:rPr>
              <a:t>🚀  Try Free — No Credit Card</a:t>
            </a:r>
          </a:p>
        </p:txBody>
      </p:sp>
      <p:sp>
        <p:nvSpPr>
          <p:cNvPr id="139" name="TextBox 138"/>
          <p:cNvSpPr txBox="1"/>
          <p:nvPr/>
        </p:nvSpPr>
        <p:spPr>
          <a:xfrm>
            <a:off x="7955280" y="3950208"/>
            <a:ext cx="2697480" cy="256032"/>
          </a:xfrm>
          <a:prstGeom prst="rect">
            <a:avLst/>
          </a:prstGeom>
          <a:noFill/>
        </p:spPr>
        <p:txBody>
          <a:bodyPr wrap="square">
            <a:spAutoFit/>
          </a:bodyPr>
          <a:lstStyle/>
          <a:p>
            <a:pPr algn="l"/>
            <a:r>
              <a:rPr sz="1000" b="0" i="0">
                <a:solidFill>
                  <a:srgbClr val="777397"/>
                </a:solidFill>
                <a:latin typeface="Segoe UI"/>
              </a:rPr>
              <a:t>3 Brains + 5 Creatives</a:t>
            </a:r>
          </a:p>
        </p:txBody>
      </p:sp>
      <p:sp>
        <p:nvSpPr>
          <p:cNvPr id="140" name="TextBox 139"/>
          <p:cNvSpPr txBox="1"/>
          <p:nvPr/>
        </p:nvSpPr>
        <p:spPr>
          <a:xfrm>
            <a:off x="1371600" y="4846320"/>
            <a:ext cx="9445752" cy="411480"/>
          </a:xfrm>
          <a:prstGeom prst="rect">
            <a:avLst/>
          </a:prstGeom>
          <a:noFill/>
        </p:spPr>
        <p:txBody>
          <a:bodyPr wrap="square">
            <a:spAutoFit/>
          </a:bodyPr>
          <a:lstStyle/>
          <a:p>
            <a:pPr algn="ctr"/>
            <a:r>
              <a:rPr sz="1400" b="0" i="1">
                <a:solidFill>
                  <a:srgbClr val="9B72FF"/>
                </a:solidFill>
                <a:latin typeface="Segoe UI"/>
              </a:rPr>
              <a:t>"Intelligence First. Creatives Second. Results Always."</a:t>
            </a:r>
          </a:p>
        </p:txBody>
      </p:sp>
      <p:sp>
        <p:nvSpPr>
          <p:cNvPr id="141" name="TextBox 140"/>
          <p:cNvSpPr txBox="1"/>
          <p:nvPr/>
        </p:nvSpPr>
        <p:spPr>
          <a:xfrm>
            <a:off x="1371600" y="6263640"/>
            <a:ext cx="9445752" cy="347472"/>
          </a:xfrm>
          <a:prstGeom prst="rect">
            <a:avLst/>
          </a:prstGeom>
          <a:noFill/>
        </p:spPr>
        <p:txBody>
          <a:bodyPr wrap="square">
            <a:spAutoFit/>
          </a:bodyPr>
          <a:lstStyle/>
          <a:p>
            <a:pPr algn="ctr"/>
            <a:r>
              <a:rPr sz="1000" b="0" i="0">
                <a:solidFill>
                  <a:srgbClr val="777397"/>
                </a:solidFill>
                <a:latin typeface="Segoe UI"/>
              </a:rPr>
              <a:t>Crelix AI  ·  AI Marketing Intelligence Platform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